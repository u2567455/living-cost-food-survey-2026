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9"/>
  </p:notesMasterIdLst>
  <p:sldIdLst>
    <p:sldId id="271" r:id="rId5"/>
    <p:sldId id="257" r:id="rId6"/>
    <p:sldId id="272" r:id="rId7"/>
    <p:sldId id="258" r:id="rId8"/>
    <p:sldId id="273" r:id="rId9"/>
    <p:sldId id="259" r:id="rId10"/>
    <p:sldId id="260" r:id="rId11"/>
    <p:sldId id="276" r:id="rId12"/>
    <p:sldId id="262" r:id="rId13"/>
    <p:sldId id="277" r:id="rId14"/>
    <p:sldId id="286" r:id="rId15"/>
    <p:sldId id="287" r:id="rId16"/>
    <p:sldId id="288" r:id="rId17"/>
    <p:sldId id="263" r:id="rId18"/>
    <p:sldId id="289" r:id="rId19"/>
    <p:sldId id="290" r:id="rId20"/>
    <p:sldId id="278" r:id="rId21"/>
    <p:sldId id="264" r:id="rId22"/>
    <p:sldId id="279" r:id="rId23"/>
    <p:sldId id="265" r:id="rId24"/>
    <p:sldId id="280" r:id="rId25"/>
    <p:sldId id="266" r:id="rId26"/>
    <p:sldId id="291" r:id="rId27"/>
    <p:sldId id="292" r:id="rId28"/>
    <p:sldId id="281" r:id="rId29"/>
    <p:sldId id="267" r:id="rId30"/>
    <p:sldId id="293" r:id="rId31"/>
    <p:sldId id="282" r:id="rId32"/>
    <p:sldId id="294" r:id="rId33"/>
    <p:sldId id="295" r:id="rId34"/>
    <p:sldId id="283" r:id="rId35"/>
    <p:sldId id="296" r:id="rId36"/>
    <p:sldId id="297" r:id="rId37"/>
    <p:sldId id="298" r:id="rId38"/>
    <p:sldId id="269" r:id="rId39"/>
    <p:sldId id="299" r:id="rId40"/>
    <p:sldId id="300" r:id="rId41"/>
    <p:sldId id="301" r:id="rId42"/>
    <p:sldId id="284" r:id="rId43"/>
    <p:sldId id="270" r:id="rId44"/>
    <p:sldId id="302" r:id="rId45"/>
    <p:sldId id="303" r:id="rId46"/>
    <p:sldId id="304" r:id="rId47"/>
    <p:sldId id="285" r:id="rId48"/>
  </p:sldIdLst>
  <p:sldSz cx="9906000" cy="6858000" type="A4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99F644-0117-EFAE-53D8-791803D94893}" name="Hughes, Naomi" initials="NH" userId="S::Naomi.Hughes@ons.gov.uk::29797a26-09bd-4f0f-a91b-331b3d5125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A9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D484FD-4BD8-EA7D-D70D-0DE3C52045E9}" v="91" dt="2026-08-05T07:22:18.125"/>
    <p1510:client id="{F07AB3AF-795F-B5C6-D6CC-211B9373C57A}" v="3" dt="2026-08-05T07:24:22.0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696" autoAdjust="0"/>
  </p:normalViewPr>
  <p:slideViewPr>
    <p:cSldViewPr snapToGrid="0">
      <p:cViewPr varScale="1">
        <p:scale>
          <a:sx n="121" d="100"/>
          <a:sy n="121" d="100"/>
        </p:scale>
        <p:origin x="10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hes, Naomi" userId="S::naomi.hughes@ons.gov.uk::29797a26-09bd-4f0f-a91b-331b3d512585" providerId="AD" clId="Web-{D3D484FD-4BD8-EA7D-D70D-0DE3C52045E9}"/>
    <pc:docChg chg="modSld">
      <pc:chgData name="Hughes, Naomi" userId="S::naomi.hughes@ons.gov.uk::29797a26-09bd-4f0f-a91b-331b3d512585" providerId="AD" clId="Web-{D3D484FD-4BD8-EA7D-D70D-0DE3C52045E9}" dt="2026-08-05T07:22:18.063" v="90" actId="20577"/>
      <pc:docMkLst>
        <pc:docMk/>
      </pc:docMkLst>
      <pc:sldChg chg="modSp">
        <pc:chgData name="Hughes, Naomi" userId="S::naomi.hughes@ons.gov.uk::29797a26-09bd-4f0f-a91b-331b3d512585" providerId="AD" clId="Web-{D3D484FD-4BD8-EA7D-D70D-0DE3C52045E9}" dt="2026-08-05T07:22:18.063" v="90" actId="20577"/>
        <pc:sldMkLst>
          <pc:docMk/>
          <pc:sldMk cId="2681205260" sldId="271"/>
        </pc:sldMkLst>
        <pc:spChg chg="mod">
          <ac:chgData name="Hughes, Naomi" userId="S::naomi.hughes@ons.gov.uk::29797a26-09bd-4f0f-a91b-331b3d512585" providerId="AD" clId="Web-{D3D484FD-4BD8-EA7D-D70D-0DE3C52045E9}" dt="2026-08-05T07:22:18.063" v="90" actId="20577"/>
          <ac:spMkLst>
            <pc:docMk/>
            <pc:sldMk cId="2681205260" sldId="271"/>
            <ac:spMk id="4" creationId="{20AA4CB5-2B24-3492-156A-F8127EBA079E}"/>
          </ac:spMkLst>
        </pc:spChg>
      </pc:sldChg>
    </pc:docChg>
  </pc:docChgLst>
  <pc:docChgLst>
    <pc:chgData name="Hughes, Naomi" userId="S::naomi.hughes@ons.gov.uk::29797a26-09bd-4f0f-a91b-331b3d512585" providerId="AD" clId="Web-{F07AB3AF-795F-B5C6-D6CC-211B9373C57A}"/>
    <pc:docChg chg="modSld">
      <pc:chgData name="Hughes, Naomi" userId="S::naomi.hughes@ons.gov.uk::29797a26-09bd-4f0f-a91b-331b3d512585" providerId="AD" clId="Web-{F07AB3AF-795F-B5C6-D6CC-211B9373C57A}" dt="2026-08-05T07:24:22.059" v="2" actId="14100"/>
      <pc:docMkLst>
        <pc:docMk/>
      </pc:docMkLst>
      <pc:sldChg chg="addSp modSp">
        <pc:chgData name="Hughes, Naomi" userId="S::naomi.hughes@ons.gov.uk::29797a26-09bd-4f0f-a91b-331b3d512585" providerId="AD" clId="Web-{F07AB3AF-795F-B5C6-D6CC-211B9373C57A}" dt="2026-08-05T07:24:22.059" v="2" actId="14100"/>
        <pc:sldMkLst>
          <pc:docMk/>
          <pc:sldMk cId="2681205260" sldId="271"/>
        </pc:sldMkLst>
        <pc:picChg chg="add mod">
          <ac:chgData name="Hughes, Naomi" userId="S::naomi.hughes@ons.gov.uk::29797a26-09bd-4f0f-a91b-331b3d512585" providerId="AD" clId="Web-{F07AB3AF-795F-B5C6-D6CC-211B9373C57A}" dt="2026-08-05T07:24:22.059" v="2" actId="14100"/>
          <ac:picMkLst>
            <pc:docMk/>
            <pc:sldMk cId="2681205260" sldId="271"/>
            <ac:picMk id="2" creationId="{053C0CFA-CD69-A8CA-E438-2D0397D1426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491E4-28C2-465F-B1FE-1FA46750BE9A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B046E-B163-4F01-B997-FB41A02C25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60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B046E-B163-4F01-B997-FB41A02C252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139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B046E-B163-4F01-B997-FB41A02C252D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28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820A-1162-3C5F-8960-9857AC50E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09536-74D8-5AD8-6C07-C04F9878E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A06CF-4D1F-1D06-EE6E-888A1CB89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8A9CE-9692-5F9B-6752-467B1E81F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B046E-B163-4F01-B997-FB41A02C252D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794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79A27-8831-5FF7-E110-B6EB2790B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26A24-9134-96D4-3EBC-A15E09810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0752A-875A-A2BE-A29C-16406C13A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16A01-4C21-FD0D-ECB8-8DA2B3A2B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B046E-B163-4F01-B997-FB41A02C252D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678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A486-677A-834A-157C-108FB1C01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E545D-C8EF-780E-2356-4D94CA1C3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A4C70-85DC-08E4-BC0F-BC937E1AF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6531D-48C3-6FCE-F443-1859B2A1E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B046E-B163-4F01-B997-FB41A02C252D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563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0BC20-6F8C-C5C0-12B7-93BA0A5E4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A17F7-0C21-7699-AA3E-90A8AE5D6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C83FA-13FC-12ED-65DE-F0899C846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4ED85-B346-A8B1-2E2E-836C6718B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B046E-B163-4F01-B997-FB41A02C252D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455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C8B1-B894-46AF-DB36-D1500D93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C3801-4EE6-A2A9-08B0-3F4C15261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A408F-918E-3050-221B-F20AC1EF0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B031D-1836-646C-AC94-E9A3C0697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B046E-B163-4F01-B997-FB41A02C252D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2906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F48DB-F9F7-4AE2-BF85-E555FF0C2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12517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76E20-CF58-41D4-8644-BBD41E602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5008"/>
            </a:lvl1pPr>
            <a:lvl2pPr marL="953853" indent="0" algn="ctr">
              <a:buNone/>
              <a:defRPr sz="4173"/>
            </a:lvl2pPr>
            <a:lvl3pPr marL="1907704" indent="0" algn="ctr">
              <a:buNone/>
              <a:defRPr sz="3755"/>
            </a:lvl3pPr>
            <a:lvl4pPr marL="2861557" indent="0" algn="ctr">
              <a:buNone/>
              <a:defRPr sz="3338"/>
            </a:lvl4pPr>
            <a:lvl5pPr marL="3815410" indent="0" algn="ctr">
              <a:buNone/>
              <a:defRPr sz="3338"/>
            </a:lvl5pPr>
            <a:lvl6pPr marL="4769261" indent="0" algn="ctr">
              <a:buNone/>
              <a:defRPr sz="3338"/>
            </a:lvl6pPr>
            <a:lvl7pPr marL="5723114" indent="0" algn="ctr">
              <a:buNone/>
              <a:defRPr sz="3338"/>
            </a:lvl7pPr>
            <a:lvl8pPr marL="6676967" indent="0" algn="ctr">
              <a:buNone/>
              <a:defRPr sz="3338"/>
            </a:lvl8pPr>
            <a:lvl9pPr marL="7630819" indent="0" algn="ctr">
              <a:buNone/>
              <a:defRPr sz="3338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165E0-96F3-4B3F-93E8-A8522CBA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98D2A4B3-6C78-4478-8FC9-45E97051CF5F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C16B3-B127-4FD4-B1E7-C2F48AD6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2EF4E-5E96-42E9-93CF-83B97C49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E5EA93B1-25B1-4634-A420-9F5B985B55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23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F2E1A-D733-4DCE-929B-6619A65B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BD6A-F766-46BD-860E-1A8A71E7F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17474-6D46-490B-A107-80507268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98D2A4B3-6C78-4478-8FC9-45E97051CF5F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735AB-A41E-44D6-B5B3-09A2245B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8E839-A358-4C0C-953F-D8CD9808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E5EA93B1-25B1-4634-A420-9F5B985B55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9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6E2E5-CA76-480B-BC9E-AA728759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38"/>
            <a:ext cx="8543925" cy="2852737"/>
          </a:xfrm>
        </p:spPr>
        <p:txBody>
          <a:bodyPr anchor="b"/>
          <a:lstStyle>
            <a:lvl1pPr>
              <a:defRPr sz="12517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513A2-302D-423A-A2E0-0078C1F58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4"/>
            <a:ext cx="8543925" cy="1500187"/>
          </a:xfrm>
        </p:spPr>
        <p:txBody>
          <a:bodyPr/>
          <a:lstStyle>
            <a:lvl1pPr marL="0" indent="0">
              <a:buNone/>
              <a:defRPr sz="5008">
                <a:solidFill>
                  <a:schemeClr val="tx1">
                    <a:tint val="75000"/>
                  </a:schemeClr>
                </a:solidFill>
              </a:defRPr>
            </a:lvl1pPr>
            <a:lvl2pPr marL="953853" indent="0">
              <a:buNone/>
              <a:defRPr sz="4173">
                <a:solidFill>
                  <a:schemeClr val="tx1">
                    <a:tint val="75000"/>
                  </a:schemeClr>
                </a:solidFill>
              </a:defRPr>
            </a:lvl2pPr>
            <a:lvl3pPr marL="1907704" indent="0">
              <a:buNone/>
              <a:defRPr sz="3755">
                <a:solidFill>
                  <a:schemeClr val="tx1">
                    <a:tint val="75000"/>
                  </a:schemeClr>
                </a:solidFill>
              </a:defRPr>
            </a:lvl3pPr>
            <a:lvl4pPr marL="2861557" indent="0">
              <a:buNone/>
              <a:defRPr sz="3338">
                <a:solidFill>
                  <a:schemeClr val="tx1">
                    <a:tint val="75000"/>
                  </a:schemeClr>
                </a:solidFill>
              </a:defRPr>
            </a:lvl4pPr>
            <a:lvl5pPr marL="3815410" indent="0">
              <a:buNone/>
              <a:defRPr sz="3338">
                <a:solidFill>
                  <a:schemeClr val="tx1">
                    <a:tint val="75000"/>
                  </a:schemeClr>
                </a:solidFill>
              </a:defRPr>
            </a:lvl5pPr>
            <a:lvl6pPr marL="4769261" indent="0">
              <a:buNone/>
              <a:defRPr sz="3338">
                <a:solidFill>
                  <a:schemeClr val="tx1">
                    <a:tint val="75000"/>
                  </a:schemeClr>
                </a:solidFill>
              </a:defRPr>
            </a:lvl6pPr>
            <a:lvl7pPr marL="5723114" indent="0">
              <a:buNone/>
              <a:defRPr sz="3338">
                <a:solidFill>
                  <a:schemeClr val="tx1">
                    <a:tint val="75000"/>
                  </a:schemeClr>
                </a:solidFill>
              </a:defRPr>
            </a:lvl7pPr>
            <a:lvl8pPr marL="6676967" indent="0">
              <a:buNone/>
              <a:defRPr sz="3338">
                <a:solidFill>
                  <a:schemeClr val="tx1">
                    <a:tint val="75000"/>
                  </a:schemeClr>
                </a:solidFill>
              </a:defRPr>
            </a:lvl8pPr>
            <a:lvl9pPr marL="7630819" indent="0">
              <a:buNone/>
              <a:defRPr sz="33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ADCD4-FDC8-4533-AF96-08A70823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98D2A4B3-6C78-4478-8FC9-45E97051CF5F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84CA6-E066-48BD-8225-6BEA27E8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8C334-6B62-4459-9122-925FDB695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E5EA93B1-25B1-4634-A420-9F5B985B55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34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92AF-1CA2-454F-A682-142B5B15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F9319-CFF4-47C8-9945-926F38C7D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E63F6-2535-4CA2-8DE0-CC1C36D56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89DAF-5847-4A7D-B16A-0C4BEFD1FF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98D2A4B3-6C78-4478-8FC9-45E97051CF5F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7B67A-8175-45FB-9627-378E8FC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C14D5-FD81-4015-81FB-AA99ADE5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E5EA93B1-25B1-4634-A420-9F5B985B55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43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9DEE-C2E1-47F3-8E85-51944DA11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9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1A12E-8298-4935-A6AE-8BCB85688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4"/>
            <a:ext cx="4190702" cy="823912"/>
          </a:xfrm>
        </p:spPr>
        <p:txBody>
          <a:bodyPr anchor="b"/>
          <a:lstStyle>
            <a:lvl1pPr marL="0" indent="0">
              <a:buNone/>
              <a:defRPr sz="5008" b="1"/>
            </a:lvl1pPr>
            <a:lvl2pPr marL="953853" indent="0">
              <a:buNone/>
              <a:defRPr sz="4173" b="1"/>
            </a:lvl2pPr>
            <a:lvl3pPr marL="1907704" indent="0">
              <a:buNone/>
              <a:defRPr sz="3755" b="1"/>
            </a:lvl3pPr>
            <a:lvl4pPr marL="2861557" indent="0">
              <a:buNone/>
              <a:defRPr sz="3338" b="1"/>
            </a:lvl4pPr>
            <a:lvl5pPr marL="3815410" indent="0">
              <a:buNone/>
              <a:defRPr sz="3338" b="1"/>
            </a:lvl5pPr>
            <a:lvl6pPr marL="4769261" indent="0">
              <a:buNone/>
              <a:defRPr sz="3338" b="1"/>
            </a:lvl6pPr>
            <a:lvl7pPr marL="5723114" indent="0">
              <a:buNone/>
              <a:defRPr sz="3338" b="1"/>
            </a:lvl7pPr>
            <a:lvl8pPr marL="6676967" indent="0">
              <a:buNone/>
              <a:defRPr sz="3338" b="1"/>
            </a:lvl8pPr>
            <a:lvl9pPr marL="7630819" indent="0">
              <a:buNone/>
              <a:defRPr sz="33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E456A-EAE8-42EE-9942-6715388D8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6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81ED4F-E93E-4F73-A901-87E5E551F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4" y="1681164"/>
            <a:ext cx="4211340" cy="823912"/>
          </a:xfrm>
        </p:spPr>
        <p:txBody>
          <a:bodyPr anchor="b"/>
          <a:lstStyle>
            <a:lvl1pPr marL="0" indent="0">
              <a:buNone/>
              <a:defRPr sz="5008" b="1"/>
            </a:lvl1pPr>
            <a:lvl2pPr marL="953853" indent="0">
              <a:buNone/>
              <a:defRPr sz="4173" b="1"/>
            </a:lvl2pPr>
            <a:lvl3pPr marL="1907704" indent="0">
              <a:buNone/>
              <a:defRPr sz="3755" b="1"/>
            </a:lvl3pPr>
            <a:lvl4pPr marL="2861557" indent="0">
              <a:buNone/>
              <a:defRPr sz="3338" b="1"/>
            </a:lvl4pPr>
            <a:lvl5pPr marL="3815410" indent="0">
              <a:buNone/>
              <a:defRPr sz="3338" b="1"/>
            </a:lvl5pPr>
            <a:lvl6pPr marL="4769261" indent="0">
              <a:buNone/>
              <a:defRPr sz="3338" b="1"/>
            </a:lvl6pPr>
            <a:lvl7pPr marL="5723114" indent="0">
              <a:buNone/>
              <a:defRPr sz="3338" b="1"/>
            </a:lvl7pPr>
            <a:lvl8pPr marL="6676967" indent="0">
              <a:buNone/>
              <a:defRPr sz="3338" b="1"/>
            </a:lvl8pPr>
            <a:lvl9pPr marL="7630819" indent="0">
              <a:buNone/>
              <a:defRPr sz="33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659BA6-E124-4C29-A4F5-93DA519E1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4" y="2505076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B669F8-B65F-4D0B-A67C-9246A6C8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98D2A4B3-6C78-4478-8FC9-45E97051CF5F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ABE0D1-19A7-441A-B269-D8EB9E7A5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C6060C-B3B6-4DBA-AC99-8A909C5BF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E5EA93B1-25B1-4634-A420-9F5B985B55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262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481E-5DF2-4174-95F8-CFAF28A1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EEFE09-BC44-44D9-8CC5-61D032232B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98D2A4B3-6C78-4478-8FC9-45E97051CF5F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0F7DA3-AD58-49CC-BD76-8099AF44F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CB411-A791-47CF-AC4C-994BF6B4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E5EA93B1-25B1-4634-A420-9F5B985B55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32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CD8C6-A670-4997-BF7A-DB09E1D2B2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98D2A4B3-6C78-4478-8FC9-45E97051CF5F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5C554-5E73-41A7-BF0C-6FD5B1C3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9A826-5BA6-4B71-AE91-06A5A42E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E5EA93B1-25B1-4634-A420-9F5B985B55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577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AE3E1-5695-4EE5-9B0A-537D714F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2" cy="1600200"/>
          </a:xfrm>
        </p:spPr>
        <p:txBody>
          <a:bodyPr anchor="b"/>
          <a:lstStyle>
            <a:lvl1pPr>
              <a:defRPr sz="6676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7D5FE-C6D9-49E6-BB23-10BF71014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1" y="987426"/>
            <a:ext cx="5014913" cy="4873625"/>
          </a:xfrm>
        </p:spPr>
        <p:txBody>
          <a:bodyPr/>
          <a:lstStyle>
            <a:lvl1pPr>
              <a:defRPr sz="6676"/>
            </a:lvl1pPr>
            <a:lvl2pPr>
              <a:defRPr sz="5841"/>
            </a:lvl2pPr>
            <a:lvl3pPr>
              <a:defRPr sz="5008"/>
            </a:lvl3pPr>
            <a:lvl4pPr>
              <a:defRPr sz="4173"/>
            </a:lvl4pPr>
            <a:lvl5pPr>
              <a:defRPr sz="4173"/>
            </a:lvl5pPr>
            <a:lvl6pPr>
              <a:defRPr sz="4173"/>
            </a:lvl6pPr>
            <a:lvl7pPr>
              <a:defRPr sz="4173"/>
            </a:lvl7pPr>
            <a:lvl8pPr>
              <a:defRPr sz="4173"/>
            </a:lvl8pPr>
            <a:lvl9pPr>
              <a:defRPr sz="4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72839-3E31-4C6F-9CBA-B10984BC5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9" y="2057400"/>
            <a:ext cx="3194942" cy="3811588"/>
          </a:xfrm>
        </p:spPr>
        <p:txBody>
          <a:bodyPr/>
          <a:lstStyle>
            <a:lvl1pPr marL="0" indent="0">
              <a:buNone/>
              <a:defRPr sz="3338"/>
            </a:lvl1pPr>
            <a:lvl2pPr marL="953853" indent="0">
              <a:buNone/>
              <a:defRPr sz="2921"/>
            </a:lvl2pPr>
            <a:lvl3pPr marL="1907704" indent="0">
              <a:buNone/>
              <a:defRPr sz="2503"/>
            </a:lvl3pPr>
            <a:lvl4pPr marL="2861557" indent="0">
              <a:buNone/>
              <a:defRPr sz="2086"/>
            </a:lvl4pPr>
            <a:lvl5pPr marL="3815410" indent="0">
              <a:buNone/>
              <a:defRPr sz="2086"/>
            </a:lvl5pPr>
            <a:lvl6pPr marL="4769261" indent="0">
              <a:buNone/>
              <a:defRPr sz="2086"/>
            </a:lvl6pPr>
            <a:lvl7pPr marL="5723114" indent="0">
              <a:buNone/>
              <a:defRPr sz="2086"/>
            </a:lvl7pPr>
            <a:lvl8pPr marL="6676967" indent="0">
              <a:buNone/>
              <a:defRPr sz="2086"/>
            </a:lvl8pPr>
            <a:lvl9pPr marL="7630819" indent="0">
              <a:buNone/>
              <a:defRPr sz="20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8396E-ED46-4A29-A1B4-23FB07EC0B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98D2A4B3-6C78-4478-8FC9-45E97051CF5F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EF291-1B56-46C8-A95C-E96587E56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B2467-717D-4EF6-8B82-E6BE3551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E5EA93B1-25B1-4634-A420-9F5B985B55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29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18707-F436-4B62-B8AE-B555C890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9" y="457200"/>
            <a:ext cx="3194942" cy="1600200"/>
          </a:xfrm>
        </p:spPr>
        <p:txBody>
          <a:bodyPr anchor="b"/>
          <a:lstStyle>
            <a:lvl1pPr>
              <a:defRPr sz="6676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DFD57-3663-411B-8B76-2BEA38906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1" y="987426"/>
            <a:ext cx="5014913" cy="4873625"/>
          </a:xfrm>
        </p:spPr>
        <p:txBody>
          <a:bodyPr/>
          <a:lstStyle>
            <a:lvl1pPr marL="0" indent="0">
              <a:buNone/>
              <a:defRPr sz="6676"/>
            </a:lvl1pPr>
            <a:lvl2pPr marL="953853" indent="0">
              <a:buNone/>
              <a:defRPr sz="5841"/>
            </a:lvl2pPr>
            <a:lvl3pPr marL="1907704" indent="0">
              <a:buNone/>
              <a:defRPr sz="5008"/>
            </a:lvl3pPr>
            <a:lvl4pPr marL="2861557" indent="0">
              <a:buNone/>
              <a:defRPr sz="4173"/>
            </a:lvl4pPr>
            <a:lvl5pPr marL="3815410" indent="0">
              <a:buNone/>
              <a:defRPr sz="4173"/>
            </a:lvl5pPr>
            <a:lvl6pPr marL="4769261" indent="0">
              <a:buNone/>
              <a:defRPr sz="4173"/>
            </a:lvl6pPr>
            <a:lvl7pPr marL="5723114" indent="0">
              <a:buNone/>
              <a:defRPr sz="4173"/>
            </a:lvl7pPr>
            <a:lvl8pPr marL="6676967" indent="0">
              <a:buNone/>
              <a:defRPr sz="4173"/>
            </a:lvl8pPr>
            <a:lvl9pPr marL="7630819" indent="0">
              <a:buNone/>
              <a:defRPr sz="4173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F1917-9555-4E74-8488-6E681633A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9" y="2057400"/>
            <a:ext cx="3194942" cy="3811588"/>
          </a:xfrm>
        </p:spPr>
        <p:txBody>
          <a:bodyPr/>
          <a:lstStyle>
            <a:lvl1pPr marL="0" indent="0">
              <a:buNone/>
              <a:defRPr sz="3338"/>
            </a:lvl1pPr>
            <a:lvl2pPr marL="953853" indent="0">
              <a:buNone/>
              <a:defRPr sz="2921"/>
            </a:lvl2pPr>
            <a:lvl3pPr marL="1907704" indent="0">
              <a:buNone/>
              <a:defRPr sz="2503"/>
            </a:lvl3pPr>
            <a:lvl4pPr marL="2861557" indent="0">
              <a:buNone/>
              <a:defRPr sz="2086"/>
            </a:lvl4pPr>
            <a:lvl5pPr marL="3815410" indent="0">
              <a:buNone/>
              <a:defRPr sz="2086"/>
            </a:lvl5pPr>
            <a:lvl6pPr marL="4769261" indent="0">
              <a:buNone/>
              <a:defRPr sz="2086"/>
            </a:lvl6pPr>
            <a:lvl7pPr marL="5723114" indent="0">
              <a:buNone/>
              <a:defRPr sz="2086"/>
            </a:lvl7pPr>
            <a:lvl8pPr marL="6676967" indent="0">
              <a:buNone/>
              <a:defRPr sz="2086"/>
            </a:lvl8pPr>
            <a:lvl9pPr marL="7630819" indent="0">
              <a:buNone/>
              <a:defRPr sz="20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25E8C-28E8-41A3-BD20-A4E776774D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98D2A4B3-6C78-4478-8FC9-45E97051CF5F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8A56A-5A3F-49D3-B1BF-A93C7771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25AAA-1434-4FB6-867B-1E7EE506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E5EA93B1-25B1-4634-A420-9F5B985B55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651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75BD-3A4A-4F28-8301-D9445FFC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DC51A-56CB-4053-B358-D79D0197B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BB9FA-F93F-4322-B430-81B1DFB0D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98D2A4B3-6C78-4478-8FC9-45E97051CF5F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EEF18-C9BE-4ADF-AB58-6C3A726D4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E10AB-CD9E-440B-AFD0-73122EFA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E5EA93B1-25B1-4634-A420-9F5B985B55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21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DCB0B5-EC63-4937-AF54-5754F3C3A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D10F9-51F6-4BC3-B9AC-E28731A52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B941D-FB81-469D-8F8E-AAD911F445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98D2A4B3-6C78-4478-8FC9-45E97051CF5F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9C440-1474-4A0A-A428-F8D57B8B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8C94A-26FA-48D7-A966-5B18687C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E5EA93B1-25B1-4634-A420-9F5B985B55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569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303EFA-9456-4587-9048-7B6A74134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9" y="365126"/>
            <a:ext cx="8543925" cy="434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2560C-CC63-4BEC-99CC-353481E09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9" y="894178"/>
            <a:ext cx="8543925" cy="5357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226FC-9151-45C4-90F6-CCD7BDDB9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038" y="6356351"/>
            <a:ext cx="85439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4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97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907704" rtl="0" eaLnBrk="1" latinLnBrk="0" hangingPunct="1">
        <a:lnSpc>
          <a:spcPct val="90000"/>
        </a:lnSpc>
        <a:spcBef>
          <a:spcPct val="0"/>
        </a:spcBef>
        <a:buNone/>
        <a:defRPr sz="231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1907704" rtl="0" eaLnBrk="1" latinLnBrk="0" hangingPunct="1">
        <a:lnSpc>
          <a:spcPct val="90000"/>
        </a:lnSpc>
        <a:spcBef>
          <a:spcPts val="2086"/>
        </a:spcBef>
        <a:buFont typeface="Arial" panose="020B0604020202020204" pitchFamily="34" charset="0"/>
        <a:buNone/>
        <a:defRPr sz="158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53853" indent="0" algn="l" defTabSz="1907704" rtl="0" eaLnBrk="1" latinLnBrk="0" hangingPunct="1">
        <a:lnSpc>
          <a:spcPct val="90000"/>
        </a:lnSpc>
        <a:spcBef>
          <a:spcPts val="1043"/>
        </a:spcBef>
        <a:buFont typeface="Arial" panose="020B0604020202020204" pitchFamily="34" charset="0"/>
        <a:buNone/>
        <a:defRPr sz="158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907704" indent="0" algn="l" defTabSz="1907704" rtl="0" eaLnBrk="1" latinLnBrk="0" hangingPunct="1">
        <a:lnSpc>
          <a:spcPct val="90000"/>
        </a:lnSpc>
        <a:spcBef>
          <a:spcPts val="1043"/>
        </a:spcBef>
        <a:buFont typeface="Arial" panose="020B0604020202020204" pitchFamily="34" charset="0"/>
        <a:buNone/>
        <a:defRPr sz="158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861557" indent="0" algn="l" defTabSz="1907704" rtl="0" eaLnBrk="1" latinLnBrk="0" hangingPunct="1">
        <a:lnSpc>
          <a:spcPct val="90000"/>
        </a:lnSpc>
        <a:spcBef>
          <a:spcPts val="1043"/>
        </a:spcBef>
        <a:buFont typeface="Arial" panose="020B0604020202020204" pitchFamily="34" charset="0"/>
        <a:buNone/>
        <a:defRPr sz="158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3815410" indent="0" algn="l" defTabSz="1907704" rtl="0" eaLnBrk="1" latinLnBrk="0" hangingPunct="1">
        <a:lnSpc>
          <a:spcPct val="90000"/>
        </a:lnSpc>
        <a:spcBef>
          <a:spcPts val="1043"/>
        </a:spcBef>
        <a:buFont typeface="Arial" panose="020B0604020202020204" pitchFamily="34" charset="0"/>
        <a:buNone/>
        <a:defRPr sz="1589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246188" indent="-476926" algn="l" defTabSz="1907704" rtl="0" eaLnBrk="1" latinLnBrk="0" hangingPunct="1">
        <a:lnSpc>
          <a:spcPct val="90000"/>
        </a:lnSpc>
        <a:spcBef>
          <a:spcPts val="1043"/>
        </a:spcBef>
        <a:buFont typeface="Arial" panose="020B0604020202020204" pitchFamily="34" charset="0"/>
        <a:buChar char="•"/>
        <a:defRPr sz="3755" kern="1200">
          <a:solidFill>
            <a:schemeClr val="tx1"/>
          </a:solidFill>
          <a:latin typeface="+mn-lt"/>
          <a:ea typeface="+mn-ea"/>
          <a:cs typeface="+mn-cs"/>
        </a:defRPr>
      </a:lvl6pPr>
      <a:lvl7pPr marL="6200041" indent="-476926" algn="l" defTabSz="1907704" rtl="0" eaLnBrk="1" latinLnBrk="0" hangingPunct="1">
        <a:lnSpc>
          <a:spcPct val="90000"/>
        </a:lnSpc>
        <a:spcBef>
          <a:spcPts val="1043"/>
        </a:spcBef>
        <a:buFont typeface="Arial" panose="020B0604020202020204" pitchFamily="34" charset="0"/>
        <a:buChar char="•"/>
        <a:defRPr sz="3755" kern="1200">
          <a:solidFill>
            <a:schemeClr val="tx1"/>
          </a:solidFill>
          <a:latin typeface="+mn-lt"/>
          <a:ea typeface="+mn-ea"/>
          <a:cs typeface="+mn-cs"/>
        </a:defRPr>
      </a:lvl7pPr>
      <a:lvl8pPr marL="7153894" indent="-476926" algn="l" defTabSz="1907704" rtl="0" eaLnBrk="1" latinLnBrk="0" hangingPunct="1">
        <a:lnSpc>
          <a:spcPct val="90000"/>
        </a:lnSpc>
        <a:spcBef>
          <a:spcPts val="1043"/>
        </a:spcBef>
        <a:buFont typeface="Arial" panose="020B0604020202020204" pitchFamily="34" charset="0"/>
        <a:buChar char="•"/>
        <a:defRPr sz="3755" kern="1200">
          <a:solidFill>
            <a:schemeClr val="tx1"/>
          </a:solidFill>
          <a:latin typeface="+mn-lt"/>
          <a:ea typeface="+mn-ea"/>
          <a:cs typeface="+mn-cs"/>
        </a:defRPr>
      </a:lvl8pPr>
      <a:lvl9pPr marL="8107745" indent="-476926" algn="l" defTabSz="1907704" rtl="0" eaLnBrk="1" latinLnBrk="0" hangingPunct="1">
        <a:lnSpc>
          <a:spcPct val="90000"/>
        </a:lnSpc>
        <a:spcBef>
          <a:spcPts val="1043"/>
        </a:spcBef>
        <a:buFont typeface="Arial" panose="020B0604020202020204" pitchFamily="34" charset="0"/>
        <a:buChar char="•"/>
        <a:defRPr sz="37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07704" rtl="0" eaLnBrk="1" latinLnBrk="0" hangingPunct="1">
        <a:defRPr sz="3755" kern="1200">
          <a:solidFill>
            <a:schemeClr val="tx1"/>
          </a:solidFill>
          <a:latin typeface="+mn-lt"/>
          <a:ea typeface="+mn-ea"/>
          <a:cs typeface="+mn-cs"/>
        </a:defRPr>
      </a:lvl1pPr>
      <a:lvl2pPr marL="953853" algn="l" defTabSz="1907704" rtl="0" eaLnBrk="1" latinLnBrk="0" hangingPunct="1">
        <a:defRPr sz="3755" kern="1200">
          <a:solidFill>
            <a:schemeClr val="tx1"/>
          </a:solidFill>
          <a:latin typeface="+mn-lt"/>
          <a:ea typeface="+mn-ea"/>
          <a:cs typeface="+mn-cs"/>
        </a:defRPr>
      </a:lvl2pPr>
      <a:lvl3pPr marL="1907704" algn="l" defTabSz="1907704" rtl="0" eaLnBrk="1" latinLnBrk="0" hangingPunct="1">
        <a:defRPr sz="3755" kern="1200">
          <a:solidFill>
            <a:schemeClr val="tx1"/>
          </a:solidFill>
          <a:latin typeface="+mn-lt"/>
          <a:ea typeface="+mn-ea"/>
          <a:cs typeface="+mn-cs"/>
        </a:defRPr>
      </a:lvl3pPr>
      <a:lvl4pPr marL="2861557" algn="l" defTabSz="1907704" rtl="0" eaLnBrk="1" latinLnBrk="0" hangingPunct="1">
        <a:defRPr sz="3755" kern="1200">
          <a:solidFill>
            <a:schemeClr val="tx1"/>
          </a:solidFill>
          <a:latin typeface="+mn-lt"/>
          <a:ea typeface="+mn-ea"/>
          <a:cs typeface="+mn-cs"/>
        </a:defRPr>
      </a:lvl4pPr>
      <a:lvl5pPr marL="3815410" algn="l" defTabSz="1907704" rtl="0" eaLnBrk="1" latinLnBrk="0" hangingPunct="1">
        <a:defRPr sz="3755" kern="1200">
          <a:solidFill>
            <a:schemeClr val="tx1"/>
          </a:solidFill>
          <a:latin typeface="+mn-lt"/>
          <a:ea typeface="+mn-ea"/>
          <a:cs typeface="+mn-cs"/>
        </a:defRPr>
      </a:lvl5pPr>
      <a:lvl6pPr marL="4769261" algn="l" defTabSz="1907704" rtl="0" eaLnBrk="1" latinLnBrk="0" hangingPunct="1">
        <a:defRPr sz="3755" kern="1200">
          <a:solidFill>
            <a:schemeClr val="tx1"/>
          </a:solidFill>
          <a:latin typeface="+mn-lt"/>
          <a:ea typeface="+mn-ea"/>
          <a:cs typeface="+mn-cs"/>
        </a:defRPr>
      </a:lvl6pPr>
      <a:lvl7pPr marL="5723114" algn="l" defTabSz="1907704" rtl="0" eaLnBrk="1" latinLnBrk="0" hangingPunct="1">
        <a:defRPr sz="3755" kern="1200">
          <a:solidFill>
            <a:schemeClr val="tx1"/>
          </a:solidFill>
          <a:latin typeface="+mn-lt"/>
          <a:ea typeface="+mn-ea"/>
          <a:cs typeface="+mn-cs"/>
        </a:defRPr>
      </a:lvl7pPr>
      <a:lvl8pPr marL="6676967" algn="l" defTabSz="1907704" rtl="0" eaLnBrk="1" latinLnBrk="0" hangingPunct="1">
        <a:defRPr sz="3755" kern="1200">
          <a:solidFill>
            <a:schemeClr val="tx1"/>
          </a:solidFill>
          <a:latin typeface="+mn-lt"/>
          <a:ea typeface="+mn-ea"/>
          <a:cs typeface="+mn-cs"/>
        </a:defRPr>
      </a:lvl8pPr>
      <a:lvl9pPr marL="7630819" algn="l" defTabSz="1907704" rtl="0" eaLnBrk="1" latinLnBrk="0" hangingPunct="1">
        <a:defRPr sz="37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AA4CB5-2B24-3492-156A-F8127EBA0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9" y="365125"/>
            <a:ext cx="8543925" cy="6007640"/>
          </a:xfrm>
        </p:spPr>
        <p:txBody>
          <a:bodyPr>
            <a:normAutofit/>
          </a:bodyPr>
          <a:lstStyle/>
          <a:p>
            <a:br>
              <a:rPr lang="en-GB" sz="2300" dirty="0">
                <a:latin typeface="Arial"/>
                <a:cs typeface="Arial"/>
              </a:rPr>
            </a:br>
            <a:r>
              <a:rPr lang="en-GB" sz="2800" dirty="0">
                <a:solidFill>
                  <a:srgbClr val="003366"/>
                </a:solidFill>
                <a:latin typeface="Arial"/>
                <a:cs typeface="Arial"/>
              </a:rPr>
              <a:t>Living Costs and Food Survey</a:t>
            </a:r>
            <a:br>
              <a:rPr lang="en-GB" sz="2800" dirty="0">
                <a:solidFill>
                  <a:srgbClr val="003366"/>
                </a:solidFill>
                <a:latin typeface="Arial"/>
                <a:cs typeface="Arial"/>
              </a:rPr>
            </a:br>
            <a:br>
              <a:rPr lang="en-GB" sz="2300" dirty="0">
                <a:solidFill>
                  <a:srgbClr val="003366"/>
                </a:solidFill>
                <a:latin typeface="Arial"/>
                <a:cs typeface="Arial"/>
              </a:rPr>
            </a:br>
            <a:r>
              <a:rPr lang="en-GB" sz="2000" dirty="0">
                <a:solidFill>
                  <a:srgbClr val="003366"/>
                </a:solidFill>
                <a:latin typeface="Arial"/>
                <a:cs typeface="Arial"/>
              </a:rPr>
              <a:t>Volume G</a:t>
            </a:r>
            <a:br>
              <a:rPr lang="en-GB" sz="2000" dirty="0">
                <a:solidFill>
                  <a:srgbClr val="003366"/>
                </a:solidFill>
              </a:rPr>
            </a:br>
            <a:r>
              <a:rPr lang="en-GB" sz="2000" dirty="0">
                <a:solidFill>
                  <a:srgbClr val="003366"/>
                </a:solidFill>
                <a:latin typeface="Arial"/>
                <a:cs typeface="Arial"/>
              </a:rPr>
              <a:t>Derived Variable Changes</a:t>
            </a:r>
            <a:br>
              <a:rPr lang="en-GB" sz="2000" dirty="0">
                <a:solidFill>
                  <a:srgbClr val="003366"/>
                </a:solidFill>
              </a:rPr>
            </a:br>
            <a:r>
              <a:rPr lang="en-GB" sz="2000" dirty="0">
                <a:solidFill>
                  <a:srgbClr val="003366"/>
                </a:solidFill>
                <a:latin typeface="Arial"/>
                <a:cs typeface="Arial"/>
              </a:rPr>
              <a:t>April 2024 – March 2025</a:t>
            </a:r>
            <a:br>
              <a:rPr lang="en-GB" sz="2000" dirty="0">
                <a:solidFill>
                  <a:srgbClr val="003366"/>
                </a:solidFill>
                <a:latin typeface="Arial"/>
                <a:cs typeface="Arial"/>
              </a:rPr>
            </a:br>
            <a:br>
              <a:rPr lang="en-GB" sz="2300" dirty="0">
                <a:solidFill>
                  <a:srgbClr val="003366"/>
                </a:solidFill>
                <a:latin typeface="Arial"/>
                <a:cs typeface="Arial"/>
              </a:rPr>
            </a:br>
            <a:r>
              <a:rPr lang="en-GB" sz="1600" dirty="0">
                <a:solidFill>
                  <a:srgbClr val="003366"/>
                </a:solidFill>
                <a:latin typeface="Arial"/>
                <a:cs typeface="Arial"/>
              </a:rPr>
              <a:t>Great Britain and Northern Ireland</a:t>
            </a:r>
            <a:br>
              <a:rPr lang="en-GB" sz="1600" dirty="0">
                <a:solidFill>
                  <a:srgbClr val="003366"/>
                </a:solidFill>
                <a:latin typeface="Arial"/>
                <a:cs typeface="Arial"/>
              </a:rPr>
            </a:br>
            <a:br>
              <a:rPr lang="en-GB" sz="1600" dirty="0">
                <a:solidFill>
                  <a:srgbClr val="003366"/>
                </a:solidFill>
                <a:latin typeface="Arial"/>
                <a:cs typeface="Arial"/>
              </a:rPr>
            </a:br>
            <a:r>
              <a:rPr lang="en-GB" sz="1600" dirty="0">
                <a:solidFill>
                  <a:srgbClr val="003366"/>
                </a:solidFill>
                <a:latin typeface="Arial"/>
                <a:cs typeface="Arial"/>
              </a:rPr>
              <a:t>ONS Social Surveys</a:t>
            </a:r>
            <a:br>
              <a:rPr lang="en-GB" sz="1600" dirty="0">
                <a:solidFill>
                  <a:srgbClr val="003366"/>
                </a:solidFill>
                <a:latin typeface="Arial"/>
                <a:cs typeface="Arial"/>
              </a:rPr>
            </a:br>
            <a:r>
              <a:rPr lang="en-GB" sz="1600" dirty="0">
                <a:solidFill>
                  <a:srgbClr val="003366"/>
                </a:solidFill>
                <a:latin typeface="Arial"/>
                <a:cs typeface="Arial"/>
              </a:rPr>
              <a:t>Office for National </a:t>
            </a:r>
            <a:r>
              <a:rPr lang="en-GB" sz="1600">
                <a:solidFill>
                  <a:srgbClr val="003366"/>
                </a:solidFill>
                <a:latin typeface="Arial"/>
                <a:cs typeface="Arial"/>
              </a:rPr>
              <a:t>Statistics</a:t>
            </a:r>
            <a:br>
              <a:rPr lang="en-GB" sz="1600" dirty="0">
                <a:solidFill>
                  <a:srgbClr val="003366"/>
                </a:solidFill>
                <a:latin typeface="Arial"/>
                <a:cs typeface="Arial"/>
              </a:rPr>
            </a:br>
            <a:br>
              <a:rPr lang="en-GB" sz="1600" dirty="0">
                <a:solidFill>
                  <a:srgbClr val="003366"/>
                </a:solidFill>
                <a:latin typeface="Arial"/>
                <a:cs typeface="Arial"/>
              </a:rPr>
            </a:br>
            <a:r>
              <a:rPr lang="en-GB" sz="1600">
                <a:solidFill>
                  <a:srgbClr val="003366"/>
                </a:solidFill>
                <a:latin typeface="Arial"/>
                <a:cs typeface="Arial"/>
              </a:rPr>
              <a:t>August 2025</a:t>
            </a:r>
            <a:endParaRPr lang="en-GB" sz="1600">
              <a:solidFill>
                <a:srgbClr val="003366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3C0CFA-CD69-A8CA-E438-2D0397D14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73" y="363782"/>
            <a:ext cx="3395757" cy="104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0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F6A08-1F17-739A-B293-C01C61349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48" y="115358"/>
            <a:ext cx="9677278" cy="434095"/>
          </a:xfrm>
        </p:spPr>
        <p:txBody>
          <a:bodyPr>
            <a:normAutofit/>
          </a:bodyPr>
          <a:lstStyle/>
          <a:p>
            <a:r>
              <a:rPr lang="en-GB" sz="1400" b="1" dirty="0"/>
              <a:t>A006</a:t>
            </a:r>
            <a:r>
              <a:rPr lang="en-GB" sz="2000" b="1" dirty="0"/>
              <a:t> </a:t>
            </a:r>
            <a:r>
              <a:rPr lang="en-GB" sz="1400" b="1" dirty="0"/>
              <a:t>Marital Status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23961D-570D-5344-3286-FAFBD5AC05E4}"/>
              </a:ext>
            </a:extLst>
          </p:cNvPr>
          <p:cNvSpPr/>
          <p:nvPr/>
        </p:nvSpPr>
        <p:spPr>
          <a:xfrm>
            <a:off x="264908" y="750909"/>
            <a:ext cx="1152000" cy="576000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04CBAA-07EB-640F-B319-3D44B6774825}"/>
              </a:ext>
            </a:extLst>
          </p:cNvPr>
          <p:cNvSpPr/>
          <p:nvPr/>
        </p:nvSpPr>
        <p:spPr>
          <a:xfrm>
            <a:off x="552239" y="2540757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A54F55-D040-8471-53F3-2555A41456C3}"/>
              </a:ext>
            </a:extLst>
          </p:cNvPr>
          <p:cNvSpPr/>
          <p:nvPr/>
        </p:nvSpPr>
        <p:spPr>
          <a:xfrm>
            <a:off x="552239" y="4376226"/>
            <a:ext cx="577338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42670C-92ED-033C-5B6A-36C53A6B5454}"/>
              </a:ext>
            </a:extLst>
          </p:cNvPr>
          <p:cNvSpPr/>
          <p:nvPr/>
        </p:nvSpPr>
        <p:spPr>
          <a:xfrm>
            <a:off x="8940806" y="750909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A2A3FF-A020-A004-212D-D8A194E707D4}"/>
              </a:ext>
            </a:extLst>
          </p:cNvPr>
          <p:cNvSpPr/>
          <p:nvPr/>
        </p:nvSpPr>
        <p:spPr>
          <a:xfrm>
            <a:off x="8940137" y="2540757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6D4613-117E-B89B-A3B3-F11430B99D51}"/>
              </a:ext>
            </a:extLst>
          </p:cNvPr>
          <p:cNvSpPr/>
          <p:nvPr/>
        </p:nvSpPr>
        <p:spPr>
          <a:xfrm>
            <a:off x="8777807" y="4376226"/>
            <a:ext cx="901999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A006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6ABC3D-1666-9593-70AD-43D193613756}"/>
              </a:ext>
            </a:extLst>
          </p:cNvPr>
          <p:cNvSpPr/>
          <p:nvPr/>
        </p:nvSpPr>
        <p:spPr>
          <a:xfrm>
            <a:off x="2074984" y="1775465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A006 = 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49FE0A-20C4-ED1E-D3B9-4D968937448C}"/>
              </a:ext>
            </a:extLst>
          </p:cNvPr>
          <p:cNvSpPr/>
          <p:nvPr/>
        </p:nvSpPr>
        <p:spPr>
          <a:xfrm>
            <a:off x="3784429" y="1775465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A006 =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119FD2-738A-A6CC-DBAC-E5D2DC779B40}"/>
              </a:ext>
            </a:extLst>
          </p:cNvPr>
          <p:cNvSpPr/>
          <p:nvPr/>
        </p:nvSpPr>
        <p:spPr>
          <a:xfrm>
            <a:off x="5441784" y="1775465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A006 =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17E1A2-CAE6-90B1-49AA-9A4844B598BF}"/>
              </a:ext>
            </a:extLst>
          </p:cNvPr>
          <p:cNvSpPr/>
          <p:nvPr/>
        </p:nvSpPr>
        <p:spPr>
          <a:xfrm>
            <a:off x="7101699" y="1775465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A006 = 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B43F1A-34B4-CA2E-ABDF-B6B9AC47712D}"/>
              </a:ext>
            </a:extLst>
          </p:cNvPr>
          <p:cNvSpPr/>
          <p:nvPr/>
        </p:nvSpPr>
        <p:spPr>
          <a:xfrm>
            <a:off x="2074984" y="3615139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A006 = 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5CEFC8-5B80-C76C-4D59-2B2273D61B66}"/>
              </a:ext>
            </a:extLst>
          </p:cNvPr>
          <p:cNvSpPr/>
          <p:nvPr/>
        </p:nvSpPr>
        <p:spPr>
          <a:xfrm>
            <a:off x="3784429" y="3624918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A006 = 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ED8C2C-2946-BB81-26DA-A874DB3BBB07}"/>
              </a:ext>
            </a:extLst>
          </p:cNvPr>
          <p:cNvSpPr/>
          <p:nvPr/>
        </p:nvSpPr>
        <p:spPr>
          <a:xfrm>
            <a:off x="5441784" y="3615139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A006 = 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18087B-8874-1703-E797-58C31E413F16}"/>
              </a:ext>
            </a:extLst>
          </p:cNvPr>
          <p:cNvSpPr/>
          <p:nvPr/>
        </p:nvSpPr>
        <p:spPr>
          <a:xfrm>
            <a:off x="7101699" y="3624918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A006 = 4       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0949C40-9682-CFD0-EBF9-7A7AA6AEDF2D}"/>
              </a:ext>
            </a:extLst>
          </p:cNvPr>
          <p:cNvSpPr/>
          <p:nvPr/>
        </p:nvSpPr>
        <p:spPr>
          <a:xfrm>
            <a:off x="3784429" y="6154371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A006 = 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D65803-5242-170C-003D-EA4A3F2E473F}"/>
              </a:ext>
            </a:extLst>
          </p:cNvPr>
          <p:cNvSpPr/>
          <p:nvPr/>
        </p:nvSpPr>
        <p:spPr>
          <a:xfrm>
            <a:off x="5441784" y="6154371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A006 = 9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3AC7EB-4FBA-6BF4-530E-5E03E5B77FC1}"/>
              </a:ext>
            </a:extLst>
          </p:cNvPr>
          <p:cNvSpPr/>
          <p:nvPr/>
        </p:nvSpPr>
        <p:spPr>
          <a:xfrm>
            <a:off x="7101699" y="6154371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A006 = 10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2DD171-92EA-5074-5B53-792B8392BBF4}"/>
              </a:ext>
            </a:extLst>
          </p:cNvPr>
          <p:cNvSpPr/>
          <p:nvPr/>
        </p:nvSpPr>
        <p:spPr>
          <a:xfrm>
            <a:off x="2074984" y="6154371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A006 = 8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C846EC-5DBF-12C6-680D-45C93EEFCA83}"/>
              </a:ext>
            </a:extLst>
          </p:cNvPr>
          <p:cNvSpPr/>
          <p:nvPr/>
        </p:nvSpPr>
        <p:spPr>
          <a:xfrm>
            <a:off x="1929234" y="581709"/>
            <a:ext cx="1338773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Married IN </a:t>
            </a:r>
            <a:r>
              <a:rPr lang="en-GB" sz="1000" b="1" dirty="0" err="1">
                <a:solidFill>
                  <a:schemeClr val="tx1"/>
                </a:solidFill>
              </a:rPr>
              <a:t>MarStaB</a:t>
            </a:r>
            <a:r>
              <a:rPr lang="en-GB" sz="1000" b="1" dirty="0">
                <a:solidFill>
                  <a:schemeClr val="tx1"/>
                </a:solidFill>
              </a:rPr>
              <a:t> AND Yes IN </a:t>
            </a:r>
            <a:r>
              <a:rPr lang="en-GB" sz="1000" b="1" dirty="0" err="1">
                <a:solidFill>
                  <a:schemeClr val="tx1"/>
                </a:solidFill>
              </a:rPr>
              <a:t>MarCk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9D3101-E889-340F-B0CD-F6A7CE3BDF6B}"/>
              </a:ext>
            </a:extLst>
          </p:cNvPr>
          <p:cNvSpPr/>
          <p:nvPr/>
        </p:nvSpPr>
        <p:spPr>
          <a:xfrm>
            <a:off x="3638679" y="581709"/>
            <a:ext cx="1338773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Married IN </a:t>
            </a:r>
            <a:r>
              <a:rPr lang="en-GB" sz="1000" b="1" dirty="0" err="1">
                <a:solidFill>
                  <a:schemeClr val="tx1"/>
                </a:solidFill>
              </a:rPr>
              <a:t>MarStaB</a:t>
            </a:r>
            <a:r>
              <a:rPr lang="en-GB" sz="1000" b="1" dirty="0">
                <a:solidFill>
                  <a:schemeClr val="tx1"/>
                </a:solidFill>
              </a:rPr>
              <a:t> AND No IN </a:t>
            </a:r>
            <a:r>
              <a:rPr lang="en-GB" sz="1000" b="1" dirty="0" err="1">
                <a:solidFill>
                  <a:schemeClr val="tx1"/>
                </a:solidFill>
              </a:rPr>
              <a:t>MarCk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791322-2EB3-9B93-D944-48630621766C}"/>
              </a:ext>
            </a:extLst>
          </p:cNvPr>
          <p:cNvSpPr/>
          <p:nvPr/>
        </p:nvSpPr>
        <p:spPr>
          <a:xfrm>
            <a:off x="5296034" y="581709"/>
            <a:ext cx="1338773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NEVMARR,SEPARATED,DIVORCED,WIDOWED,SEPPART,DIVPART,SURPARTIN </a:t>
            </a:r>
            <a:r>
              <a:rPr lang="en-GB" sz="1000" b="1" dirty="0" err="1">
                <a:solidFill>
                  <a:schemeClr val="tx1"/>
                </a:solidFill>
              </a:rPr>
              <a:t>MarStaB</a:t>
            </a:r>
            <a:r>
              <a:rPr lang="en-GB" sz="1000" b="1" dirty="0">
                <a:solidFill>
                  <a:schemeClr val="tx1"/>
                </a:solidFill>
              </a:rPr>
              <a:t> AND Yes IN livwith12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B834263-ED93-33A0-9039-F997ECA6EDAA}"/>
              </a:ext>
            </a:extLst>
          </p:cNvPr>
          <p:cNvSpPr/>
          <p:nvPr/>
        </p:nvSpPr>
        <p:spPr>
          <a:xfrm>
            <a:off x="6955949" y="581709"/>
            <a:ext cx="1338773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NEVMARR IN </a:t>
            </a:r>
            <a:r>
              <a:rPr lang="en-GB" sz="1000" b="1" dirty="0" err="1">
                <a:solidFill>
                  <a:schemeClr val="tx1"/>
                </a:solidFill>
              </a:rPr>
              <a:t>MarStaB</a:t>
            </a:r>
            <a:r>
              <a:rPr lang="en-GB" sz="1000" b="1" dirty="0">
                <a:solidFill>
                  <a:schemeClr val="tx1"/>
                </a:solidFill>
              </a:rPr>
              <a:t> AND (No IN livwith12 OR livwith12 = No response*)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696C1E-4829-764B-BE75-1F2198ED43DE}"/>
              </a:ext>
            </a:extLst>
          </p:cNvPr>
          <p:cNvSpPr/>
          <p:nvPr/>
        </p:nvSpPr>
        <p:spPr>
          <a:xfrm>
            <a:off x="1929234" y="2371557"/>
            <a:ext cx="1338773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Widowed IN </a:t>
            </a:r>
            <a:r>
              <a:rPr lang="en-GB" sz="1000" b="1" dirty="0" err="1">
                <a:solidFill>
                  <a:schemeClr val="tx1"/>
                </a:solidFill>
              </a:rPr>
              <a:t>MarStaB</a:t>
            </a:r>
            <a:r>
              <a:rPr lang="en-GB" sz="1000" b="1" dirty="0">
                <a:solidFill>
                  <a:schemeClr val="tx1"/>
                </a:solidFill>
              </a:rPr>
              <a:t> AND (No IN </a:t>
            </a:r>
            <a:r>
              <a:rPr lang="en-GB" sz="1000" b="1" dirty="0" err="1">
                <a:solidFill>
                  <a:schemeClr val="tx1"/>
                </a:solidFill>
              </a:rPr>
              <a:t>livwith</a:t>
            </a:r>
            <a:r>
              <a:rPr lang="en-GB" sz="1000" b="1" dirty="0">
                <a:solidFill>
                  <a:schemeClr val="tx1"/>
                </a:solidFill>
              </a:rPr>
              <a:t> 12 = No response)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7DFDC0F-1125-8076-369A-2DF44CD08047}"/>
              </a:ext>
            </a:extLst>
          </p:cNvPr>
          <p:cNvSpPr/>
          <p:nvPr/>
        </p:nvSpPr>
        <p:spPr>
          <a:xfrm>
            <a:off x="3638679" y="2371557"/>
            <a:ext cx="1338773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Divorced IN </a:t>
            </a:r>
            <a:r>
              <a:rPr lang="en-GB" sz="1000" b="1" dirty="0" err="1">
                <a:solidFill>
                  <a:schemeClr val="tx1"/>
                </a:solidFill>
              </a:rPr>
              <a:t>MarStaB</a:t>
            </a:r>
            <a:r>
              <a:rPr lang="en-GB" sz="1000" b="1" dirty="0">
                <a:solidFill>
                  <a:schemeClr val="tx1"/>
                </a:solidFill>
              </a:rPr>
              <a:t> AND (No IN livwith12 = No response)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EAE1972-D6D9-93C3-C7A0-721ECF3FFA96}"/>
              </a:ext>
            </a:extLst>
          </p:cNvPr>
          <p:cNvSpPr/>
          <p:nvPr/>
        </p:nvSpPr>
        <p:spPr>
          <a:xfrm>
            <a:off x="5296034" y="2371557"/>
            <a:ext cx="1338773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Separated IN </a:t>
            </a:r>
            <a:r>
              <a:rPr lang="en-GB" sz="1000" b="1" dirty="0" err="1">
                <a:solidFill>
                  <a:schemeClr val="tx1"/>
                </a:solidFill>
              </a:rPr>
              <a:t>MarStaB</a:t>
            </a:r>
            <a:r>
              <a:rPr lang="en-GB" sz="1000" b="1" dirty="0">
                <a:solidFill>
                  <a:schemeClr val="tx1"/>
                </a:solidFill>
              </a:rPr>
              <a:t> AND (No IN livwith12 = No response)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6BC98EA-1BDA-D5B8-58FF-3E27A2F05F7F}"/>
              </a:ext>
            </a:extLst>
          </p:cNvPr>
          <p:cNvSpPr/>
          <p:nvPr/>
        </p:nvSpPr>
        <p:spPr>
          <a:xfrm>
            <a:off x="6955949" y="2371557"/>
            <a:ext cx="1338773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[0…15] IN </a:t>
            </a:r>
            <a:r>
              <a:rPr lang="en-GB" sz="1000" b="1" dirty="0" err="1">
                <a:solidFill>
                  <a:schemeClr val="tx1"/>
                </a:solidFill>
              </a:rPr>
              <a:t>DvAge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0EFB095-4A10-7802-C21F-CDA5FF534ED9}"/>
              </a:ext>
            </a:extLst>
          </p:cNvPr>
          <p:cNvSpPr/>
          <p:nvPr/>
        </p:nvSpPr>
        <p:spPr>
          <a:xfrm>
            <a:off x="1929234" y="4207026"/>
            <a:ext cx="1338773" cy="914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Month = ‘01’ AND Year = 2007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EF619ED-A349-D970-C793-B64FD53DB66A}"/>
              </a:ext>
            </a:extLst>
          </p:cNvPr>
          <p:cNvSpPr/>
          <p:nvPr/>
        </p:nvSpPr>
        <p:spPr>
          <a:xfrm>
            <a:off x="3638679" y="4207026"/>
            <a:ext cx="1338773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CivPart</a:t>
            </a:r>
            <a:r>
              <a:rPr lang="en-GB" sz="1000" b="1" dirty="0">
                <a:solidFill>
                  <a:schemeClr val="tx1"/>
                </a:solidFill>
              </a:rPr>
              <a:t> IN </a:t>
            </a:r>
            <a:r>
              <a:rPr lang="en-GB" sz="1000" b="1" dirty="0" err="1">
                <a:solidFill>
                  <a:schemeClr val="tx1"/>
                </a:solidFill>
              </a:rPr>
              <a:t>MarStaB</a:t>
            </a:r>
            <a:r>
              <a:rPr lang="en-GB" sz="1000" b="1" dirty="0">
                <a:solidFill>
                  <a:schemeClr val="tx1"/>
                </a:solidFill>
              </a:rPr>
              <a:t> AND Yes IN </a:t>
            </a:r>
            <a:r>
              <a:rPr lang="en-GB" sz="1000" b="1" dirty="0" err="1">
                <a:solidFill>
                  <a:schemeClr val="tx1"/>
                </a:solidFill>
              </a:rPr>
              <a:t>MarChk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B827EBE-6444-6D61-D0FD-16EE9B485C1D}"/>
              </a:ext>
            </a:extLst>
          </p:cNvPr>
          <p:cNvSpPr/>
          <p:nvPr/>
        </p:nvSpPr>
        <p:spPr>
          <a:xfrm>
            <a:off x="5296034" y="4207026"/>
            <a:ext cx="1338773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CivPart</a:t>
            </a:r>
            <a:r>
              <a:rPr lang="en-GB" sz="1000" b="1" dirty="0">
                <a:solidFill>
                  <a:schemeClr val="tx1"/>
                </a:solidFill>
              </a:rPr>
              <a:t> IN </a:t>
            </a:r>
            <a:r>
              <a:rPr lang="en-GB" sz="1000" b="1" dirty="0" err="1">
                <a:solidFill>
                  <a:schemeClr val="tx1"/>
                </a:solidFill>
              </a:rPr>
              <a:t>MarStaB</a:t>
            </a:r>
            <a:r>
              <a:rPr lang="en-GB" sz="1000" b="1" dirty="0">
                <a:solidFill>
                  <a:schemeClr val="tx1"/>
                </a:solidFill>
              </a:rPr>
              <a:t> AND No IN </a:t>
            </a:r>
            <a:r>
              <a:rPr lang="en-GB" sz="1000" b="1" dirty="0" err="1">
                <a:solidFill>
                  <a:schemeClr val="tx1"/>
                </a:solidFill>
              </a:rPr>
              <a:t>MarChk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A0029A8-65BE-D8C7-F70C-167708559C13}"/>
              </a:ext>
            </a:extLst>
          </p:cNvPr>
          <p:cNvSpPr/>
          <p:nvPr/>
        </p:nvSpPr>
        <p:spPr>
          <a:xfrm>
            <a:off x="6955949" y="4207026"/>
            <a:ext cx="1338773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Seppart</a:t>
            </a:r>
            <a:r>
              <a:rPr lang="en-GB" sz="1000" b="1" dirty="0">
                <a:solidFill>
                  <a:schemeClr val="tx1"/>
                </a:solidFill>
              </a:rPr>
              <a:t>, </a:t>
            </a:r>
            <a:r>
              <a:rPr lang="en-GB" sz="1000" b="1" dirty="0" err="1">
                <a:solidFill>
                  <a:schemeClr val="tx1"/>
                </a:solidFill>
              </a:rPr>
              <a:t>Divpart</a:t>
            </a:r>
            <a:r>
              <a:rPr lang="en-GB" sz="1000" b="1" dirty="0">
                <a:solidFill>
                  <a:schemeClr val="tx1"/>
                </a:solidFill>
              </a:rPr>
              <a:t>, </a:t>
            </a:r>
            <a:r>
              <a:rPr lang="en-GB" sz="1000" b="1" dirty="0" err="1">
                <a:solidFill>
                  <a:schemeClr val="tx1"/>
                </a:solidFill>
              </a:rPr>
              <a:t>Surpart</a:t>
            </a:r>
            <a:r>
              <a:rPr lang="en-GB" sz="1000" b="1" dirty="0">
                <a:solidFill>
                  <a:schemeClr val="tx1"/>
                </a:solidFill>
              </a:rPr>
              <a:t> IN </a:t>
            </a:r>
            <a:r>
              <a:rPr lang="en-GB" sz="1000" b="1" dirty="0" err="1">
                <a:solidFill>
                  <a:schemeClr val="tx1"/>
                </a:solidFill>
              </a:rPr>
              <a:t>MarstaB</a:t>
            </a:r>
            <a:r>
              <a:rPr lang="en-GB" sz="1000" b="1" dirty="0">
                <a:solidFill>
                  <a:schemeClr val="tx1"/>
                </a:solidFill>
              </a:rPr>
              <a:t> AND (No IN </a:t>
            </a:r>
            <a:r>
              <a:rPr lang="en-GB" sz="1000" b="1" dirty="0" err="1">
                <a:solidFill>
                  <a:schemeClr val="tx1"/>
                </a:solidFill>
              </a:rPr>
              <a:t>LivWth</a:t>
            </a:r>
            <a:r>
              <a:rPr lang="en-GB" sz="1000" b="1" dirty="0">
                <a:solidFill>
                  <a:schemeClr val="tx1"/>
                </a:solidFill>
              </a:rPr>
              <a:t> 12 OR LivWth12 = No response)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2A20AD6-6D8A-1D4F-0BF9-E81A8CB01A95}"/>
              </a:ext>
            </a:extLst>
          </p:cNvPr>
          <p:cNvSpPr/>
          <p:nvPr/>
        </p:nvSpPr>
        <p:spPr>
          <a:xfrm>
            <a:off x="2045408" y="5455018"/>
            <a:ext cx="1106424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Civpart</a:t>
            </a:r>
            <a:r>
              <a:rPr lang="en-GB" sz="1000" b="1" dirty="0">
                <a:solidFill>
                  <a:schemeClr val="tx1"/>
                </a:solidFill>
              </a:rPr>
              <a:t> IN </a:t>
            </a:r>
            <a:r>
              <a:rPr lang="en-GB" sz="1000" b="1" dirty="0" err="1">
                <a:solidFill>
                  <a:schemeClr val="tx1"/>
                </a:solidFill>
              </a:rPr>
              <a:t>MarStaB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C0C1B6D-E448-4860-506F-499DF037F799}"/>
              </a:ext>
            </a:extLst>
          </p:cNvPr>
          <p:cNvCxnSpPr>
            <a:stCxn id="8" idx="3"/>
            <a:endCxn id="39" idx="1"/>
          </p:cNvCxnSpPr>
          <p:nvPr/>
        </p:nvCxnSpPr>
        <p:spPr>
          <a:xfrm>
            <a:off x="1416908" y="1038909"/>
            <a:ext cx="512326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95D7F9E-491D-6319-A8CC-EA6F87665B18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3272103" y="1038909"/>
            <a:ext cx="366576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E7980D3-ABFF-78D2-535C-ED3FFEAB201A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4977452" y="1038909"/>
            <a:ext cx="31858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64630B7-F5A7-60CB-A225-C8DE5305B336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6634807" y="1038909"/>
            <a:ext cx="32114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962D2ED-F264-E012-FB66-61F1DB043EB2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294722" y="1038909"/>
            <a:ext cx="646084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3AB40C4B-38E7-EBE5-14F2-FC5380F271C3}"/>
              </a:ext>
            </a:extLst>
          </p:cNvPr>
          <p:cNvCxnSpPr>
            <a:cxnSpLocks/>
            <a:stCxn id="9" idx="6"/>
            <a:endCxn id="43" idx="1"/>
          </p:cNvCxnSpPr>
          <p:nvPr/>
        </p:nvCxnSpPr>
        <p:spPr>
          <a:xfrm>
            <a:off x="1128239" y="2828757"/>
            <a:ext cx="800995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700C99F1-E583-78C5-ED98-2E11181DCB8A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3268007" y="2828757"/>
            <a:ext cx="37067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Arrow Connector 1031">
            <a:extLst>
              <a:ext uri="{FF2B5EF4-FFF2-40B4-BE49-F238E27FC236}">
                <a16:creationId xmlns:a16="http://schemas.microsoft.com/office/drawing/2014/main" id="{0D0729DA-0E0B-779B-A791-EDF6D4E4FB4E}"/>
              </a:ext>
            </a:extLst>
          </p:cNvPr>
          <p:cNvCxnSpPr>
            <a:cxnSpLocks/>
            <a:stCxn id="44" idx="3"/>
            <a:endCxn id="45" idx="1"/>
          </p:cNvCxnSpPr>
          <p:nvPr/>
        </p:nvCxnSpPr>
        <p:spPr>
          <a:xfrm>
            <a:off x="4977452" y="2828757"/>
            <a:ext cx="31858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DE87BB11-B470-F8D4-A0DB-AE8820DF1F97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>
            <a:off x="6634807" y="2828757"/>
            <a:ext cx="32114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EAB2BC55-55FE-9CFB-2F45-ED7C9C17D3F8}"/>
              </a:ext>
            </a:extLst>
          </p:cNvPr>
          <p:cNvCxnSpPr>
            <a:cxnSpLocks/>
            <a:stCxn id="46" idx="3"/>
            <a:endCxn id="12" idx="2"/>
          </p:cNvCxnSpPr>
          <p:nvPr/>
        </p:nvCxnSpPr>
        <p:spPr>
          <a:xfrm>
            <a:off x="8294722" y="2828757"/>
            <a:ext cx="645415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D7BECECA-5EEB-6035-D350-3EA0D99298C9}"/>
              </a:ext>
            </a:extLst>
          </p:cNvPr>
          <p:cNvCxnSpPr>
            <a:cxnSpLocks/>
            <a:stCxn id="10" idx="6"/>
            <a:endCxn id="47" idx="1"/>
          </p:cNvCxnSpPr>
          <p:nvPr/>
        </p:nvCxnSpPr>
        <p:spPr>
          <a:xfrm>
            <a:off x="1129577" y="4664226"/>
            <a:ext cx="79965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BD1E26BA-0797-8C8F-4B26-B241F316C60D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3268007" y="4664226"/>
            <a:ext cx="37067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E4730FB0-9F5F-996A-483D-B675EF3E560A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>
            <a:off x="4977452" y="4664226"/>
            <a:ext cx="31858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324C2BA0-162C-19CF-CC0E-94CDF1DA769E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6634807" y="4664226"/>
            <a:ext cx="32114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A894013C-B23D-4E3E-7F6E-366FE6E6DF9A}"/>
              </a:ext>
            </a:extLst>
          </p:cNvPr>
          <p:cNvCxnSpPr>
            <a:cxnSpLocks/>
            <a:stCxn id="50" idx="3"/>
            <a:endCxn id="17" idx="1"/>
          </p:cNvCxnSpPr>
          <p:nvPr/>
        </p:nvCxnSpPr>
        <p:spPr>
          <a:xfrm>
            <a:off x="8294722" y="4664226"/>
            <a:ext cx="483085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Arrow Connector 1056">
            <a:extLst>
              <a:ext uri="{FF2B5EF4-FFF2-40B4-BE49-F238E27FC236}">
                <a16:creationId xmlns:a16="http://schemas.microsoft.com/office/drawing/2014/main" id="{0AA9A208-3871-2B25-9009-63EE0188F731}"/>
              </a:ext>
            </a:extLst>
          </p:cNvPr>
          <p:cNvCxnSpPr>
            <a:cxnSpLocks/>
            <a:stCxn id="39" idx="2"/>
            <a:endCxn id="18" idx="0"/>
          </p:cNvCxnSpPr>
          <p:nvPr/>
        </p:nvCxnSpPr>
        <p:spPr>
          <a:xfrm>
            <a:off x="2598621" y="1496109"/>
            <a:ext cx="0" cy="2793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4B883276-F6E7-F3A8-E2CB-2851D98088EB}"/>
              </a:ext>
            </a:extLst>
          </p:cNvPr>
          <p:cNvCxnSpPr>
            <a:cxnSpLocks/>
            <a:stCxn id="40" idx="2"/>
            <a:endCxn id="19" idx="0"/>
          </p:cNvCxnSpPr>
          <p:nvPr/>
        </p:nvCxnSpPr>
        <p:spPr>
          <a:xfrm>
            <a:off x="4308066" y="1496109"/>
            <a:ext cx="0" cy="2793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7903DEB1-C5DF-3E2F-7703-7F4CEDDD3916}"/>
              </a:ext>
            </a:extLst>
          </p:cNvPr>
          <p:cNvCxnSpPr>
            <a:cxnSpLocks/>
            <a:stCxn id="41" idx="2"/>
            <a:endCxn id="20" idx="0"/>
          </p:cNvCxnSpPr>
          <p:nvPr/>
        </p:nvCxnSpPr>
        <p:spPr>
          <a:xfrm>
            <a:off x="5965421" y="1496109"/>
            <a:ext cx="0" cy="2793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F6B13A73-FF05-AEF1-3C52-CB09F076B5DA}"/>
              </a:ext>
            </a:extLst>
          </p:cNvPr>
          <p:cNvCxnSpPr>
            <a:cxnSpLocks/>
            <a:stCxn id="42" idx="2"/>
            <a:endCxn id="21" idx="0"/>
          </p:cNvCxnSpPr>
          <p:nvPr/>
        </p:nvCxnSpPr>
        <p:spPr>
          <a:xfrm>
            <a:off x="7625336" y="1496109"/>
            <a:ext cx="0" cy="2793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86115874-82FD-4ADE-78A8-1B93F3568B34}"/>
              </a:ext>
            </a:extLst>
          </p:cNvPr>
          <p:cNvCxnSpPr>
            <a:cxnSpLocks/>
            <a:stCxn id="43" idx="2"/>
            <a:endCxn id="26" idx="0"/>
          </p:cNvCxnSpPr>
          <p:nvPr/>
        </p:nvCxnSpPr>
        <p:spPr>
          <a:xfrm>
            <a:off x="2598621" y="3285957"/>
            <a:ext cx="0" cy="3291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Arrow Connector 1069">
            <a:extLst>
              <a:ext uri="{FF2B5EF4-FFF2-40B4-BE49-F238E27FC236}">
                <a16:creationId xmlns:a16="http://schemas.microsoft.com/office/drawing/2014/main" id="{3FF59AB5-BFA2-6EA8-D997-F029F6AC22CD}"/>
              </a:ext>
            </a:extLst>
          </p:cNvPr>
          <p:cNvCxnSpPr>
            <a:cxnSpLocks/>
            <a:stCxn id="44" idx="2"/>
            <a:endCxn id="27" idx="0"/>
          </p:cNvCxnSpPr>
          <p:nvPr/>
        </p:nvCxnSpPr>
        <p:spPr>
          <a:xfrm>
            <a:off x="4308066" y="3285957"/>
            <a:ext cx="0" cy="3389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Arrow Connector 1070">
            <a:extLst>
              <a:ext uri="{FF2B5EF4-FFF2-40B4-BE49-F238E27FC236}">
                <a16:creationId xmlns:a16="http://schemas.microsoft.com/office/drawing/2014/main" id="{36DED96B-7B78-DCAA-1507-E51007265BCC}"/>
              </a:ext>
            </a:extLst>
          </p:cNvPr>
          <p:cNvCxnSpPr>
            <a:cxnSpLocks/>
            <a:stCxn id="45" idx="2"/>
            <a:endCxn id="28" idx="0"/>
          </p:cNvCxnSpPr>
          <p:nvPr/>
        </p:nvCxnSpPr>
        <p:spPr>
          <a:xfrm>
            <a:off x="5965421" y="3285957"/>
            <a:ext cx="0" cy="3291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Arrow Connector 1071">
            <a:extLst>
              <a:ext uri="{FF2B5EF4-FFF2-40B4-BE49-F238E27FC236}">
                <a16:creationId xmlns:a16="http://schemas.microsoft.com/office/drawing/2014/main" id="{E1194C6C-BEAD-07C2-C732-3243BB9FD792}"/>
              </a:ext>
            </a:extLst>
          </p:cNvPr>
          <p:cNvCxnSpPr>
            <a:cxnSpLocks/>
            <a:stCxn id="46" idx="2"/>
            <a:endCxn id="29" idx="0"/>
          </p:cNvCxnSpPr>
          <p:nvPr/>
        </p:nvCxnSpPr>
        <p:spPr>
          <a:xfrm>
            <a:off x="7625336" y="3285957"/>
            <a:ext cx="0" cy="3389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E5316F7D-7084-C7E1-FC7E-8E3A4F89A36B}"/>
              </a:ext>
            </a:extLst>
          </p:cNvPr>
          <p:cNvCxnSpPr>
            <a:cxnSpLocks/>
            <a:stCxn id="47" idx="2"/>
            <a:endCxn id="51" idx="0"/>
          </p:cNvCxnSpPr>
          <p:nvPr/>
        </p:nvCxnSpPr>
        <p:spPr>
          <a:xfrm flipH="1">
            <a:off x="2598620" y="5121426"/>
            <a:ext cx="1" cy="33359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BFD24A2E-E72D-BA86-F235-EBE5EDE827A6}"/>
              </a:ext>
            </a:extLst>
          </p:cNvPr>
          <p:cNvCxnSpPr>
            <a:cxnSpLocks/>
            <a:stCxn id="48" idx="2"/>
            <a:endCxn id="35" idx="0"/>
          </p:cNvCxnSpPr>
          <p:nvPr/>
        </p:nvCxnSpPr>
        <p:spPr>
          <a:xfrm>
            <a:off x="4308066" y="5121426"/>
            <a:ext cx="0" cy="10329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850F0889-E6D5-C3F3-E7D1-A118793B2F28}"/>
              </a:ext>
            </a:extLst>
          </p:cNvPr>
          <p:cNvCxnSpPr>
            <a:cxnSpLocks/>
            <a:stCxn id="49" idx="2"/>
            <a:endCxn id="36" idx="0"/>
          </p:cNvCxnSpPr>
          <p:nvPr/>
        </p:nvCxnSpPr>
        <p:spPr>
          <a:xfrm>
            <a:off x="5965421" y="5121426"/>
            <a:ext cx="0" cy="10329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Arrow Connector 1075">
            <a:extLst>
              <a:ext uri="{FF2B5EF4-FFF2-40B4-BE49-F238E27FC236}">
                <a16:creationId xmlns:a16="http://schemas.microsoft.com/office/drawing/2014/main" id="{5943F493-C01F-13D6-9379-9DC349260210}"/>
              </a:ext>
            </a:extLst>
          </p:cNvPr>
          <p:cNvCxnSpPr>
            <a:cxnSpLocks/>
            <a:stCxn id="50" idx="2"/>
            <a:endCxn id="37" idx="0"/>
          </p:cNvCxnSpPr>
          <p:nvPr/>
        </p:nvCxnSpPr>
        <p:spPr>
          <a:xfrm>
            <a:off x="7625336" y="5121426"/>
            <a:ext cx="0" cy="10329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3" name="Straight Arrow Connector 1092">
            <a:extLst>
              <a:ext uri="{FF2B5EF4-FFF2-40B4-BE49-F238E27FC236}">
                <a16:creationId xmlns:a16="http://schemas.microsoft.com/office/drawing/2014/main" id="{B357C568-E3E0-6387-9179-AE66EF8B97C7}"/>
              </a:ext>
            </a:extLst>
          </p:cNvPr>
          <p:cNvCxnSpPr>
            <a:cxnSpLocks/>
            <a:stCxn id="51" idx="2"/>
            <a:endCxn id="38" idx="0"/>
          </p:cNvCxnSpPr>
          <p:nvPr/>
        </p:nvCxnSpPr>
        <p:spPr>
          <a:xfrm>
            <a:off x="2598620" y="5912218"/>
            <a:ext cx="1" cy="2421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Straight Connector 1103">
            <a:extLst>
              <a:ext uri="{FF2B5EF4-FFF2-40B4-BE49-F238E27FC236}">
                <a16:creationId xmlns:a16="http://schemas.microsoft.com/office/drawing/2014/main" id="{DC22EE0C-084C-B2CE-2227-7656AE37A1F2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3151832" y="5673837"/>
            <a:ext cx="3620824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Straight Arrow Connector 1105">
            <a:extLst>
              <a:ext uri="{FF2B5EF4-FFF2-40B4-BE49-F238E27FC236}">
                <a16:creationId xmlns:a16="http://schemas.microsoft.com/office/drawing/2014/main" id="{322AA028-6243-92C4-C0B5-92A50CEC2736}"/>
              </a:ext>
            </a:extLst>
          </p:cNvPr>
          <p:cNvCxnSpPr>
            <a:cxnSpLocks/>
          </p:cNvCxnSpPr>
          <p:nvPr/>
        </p:nvCxnSpPr>
        <p:spPr>
          <a:xfrm flipV="1">
            <a:off x="6772656" y="4780050"/>
            <a:ext cx="0" cy="68400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56D1C74-0F44-6CCD-1DC1-84F66BD5E723}"/>
              </a:ext>
            </a:extLst>
          </p:cNvPr>
          <p:cNvSpPr/>
          <p:nvPr/>
        </p:nvSpPr>
        <p:spPr>
          <a:xfrm>
            <a:off x="8418062" y="5280199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6B15E28-6FAB-7900-AF79-FF5A63950807}"/>
              </a:ext>
            </a:extLst>
          </p:cNvPr>
          <p:cNvCxnSpPr>
            <a:cxnSpLocks/>
          </p:cNvCxnSpPr>
          <p:nvPr/>
        </p:nvCxnSpPr>
        <p:spPr>
          <a:xfrm>
            <a:off x="8711836" y="585931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84CDA1-7A0B-0595-F0D1-1FF0469FB754}"/>
              </a:ext>
            </a:extLst>
          </p:cNvPr>
          <p:cNvCxnSpPr>
            <a:cxnSpLocks/>
          </p:cNvCxnSpPr>
          <p:nvPr/>
        </p:nvCxnSpPr>
        <p:spPr>
          <a:xfrm>
            <a:off x="8711836" y="638509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45BADEA-656B-B88D-4147-90CB54699685}"/>
              </a:ext>
            </a:extLst>
          </p:cNvPr>
          <p:cNvSpPr txBox="1"/>
          <p:nvPr/>
        </p:nvSpPr>
        <p:spPr>
          <a:xfrm>
            <a:off x="8838242" y="5467127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C98A0B-BA81-BAE3-0DCA-B9525786B995}"/>
              </a:ext>
            </a:extLst>
          </p:cNvPr>
          <p:cNvSpPr txBox="1"/>
          <p:nvPr/>
        </p:nvSpPr>
        <p:spPr>
          <a:xfrm>
            <a:off x="8853214" y="5992755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774005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EBD0-F412-C1C5-321F-F9C9F6D9D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400" b="1" dirty="0"/>
              <a:t>A006 Marital Status - Key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321E03-D237-3F41-42DB-217ED09409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1036" y="901156"/>
            <a:ext cx="8851581" cy="567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*‘No response’ indicates that the respondent was not routed to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question or the respondent did not answer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A006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Marital Status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1 “Spouse in household”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2 “Spouse not in household”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3 “Cohabitee”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4 “Single”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5 “Widowed”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6 “Divorced”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7 “Separated”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8 “Civil Partner in HH”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9 “Civil Partner not in HH”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10 “Former Civil Partner”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DvAge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  Age for whole sample (derived from Birth and </a:t>
            </a: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AgeIf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LivWth12: Is respondent living with someone in this household as a couple?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 “Yes”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 “No”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MarChk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Is spouse/partner member of household?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 “Yes”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 “No”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MarStaB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What is the legal marital status of the respondent?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NevMarr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   “Single, that is never married”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Married:      “Married and living with your husband/wife”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CivPart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     “A civil partner in a legally-recognised Civil Partnership”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Separated: “Married and separated from your husband/wife”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Divorced:   “Divorced”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Widowed:   “Widowed”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SepPart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  Spontaneous only – “In a legally-recognised Civil Partnership and separated his/her civil partner"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DivPart</a:t>
            </a:r>
            <a:r>
              <a:rPr lang="en-GB" altLang="en-US" sz="1100" dirty="0"/>
              <a:t>: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Spontaneous only – “Formerly a civil partner, the Civil Partnership now legally dissolved"</a:t>
            </a:r>
          </a:p>
          <a:p>
            <a:pPr marL="358775" marR="0" lvl="0" indent="-1762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GB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SurPart</a:t>
            </a:r>
            <a:r>
              <a:rPr lang="en-GB" altLang="en-US" sz="1100" dirty="0"/>
              <a:t>:</a:t>
            </a: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Spontaneous only – “A surviving civil partner: his/her partner having since died"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Month:      Sample month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Year:         Sample year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9765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17E3A-3499-EC4E-BE7B-1905CB077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DE523-A1E6-28C3-0B8B-BD7205DC3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B303 Pay, amount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787A7-62DE-C1CD-A8CE-213F570D0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135AC2-EA1F-BDA6-9BA7-459DFD1BAE5A}"/>
              </a:ext>
            </a:extLst>
          </p:cNvPr>
          <p:cNvSpPr/>
          <p:nvPr/>
        </p:nvSpPr>
        <p:spPr>
          <a:xfrm>
            <a:off x="252208" y="2683800"/>
            <a:ext cx="1152000" cy="576000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8090EA-A9FC-9F31-9D98-F6BC3F754B8F}"/>
              </a:ext>
            </a:extLst>
          </p:cNvPr>
          <p:cNvSpPr/>
          <p:nvPr/>
        </p:nvSpPr>
        <p:spPr>
          <a:xfrm>
            <a:off x="4325171" y="3703100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Xb33 = Dvpay2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4461A-63D0-B629-21B3-F51C379066A5}"/>
              </a:ext>
            </a:extLst>
          </p:cNvPr>
          <p:cNvSpPr/>
          <p:nvPr/>
        </p:nvSpPr>
        <p:spPr>
          <a:xfrm>
            <a:off x="6382164" y="3708356"/>
            <a:ext cx="1047273" cy="3824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Xb33 = Xb33 - </a:t>
            </a:r>
            <a:r>
              <a:rPr lang="en-GB" sz="1100" b="1" dirty="0" err="1">
                <a:solidFill>
                  <a:schemeClr val="tx1"/>
                </a:solidFill>
              </a:rPr>
              <a:t>XDvhho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D7C12F-F5E4-43F6-2D51-65E1B7052660}"/>
              </a:ext>
            </a:extLst>
          </p:cNvPr>
          <p:cNvSpPr/>
          <p:nvPr/>
        </p:nvSpPr>
        <p:spPr>
          <a:xfrm>
            <a:off x="8439157" y="3708356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B303=Xb303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04487D-2CA5-AB5D-130D-C152E5A34152}"/>
              </a:ext>
            </a:extLst>
          </p:cNvPr>
          <p:cNvSpPr/>
          <p:nvPr/>
        </p:nvSpPr>
        <p:spPr>
          <a:xfrm>
            <a:off x="2122428" y="2659526"/>
            <a:ext cx="1338773" cy="6245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Xb303 = 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1090E2-1A47-1520-F129-D9B2BD8B931B}"/>
              </a:ext>
            </a:extLst>
          </p:cNvPr>
          <p:cNvSpPr/>
          <p:nvPr/>
        </p:nvSpPr>
        <p:spPr>
          <a:xfrm>
            <a:off x="4179421" y="2659526"/>
            <a:ext cx="1338773" cy="6245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Dvpay2 &gt;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91188-F415-CB8B-4EB2-89531A77B7D5}"/>
              </a:ext>
            </a:extLst>
          </p:cNvPr>
          <p:cNvSpPr/>
          <p:nvPr/>
        </p:nvSpPr>
        <p:spPr>
          <a:xfrm>
            <a:off x="6236414" y="2659526"/>
            <a:ext cx="1338773" cy="6245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Dvpay2 &gt; 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8A248A-AFED-F865-1CA4-40854912D233}"/>
              </a:ext>
            </a:extLst>
          </p:cNvPr>
          <p:cNvSpPr/>
          <p:nvPr/>
        </p:nvSpPr>
        <p:spPr>
          <a:xfrm>
            <a:off x="8293407" y="2659526"/>
            <a:ext cx="1338773" cy="6245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Xb303 = 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24F5B4-C8EA-4FA8-4C7A-D94B29E34AA6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1404208" y="2971800"/>
            <a:ext cx="718220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8A535F-1776-F1D2-0D4B-62FFBB8A95AD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461201" y="2971800"/>
            <a:ext cx="718220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00F796B-BC13-EE0A-FB79-BB17D442D71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518194" y="2971800"/>
            <a:ext cx="71822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582394-E7E0-C2C1-7E51-E4C145A51421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7575187" y="2971800"/>
            <a:ext cx="71822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3517267-5CE9-5E41-D8B9-83ABF1AD2803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>
            <a:off x="4848808" y="3284074"/>
            <a:ext cx="0" cy="419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EE3FCB-033E-2B57-52EA-3EBAE45BD522}"/>
              </a:ext>
            </a:extLst>
          </p:cNvPr>
          <p:cNvCxnSpPr>
            <a:cxnSpLocks/>
          </p:cNvCxnSpPr>
          <p:nvPr/>
        </p:nvCxnSpPr>
        <p:spPr>
          <a:xfrm flipH="1">
            <a:off x="6905800" y="3429000"/>
            <a:ext cx="1" cy="2793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5B7F6E-EE56-2AB3-64DA-82014868159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429437" y="3899589"/>
            <a:ext cx="10097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00592F-AEF3-7BC7-F279-ECD44A7A0F3A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372444" y="3894333"/>
            <a:ext cx="520356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A05DA4-EB2E-F59A-C7B0-38DC2374CD17}"/>
              </a:ext>
            </a:extLst>
          </p:cNvPr>
          <p:cNvCxnSpPr>
            <a:cxnSpLocks/>
          </p:cNvCxnSpPr>
          <p:nvPr/>
        </p:nvCxnSpPr>
        <p:spPr>
          <a:xfrm flipH="1" flipV="1">
            <a:off x="5873238" y="3025178"/>
            <a:ext cx="7876" cy="875233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CDDDA0E0-F7C2-6FC0-335D-6A6C69637655}"/>
              </a:ext>
            </a:extLst>
          </p:cNvPr>
          <p:cNvSpPr/>
          <p:nvPr/>
        </p:nvSpPr>
        <p:spPr>
          <a:xfrm>
            <a:off x="8418062" y="5280199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21" name="Straight Arrow Connector 1120">
            <a:extLst>
              <a:ext uri="{FF2B5EF4-FFF2-40B4-BE49-F238E27FC236}">
                <a16:creationId xmlns:a16="http://schemas.microsoft.com/office/drawing/2014/main" id="{FC0927CF-2DA7-CB9E-87C9-6B98E1770850}"/>
              </a:ext>
            </a:extLst>
          </p:cNvPr>
          <p:cNvCxnSpPr>
            <a:cxnSpLocks/>
          </p:cNvCxnSpPr>
          <p:nvPr/>
        </p:nvCxnSpPr>
        <p:spPr>
          <a:xfrm>
            <a:off x="8711836" y="585931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Straight Arrow Connector 1121">
            <a:extLst>
              <a:ext uri="{FF2B5EF4-FFF2-40B4-BE49-F238E27FC236}">
                <a16:creationId xmlns:a16="http://schemas.microsoft.com/office/drawing/2014/main" id="{6F9B439A-D60A-DF58-5B06-AFC1F9B00DC5}"/>
              </a:ext>
            </a:extLst>
          </p:cNvPr>
          <p:cNvCxnSpPr>
            <a:cxnSpLocks/>
          </p:cNvCxnSpPr>
          <p:nvPr/>
        </p:nvCxnSpPr>
        <p:spPr>
          <a:xfrm>
            <a:off x="8711836" y="638509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4" name="TextBox 1123">
            <a:extLst>
              <a:ext uri="{FF2B5EF4-FFF2-40B4-BE49-F238E27FC236}">
                <a16:creationId xmlns:a16="http://schemas.microsoft.com/office/drawing/2014/main" id="{E2388BA1-2D4C-C76C-B650-6A404759ED93}"/>
              </a:ext>
            </a:extLst>
          </p:cNvPr>
          <p:cNvSpPr txBox="1"/>
          <p:nvPr/>
        </p:nvSpPr>
        <p:spPr>
          <a:xfrm>
            <a:off x="8838242" y="5467127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D3371B75-6B4C-A65F-07AE-CF58ACC1ABE1}"/>
              </a:ext>
            </a:extLst>
          </p:cNvPr>
          <p:cNvSpPr txBox="1"/>
          <p:nvPr/>
        </p:nvSpPr>
        <p:spPr>
          <a:xfrm>
            <a:off x="8853214" y="5992755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56656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AFC3F-D687-2A81-CAA4-9DCF0A09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CEFBD-FA62-3FEF-64DD-6670901A0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B303 Pay, amount last time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1F285-44AC-09B4-9555-92F87D167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6" y="799221"/>
            <a:ext cx="8543925" cy="535715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endParaRPr lang="en-GB" sz="11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/>
              <a:t>XDVHHO derivation changed in 4Q2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sz="1100" dirty="0"/>
          </a:p>
          <a:p>
            <a:pPr marL="898525">
              <a:lnSpc>
                <a:spcPct val="120000"/>
              </a:lnSpc>
              <a:spcBef>
                <a:spcPts val="0"/>
              </a:spcBef>
            </a:pPr>
            <a:r>
              <a:rPr lang="en-GB" sz="1100" dirty="0"/>
              <a:t>	</a:t>
            </a:r>
          </a:p>
          <a:p>
            <a:pPr marL="898525">
              <a:lnSpc>
                <a:spcPct val="120000"/>
              </a:lnSpc>
              <a:spcBef>
                <a:spcPts val="0"/>
              </a:spcBef>
            </a:pPr>
            <a:r>
              <a:rPr lang="en-GB" sz="1100" dirty="0"/>
              <a:t>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6D9F5D-35EF-7B4E-E043-F27576663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283471"/>
              </p:ext>
            </p:extLst>
          </p:nvPr>
        </p:nvGraphicFramePr>
        <p:xfrm>
          <a:off x="681036" y="1369060"/>
          <a:ext cx="8543925" cy="30443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267">
                  <a:extLst>
                    <a:ext uri="{9D8B030D-6E8A-4147-A177-3AD203B41FA5}">
                      <a16:colId xmlns:a16="http://schemas.microsoft.com/office/drawing/2014/main" val="1180555699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1524883207"/>
                    </a:ext>
                  </a:extLst>
                </a:gridCol>
                <a:gridCol w="4050978">
                  <a:extLst>
                    <a:ext uri="{9D8B030D-6E8A-4147-A177-3AD203B41FA5}">
                      <a16:colId xmlns:a16="http://schemas.microsoft.com/office/drawing/2014/main" val="1801685209"/>
                    </a:ext>
                  </a:extLst>
                </a:gridCol>
              </a:tblGrid>
              <a:tr h="271022">
                <a:tc>
                  <a:txBody>
                    <a:bodyPr/>
                    <a:lstStyle/>
                    <a:p>
                      <a:pPr algn="r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XDVHHO :=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{INFQ.QTEMPPAY.QBEMPPAY[J].DVVEHMILAM+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9077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INFQ.QTEMPPAY.QBEMPPAY[J].DVVEHRTAM 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3829738"/>
                  </a:ext>
                </a:extLst>
              </a:tr>
              <a:tr h="271022">
                <a:tc>
                  <a:txBody>
                    <a:bodyPr/>
                    <a:lstStyle/>
                    <a:p>
                      <a:pPr algn="just"/>
                      <a:endParaRPr lang="en-GB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INFQ.QTEMPPAY.QBEMPPAY[J].DVVEHINAM +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INFQ.QTEMPPAY.QBEMPPAY[J].DVVEHTRAAM 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9368844"/>
                  </a:ext>
                </a:extLst>
              </a:tr>
              <a:tr h="271022">
                <a:tc>
                  <a:txBody>
                    <a:bodyPr/>
                    <a:lstStyle/>
                    <a:p>
                      <a:pPr algn="just"/>
                      <a:endParaRPr lang="en-GB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INFQ.QTEMPPAY.QBEMPPAY[J].DVVEHOTHAM +}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6029745"/>
                  </a:ext>
                </a:extLst>
              </a:tr>
              <a:tr h="271022">
                <a:tc>
                  <a:txBody>
                    <a:bodyPr/>
                    <a:lstStyle/>
                    <a:p>
                      <a:pPr algn="just"/>
                      <a:endParaRPr lang="en-GB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INFQ.QTEMPPAY.QBEMPPAY[J].DVVEHALLAM </a:t>
                      </a:r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634673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just"/>
                      <a:endParaRPr lang="en-GB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{INFQ.QTEMPPAY.QBEMPPAY[J].DVHHRENT +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9077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INFQ.QTEMPPAY.QBEMPPAY[J].DVHHCT 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615620"/>
                  </a:ext>
                </a:extLst>
              </a:tr>
              <a:tr h="271022">
                <a:tc>
                  <a:txBody>
                    <a:bodyPr/>
                    <a:lstStyle/>
                    <a:p>
                      <a:pPr algn="just"/>
                      <a:endParaRPr lang="en-GB" sz="1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INFQ.QTEMPPAY.QBEMPPAY[J].DVHHRATE 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INFQ.QTEMPPAY.QBEMPPAY[J].DVHHWAT 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3476216"/>
                  </a:ext>
                </a:extLst>
              </a:tr>
              <a:tr h="191115">
                <a:tc>
                  <a:txBody>
                    <a:bodyPr/>
                    <a:lstStyle/>
                    <a:p>
                      <a:pPr algn="just"/>
                      <a:endParaRPr lang="en-GB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INFQ.QTEMPPAY.QBEMPPAY[J].DVHHMORT 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INFQ.QTEMPPAY.QBEMPPAY[J].DVHHBUILDIN 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3030204"/>
                  </a:ext>
                </a:extLst>
              </a:tr>
              <a:tr h="271022">
                <a:tc>
                  <a:txBody>
                    <a:bodyPr/>
                    <a:lstStyle/>
                    <a:p>
                      <a:pPr algn="just"/>
                      <a:endParaRPr lang="en-GB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INFQ.QTEMPPAY.QBEMPPAY[J].DVHHGAS 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INFQ.QTEMPPAY.QBEMPPAY[J].DVHHELEC 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3274579"/>
                  </a:ext>
                </a:extLst>
              </a:tr>
              <a:tr h="271022">
                <a:tc>
                  <a:txBody>
                    <a:bodyPr/>
                    <a:lstStyle/>
                    <a:p>
                      <a:pPr algn="just"/>
                      <a:endParaRPr lang="en-GB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INFQ.QTEMPPAY.QBEMPPAY[J].DVHHTELE 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INFQ.QTEMPPAY.QBEMPPAY[J].DVHHINTNT  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79165261"/>
                  </a:ext>
                </a:extLst>
              </a:tr>
              <a:tr h="271022">
                <a:tc>
                  <a:txBody>
                    <a:bodyPr/>
                    <a:lstStyle/>
                    <a:p>
                      <a:pPr algn="just"/>
                      <a:endParaRPr lang="en-GB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INFQ.QTEMPPAY.QBEMPPAY[J].DVHHOTH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INFQ.QTEMPPAY.QBEMPPAY[J].DVHHOTH} 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5237746"/>
                  </a:ext>
                </a:extLst>
              </a:tr>
              <a:tr h="271022">
                <a:tc>
                  <a:txBody>
                    <a:bodyPr/>
                    <a:lstStyle/>
                    <a:p>
                      <a:pPr algn="just"/>
                      <a:endParaRPr lang="en-GB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INFQ.QTEMPPAY.QBEMPPAY[J].DVHHALLAM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8937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256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1D7A7-5B14-4D74-0F41-4DED8F616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5F6A0-34C6-F667-6CDF-422B3A3EE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B312 Bonus earnings – gross amount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41F690-12FA-077C-547C-414B5AB26ABC}"/>
              </a:ext>
            </a:extLst>
          </p:cNvPr>
          <p:cNvSpPr/>
          <p:nvPr/>
        </p:nvSpPr>
        <p:spPr>
          <a:xfrm>
            <a:off x="315412" y="1243456"/>
            <a:ext cx="786832" cy="523636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21463E-C560-DD2D-E443-208ECEFAF043}"/>
              </a:ext>
            </a:extLst>
          </p:cNvPr>
          <p:cNvSpPr/>
          <p:nvPr/>
        </p:nvSpPr>
        <p:spPr>
          <a:xfrm>
            <a:off x="3996985" y="2182881"/>
            <a:ext cx="1152001" cy="5599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Xb312 = Sb312 +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DVBONGRSAWA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AC2D2E-3749-F445-A47E-2276F492BAAE}"/>
              </a:ext>
            </a:extLst>
          </p:cNvPr>
          <p:cNvSpPr/>
          <p:nvPr/>
        </p:nvSpPr>
        <p:spPr>
          <a:xfrm>
            <a:off x="5463019" y="2182881"/>
            <a:ext cx="1152001" cy="5599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Xb312 = Sb312 +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DVBONGRSAWB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0083EA-087E-DC32-A3CD-64F69F0CAC18}"/>
              </a:ext>
            </a:extLst>
          </p:cNvPr>
          <p:cNvSpPr/>
          <p:nvPr/>
        </p:nvSpPr>
        <p:spPr>
          <a:xfrm>
            <a:off x="6940732" y="2182881"/>
            <a:ext cx="1152001" cy="5599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Xb312 = Sb312 +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DVBONGRSFNA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E08D3B-2064-B7E9-CB1C-A0AE2C39255C}"/>
              </a:ext>
            </a:extLst>
          </p:cNvPr>
          <p:cNvSpPr/>
          <p:nvPr/>
        </p:nvSpPr>
        <p:spPr>
          <a:xfrm>
            <a:off x="8418445" y="2182881"/>
            <a:ext cx="1152001" cy="5599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Xb312 = Sb312 +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DVBONGRSFNB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7E6E3-8E1B-D053-FDA3-B49BB19C2DC2}"/>
              </a:ext>
            </a:extLst>
          </p:cNvPr>
          <p:cNvSpPr/>
          <p:nvPr/>
        </p:nvSpPr>
        <p:spPr>
          <a:xfrm>
            <a:off x="1446358" y="1089638"/>
            <a:ext cx="914400" cy="8312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B312 =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52C04C-6286-076F-816A-444251ED3841}"/>
              </a:ext>
            </a:extLst>
          </p:cNvPr>
          <p:cNvSpPr/>
          <p:nvPr/>
        </p:nvSpPr>
        <p:spPr>
          <a:xfrm>
            <a:off x="2654072" y="1089638"/>
            <a:ext cx="914400" cy="8312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Xb312 = 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6D1266-02E4-1AEF-99E5-86F556251D1F}"/>
              </a:ext>
            </a:extLst>
          </p:cNvPr>
          <p:cNvSpPr/>
          <p:nvPr/>
        </p:nvSpPr>
        <p:spPr>
          <a:xfrm>
            <a:off x="4115786" y="1089638"/>
            <a:ext cx="914400" cy="8312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DVBONGRS</a:t>
            </a:r>
            <a:br>
              <a:rPr lang="en-GB" sz="1000" b="1" dirty="0">
                <a:solidFill>
                  <a:schemeClr val="tx1"/>
                </a:solidFill>
              </a:rPr>
            </a:br>
            <a:r>
              <a:rPr lang="en-GB" sz="1000" b="1" dirty="0">
                <a:solidFill>
                  <a:schemeClr val="tx1"/>
                </a:solidFill>
              </a:rPr>
              <a:t>AWA &gt; 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0C0BD1-2525-6B22-EAC1-28D4E53A8F03}"/>
              </a:ext>
            </a:extLst>
          </p:cNvPr>
          <p:cNvSpPr/>
          <p:nvPr/>
        </p:nvSpPr>
        <p:spPr>
          <a:xfrm>
            <a:off x="5587659" y="1089638"/>
            <a:ext cx="914400" cy="8312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DVBONGRS</a:t>
            </a:r>
            <a:br>
              <a:rPr lang="en-GB" sz="1000" b="1" dirty="0">
                <a:solidFill>
                  <a:schemeClr val="tx1"/>
                </a:solidFill>
              </a:rPr>
            </a:br>
            <a:r>
              <a:rPr lang="en-GB" sz="1000" b="1" dirty="0">
                <a:solidFill>
                  <a:schemeClr val="tx1"/>
                </a:solidFill>
              </a:rPr>
              <a:t>AWB &gt; 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71A505-F477-8C4F-02FF-563023EF110C}"/>
              </a:ext>
            </a:extLst>
          </p:cNvPr>
          <p:cNvSpPr/>
          <p:nvPr/>
        </p:nvSpPr>
        <p:spPr>
          <a:xfrm>
            <a:off x="7059532" y="1089638"/>
            <a:ext cx="914400" cy="8312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DVBONNET</a:t>
            </a:r>
            <a:br>
              <a:rPr lang="en-GB" sz="1000" b="1" dirty="0">
                <a:solidFill>
                  <a:schemeClr val="tx1"/>
                </a:solidFill>
              </a:rPr>
            </a:br>
            <a:r>
              <a:rPr lang="en-GB" sz="1000" b="1" dirty="0">
                <a:solidFill>
                  <a:schemeClr val="tx1"/>
                </a:solidFill>
              </a:rPr>
              <a:t>AWA &gt; 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9FEC1-D218-48C6-4AB0-4517AFB06410}"/>
              </a:ext>
            </a:extLst>
          </p:cNvPr>
          <p:cNvSpPr/>
          <p:nvPr/>
        </p:nvSpPr>
        <p:spPr>
          <a:xfrm>
            <a:off x="8531406" y="1089638"/>
            <a:ext cx="914400" cy="8312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DVBONNET</a:t>
            </a:r>
            <a:br>
              <a:rPr lang="en-GB" sz="1000" b="1" dirty="0">
                <a:solidFill>
                  <a:schemeClr val="tx1"/>
                </a:solidFill>
              </a:rPr>
            </a:br>
            <a:r>
              <a:rPr lang="en-GB" sz="1000" b="1" dirty="0">
                <a:solidFill>
                  <a:schemeClr val="tx1"/>
                </a:solidFill>
              </a:rPr>
              <a:t>AWB &gt; 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E9CF035-DDE9-7591-91C9-26C4CB67624C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1102244" y="1505274"/>
            <a:ext cx="344114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78E23CF-0FE1-EBCA-E0D9-CD4B889D0776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360758" y="1505275"/>
            <a:ext cx="293314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92F2DC-3752-F839-AF14-D3886707D769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3568472" y="1505275"/>
            <a:ext cx="547314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04806B-64DC-FAEF-7053-1497201063B3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030186" y="1505275"/>
            <a:ext cx="55747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2ACCB2-3FB1-B6B9-F40D-6E046B97F36F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502059" y="1505275"/>
            <a:ext cx="55747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5049A3-44F0-57C0-EFBB-4C4D20D8BA1B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7973932" y="1505275"/>
            <a:ext cx="557474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A8D40C-ABE9-5A0C-23C6-19F641618043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>
          <a:xfrm>
            <a:off x="4572986" y="1920911"/>
            <a:ext cx="0" cy="261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48D87D-933D-8AC2-933B-6F4ECE730E5E}"/>
              </a:ext>
            </a:extLst>
          </p:cNvPr>
          <p:cNvCxnSpPr>
            <a:cxnSpLocks/>
            <a:stCxn id="12" idx="2"/>
            <a:endCxn id="6" idx="0"/>
          </p:cNvCxnSpPr>
          <p:nvPr/>
        </p:nvCxnSpPr>
        <p:spPr>
          <a:xfrm flipH="1">
            <a:off x="6039020" y="1920911"/>
            <a:ext cx="5839" cy="261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DA1C1B-85D6-54EE-4568-4B6D2C2C60CF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>
            <a:off x="7516732" y="1920911"/>
            <a:ext cx="1" cy="261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92F736D-6870-09FB-11B4-01CCE8A7137B}"/>
              </a:ext>
            </a:extLst>
          </p:cNvPr>
          <p:cNvCxnSpPr>
            <a:cxnSpLocks/>
            <a:stCxn id="14" idx="2"/>
            <a:endCxn id="8" idx="0"/>
          </p:cNvCxnSpPr>
          <p:nvPr/>
        </p:nvCxnSpPr>
        <p:spPr>
          <a:xfrm>
            <a:off x="8988606" y="1920911"/>
            <a:ext cx="5840" cy="261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1">
            <a:extLst>
              <a:ext uri="{FF2B5EF4-FFF2-40B4-BE49-F238E27FC236}">
                <a16:creationId xmlns:a16="http://schemas.microsoft.com/office/drawing/2014/main" id="{33DB81E3-D3C5-09DF-C4C4-1A01F29276DA}"/>
              </a:ext>
            </a:extLst>
          </p:cNvPr>
          <p:cNvSpPr txBox="1">
            <a:spLocks/>
          </p:cNvSpPr>
          <p:nvPr/>
        </p:nvSpPr>
        <p:spPr>
          <a:xfrm>
            <a:off x="681037" y="3203406"/>
            <a:ext cx="8543925" cy="434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19077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1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1600" dirty="0"/>
              <a:t>B330 Bonus earnings – net amount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04E76AA-83E9-28B3-F125-0CD75D4121C6}"/>
              </a:ext>
            </a:extLst>
          </p:cNvPr>
          <p:cNvSpPr/>
          <p:nvPr/>
        </p:nvSpPr>
        <p:spPr>
          <a:xfrm>
            <a:off x="315412" y="4147225"/>
            <a:ext cx="786832" cy="523636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896379-10CF-CA01-9320-48590DD7B2C2}"/>
              </a:ext>
            </a:extLst>
          </p:cNvPr>
          <p:cNvSpPr/>
          <p:nvPr/>
        </p:nvSpPr>
        <p:spPr>
          <a:xfrm>
            <a:off x="3996985" y="5086650"/>
            <a:ext cx="1152001" cy="5599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Xb312 = Sb312 +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DVBONNETFGA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AA929C-CFF6-C37D-22F4-46C6EBA54353}"/>
              </a:ext>
            </a:extLst>
          </p:cNvPr>
          <p:cNvSpPr/>
          <p:nvPr/>
        </p:nvSpPr>
        <p:spPr>
          <a:xfrm>
            <a:off x="5463019" y="5086650"/>
            <a:ext cx="1152001" cy="5599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Xb312 = Sb312 +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DVBONNETFGB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4F39377-D562-81C6-D943-CF22DEF0FB91}"/>
              </a:ext>
            </a:extLst>
          </p:cNvPr>
          <p:cNvSpPr/>
          <p:nvPr/>
        </p:nvSpPr>
        <p:spPr>
          <a:xfrm>
            <a:off x="6940732" y="5086650"/>
            <a:ext cx="1152001" cy="5599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Xb312 = Sb312 +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DVBONNETAWA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FEACC9F-F9D7-365C-7A17-1D5825A4B1BA}"/>
              </a:ext>
            </a:extLst>
          </p:cNvPr>
          <p:cNvSpPr/>
          <p:nvPr/>
        </p:nvSpPr>
        <p:spPr>
          <a:xfrm>
            <a:off x="8418445" y="5086650"/>
            <a:ext cx="1152001" cy="5599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Xb312 = Sb312 +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DVBONNETAWB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277D5E-BE39-015B-A90D-6C12B898B933}"/>
              </a:ext>
            </a:extLst>
          </p:cNvPr>
          <p:cNvSpPr/>
          <p:nvPr/>
        </p:nvSpPr>
        <p:spPr>
          <a:xfrm>
            <a:off x="1446358" y="3993407"/>
            <a:ext cx="914400" cy="8312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B330 = 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2DD601-6659-0A2C-1877-1E0598214893}"/>
              </a:ext>
            </a:extLst>
          </p:cNvPr>
          <p:cNvSpPr/>
          <p:nvPr/>
        </p:nvSpPr>
        <p:spPr>
          <a:xfrm>
            <a:off x="2654072" y="3993407"/>
            <a:ext cx="914400" cy="8312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B330 = 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7A9385-20A7-EE43-37B3-FC7AC147D3CF}"/>
              </a:ext>
            </a:extLst>
          </p:cNvPr>
          <p:cNvSpPr/>
          <p:nvPr/>
        </p:nvSpPr>
        <p:spPr>
          <a:xfrm>
            <a:off x="4115786" y="3993407"/>
            <a:ext cx="914400" cy="8312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DVBONGRS</a:t>
            </a:r>
            <a:br>
              <a:rPr lang="en-GB" sz="1000" b="1" dirty="0">
                <a:solidFill>
                  <a:schemeClr val="tx1"/>
                </a:solidFill>
              </a:rPr>
            </a:br>
            <a:r>
              <a:rPr lang="en-GB" sz="1000" b="1" dirty="0">
                <a:solidFill>
                  <a:schemeClr val="tx1"/>
                </a:solidFill>
              </a:rPr>
              <a:t>AWA &gt; 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CBC547-981A-DAB2-E7B4-60FF439C5667}"/>
              </a:ext>
            </a:extLst>
          </p:cNvPr>
          <p:cNvSpPr/>
          <p:nvPr/>
        </p:nvSpPr>
        <p:spPr>
          <a:xfrm>
            <a:off x="5587659" y="3993407"/>
            <a:ext cx="914400" cy="8312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DVBONGRS</a:t>
            </a:r>
            <a:br>
              <a:rPr lang="en-GB" sz="1000" b="1" dirty="0">
                <a:solidFill>
                  <a:schemeClr val="tx1"/>
                </a:solidFill>
              </a:rPr>
            </a:br>
            <a:r>
              <a:rPr lang="en-GB" sz="1000" b="1" dirty="0">
                <a:solidFill>
                  <a:schemeClr val="tx1"/>
                </a:solidFill>
              </a:rPr>
              <a:t>AWB &gt; 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FF505E6-7A5D-DC1F-53CE-C8F2F2FAE6A2}"/>
              </a:ext>
            </a:extLst>
          </p:cNvPr>
          <p:cNvSpPr/>
          <p:nvPr/>
        </p:nvSpPr>
        <p:spPr>
          <a:xfrm>
            <a:off x="7059532" y="3993407"/>
            <a:ext cx="914400" cy="8312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DVBONNET</a:t>
            </a:r>
            <a:br>
              <a:rPr lang="en-GB" sz="1000" b="1" dirty="0">
                <a:solidFill>
                  <a:schemeClr val="tx1"/>
                </a:solidFill>
              </a:rPr>
            </a:br>
            <a:r>
              <a:rPr lang="en-GB" sz="1000" b="1" dirty="0">
                <a:solidFill>
                  <a:schemeClr val="tx1"/>
                </a:solidFill>
              </a:rPr>
              <a:t>AWA &gt; 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EA72721-0BEA-0C40-0B95-2BFF4E78DD44}"/>
              </a:ext>
            </a:extLst>
          </p:cNvPr>
          <p:cNvSpPr/>
          <p:nvPr/>
        </p:nvSpPr>
        <p:spPr>
          <a:xfrm>
            <a:off x="8531406" y="3993407"/>
            <a:ext cx="914400" cy="8312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DVBONNET</a:t>
            </a:r>
            <a:br>
              <a:rPr lang="en-GB" sz="1000" b="1" dirty="0">
                <a:solidFill>
                  <a:schemeClr val="tx1"/>
                </a:solidFill>
              </a:rPr>
            </a:br>
            <a:r>
              <a:rPr lang="en-GB" sz="1000" b="1" dirty="0">
                <a:solidFill>
                  <a:schemeClr val="tx1"/>
                </a:solidFill>
              </a:rPr>
              <a:t>AWB &gt; 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E4EA9C5-02DA-B39A-03C4-C46B28699EA9}"/>
              </a:ext>
            </a:extLst>
          </p:cNvPr>
          <p:cNvCxnSpPr>
            <a:stCxn id="34" idx="3"/>
            <a:endCxn id="39" idx="1"/>
          </p:cNvCxnSpPr>
          <p:nvPr/>
        </p:nvCxnSpPr>
        <p:spPr>
          <a:xfrm>
            <a:off x="1102244" y="4409043"/>
            <a:ext cx="344114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C0B45EC-1E11-F8D3-C39E-D4E852295040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2360758" y="4409044"/>
            <a:ext cx="293314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70FA830-427B-67C6-C258-B3AFA7AE06F8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3568472" y="4409044"/>
            <a:ext cx="547314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857A2CA-DB6A-57F9-02DC-1E1592FD09B2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5030186" y="4409044"/>
            <a:ext cx="55747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AD44B24-7C12-0A93-D905-0DECE3DCA9D8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6502059" y="4409044"/>
            <a:ext cx="55747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A401878-2319-6ED4-27FA-9596E5DE1E1F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7973932" y="4409044"/>
            <a:ext cx="557474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42DA6CF-91EC-E271-9DCA-A7ED07AE2A9E}"/>
              </a:ext>
            </a:extLst>
          </p:cNvPr>
          <p:cNvCxnSpPr>
            <a:cxnSpLocks/>
            <a:stCxn id="41" idx="2"/>
            <a:endCxn id="35" idx="0"/>
          </p:cNvCxnSpPr>
          <p:nvPr/>
        </p:nvCxnSpPr>
        <p:spPr>
          <a:xfrm>
            <a:off x="4572986" y="4824680"/>
            <a:ext cx="0" cy="261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16FED11-2378-B0AA-C0D0-1FE57BD3501B}"/>
              </a:ext>
            </a:extLst>
          </p:cNvPr>
          <p:cNvCxnSpPr>
            <a:cxnSpLocks/>
            <a:stCxn id="42" idx="2"/>
            <a:endCxn id="36" idx="0"/>
          </p:cNvCxnSpPr>
          <p:nvPr/>
        </p:nvCxnSpPr>
        <p:spPr>
          <a:xfrm flipH="1">
            <a:off x="6039020" y="4824680"/>
            <a:ext cx="5839" cy="261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D437BBB-CD56-CC07-45D9-26C64755FBD2}"/>
              </a:ext>
            </a:extLst>
          </p:cNvPr>
          <p:cNvCxnSpPr>
            <a:cxnSpLocks/>
            <a:stCxn id="43" idx="2"/>
            <a:endCxn id="37" idx="0"/>
          </p:cNvCxnSpPr>
          <p:nvPr/>
        </p:nvCxnSpPr>
        <p:spPr>
          <a:xfrm>
            <a:off x="7516732" y="4824680"/>
            <a:ext cx="1" cy="261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0AF2664-F089-B594-D11F-E216893FC39A}"/>
              </a:ext>
            </a:extLst>
          </p:cNvPr>
          <p:cNvCxnSpPr>
            <a:cxnSpLocks/>
            <a:stCxn id="44" idx="2"/>
            <a:endCxn id="38" idx="0"/>
          </p:cNvCxnSpPr>
          <p:nvPr/>
        </p:nvCxnSpPr>
        <p:spPr>
          <a:xfrm>
            <a:off x="8988606" y="4824680"/>
            <a:ext cx="5840" cy="261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85E80A5-1EF7-F909-FC76-0F29E8878C58}"/>
              </a:ext>
            </a:extLst>
          </p:cNvPr>
          <p:cNvSpPr/>
          <p:nvPr/>
        </p:nvSpPr>
        <p:spPr>
          <a:xfrm>
            <a:off x="295001" y="5352726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BEE2C1-4202-3A02-83D2-E01D2EBAE01E}"/>
              </a:ext>
            </a:extLst>
          </p:cNvPr>
          <p:cNvCxnSpPr>
            <a:cxnSpLocks/>
          </p:cNvCxnSpPr>
          <p:nvPr/>
        </p:nvCxnSpPr>
        <p:spPr>
          <a:xfrm>
            <a:off x="588775" y="5931846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AFF9905-E24A-6747-AB7B-7F2852458BD5}"/>
              </a:ext>
            </a:extLst>
          </p:cNvPr>
          <p:cNvCxnSpPr>
            <a:cxnSpLocks/>
          </p:cNvCxnSpPr>
          <p:nvPr/>
        </p:nvCxnSpPr>
        <p:spPr>
          <a:xfrm>
            <a:off x="588775" y="6457626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9E1DDE7-7F5F-41A8-43DE-E759352C289C}"/>
              </a:ext>
            </a:extLst>
          </p:cNvPr>
          <p:cNvSpPr txBox="1"/>
          <p:nvPr/>
        </p:nvSpPr>
        <p:spPr>
          <a:xfrm>
            <a:off x="715181" y="5539654"/>
            <a:ext cx="425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40E4DB-028E-1D8A-B86C-F14345D44C2A}"/>
              </a:ext>
            </a:extLst>
          </p:cNvPr>
          <p:cNvSpPr txBox="1"/>
          <p:nvPr/>
        </p:nvSpPr>
        <p:spPr>
          <a:xfrm>
            <a:off x="730153" y="6065282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48940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C4CA9-10E7-D0DF-E609-26E820AA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AC8BD-A3F9-3D3E-613D-281AE2FF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B330 Bonus earnings – net amount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AFB5A-3F0F-6FC1-04B5-91C0B199B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GB" sz="1100" dirty="0"/>
              <a:t>{B312}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B330}</a:t>
            </a:r>
          </a:p>
          <a:p>
            <a:pPr>
              <a:spcBef>
                <a:spcPts val="0"/>
              </a:spcBef>
            </a:pPr>
            <a:endParaRPr lang="en-GB" sz="1100" dirty="0"/>
          </a:p>
          <a:p>
            <a:pPr>
              <a:spcBef>
                <a:spcPts val="0"/>
              </a:spcBef>
            </a:pPr>
            <a:r>
              <a:rPr lang="en-GB" sz="1100" dirty="0"/>
              <a:t>         XB312 := 0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XB330 := 0</a:t>
            </a:r>
          </a:p>
          <a:p>
            <a:pPr>
              <a:spcBef>
                <a:spcPts val="0"/>
              </a:spcBef>
            </a:pPr>
            <a:endParaRPr lang="en-GB" sz="1100" dirty="0"/>
          </a:p>
          <a:p>
            <a:pPr>
              <a:spcBef>
                <a:spcPts val="0"/>
              </a:spcBef>
            </a:pPr>
            <a:r>
              <a:rPr lang="en-GB" sz="1100" dirty="0"/>
              <a:t>         {FOR K := 1 TO 6 DO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IF (INFQ.QTEMPPAY.QBEMPPAY[J].QBONUS[K].DVBON &gt; 0) THEN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IF (INFQ.QTEMPPAY.QBEMPPAY[J].QBONUS[K].BOBATAX = 1) THEN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   XB312 := XB312 + INFQ.QTEMPPAY.QBEMPPAY[J].QBONUS[K].DVBON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   XB330 := XB330 + (INFQ.QTEMPPAY.QBEMPPAY[J].QBONUS[K].DVBON * 0.78)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ELSEIF (INFQ.QTEMPPAY.QBEMPPAY[J].QBONUS[K].BOBATAX = 2) THEN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   XB312 := XB312 + (INFQ.QTEMPPAY.QBEMPPAY[J].QBONUS[K].DVBON * 0.78)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   XB330 := XB330 + INFQ.QTEMPPAY.QBEMPPAY[J].QBONUS[K].DVBON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ENDIF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ENDIF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ENDDO}     {Block removed from 4Q2 - BR 01/08/24}</a:t>
            </a:r>
          </a:p>
          <a:p>
            <a:pPr>
              <a:spcBef>
                <a:spcPts val="0"/>
              </a:spcBef>
            </a:pPr>
            <a:endParaRPr lang="en-GB" sz="1100" dirty="0"/>
          </a:p>
          <a:p>
            <a:pPr>
              <a:spcBef>
                <a:spcPts val="0"/>
              </a:spcBef>
            </a:pPr>
            <a:r>
              <a:rPr lang="en-GB" sz="1100" dirty="0"/>
              <a:t>         IF (INFQ.QTEMPPAY.QBEMPPAY[J].DVBONGRSAWA &gt; 0) THEN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   XB312 := XB312 + INFQ.QTEMPPAY.QBEMPPAY[J].DVBONGRSAWA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   XB330 := XB330 + INFQ.QTEMPPAY.QBEMPPAY[J].DVBONNETFGA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ENDIF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IF (INFQ.QTEMPPAY.QBEMPPAY[J].DVBONGRSAWB &gt; 0) THEN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   XB312 := XB312 + INFQ.QTEMPPAY.QBEMPPAY[J].DVBONGRSAWB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   XB330 := XB330 + INFQ.QTEMPPAY.QBEMPPAY[J].DVBONNETFGB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ENDIF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IF (INFQ.QTEMPPAY.QBEMPPAY[J].DVBONNETAWA &gt; 0) THEN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   XB312 := XB312 + INFQ.QTEMPPAY.QBEMPPAY[J].DVBONGRSFNA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   XB330 := XB330 + INFQ.QTEMPPAY.QBEMPPAY[J].DVBONNETAWA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ENDIF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IF (INFQ.QTEMPPAY.QBEMPPAY[J].DVBONNETAWB &gt; 0) THEN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   XB312 := XB312 + INFQ.QTEMPPAY.QBEMPPAY[J].DVBONGRSFNB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         XB330 := XB330 + INFQ.QTEMPPAY.QBEMPPAY[J].DVBONNETAWB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ENDIF</a:t>
            </a:r>
          </a:p>
          <a:p>
            <a:pPr>
              <a:spcBef>
                <a:spcPts val="0"/>
              </a:spcBef>
            </a:pPr>
            <a:endParaRPr lang="en-GB" sz="1100" dirty="0"/>
          </a:p>
          <a:p>
            <a:pPr>
              <a:spcBef>
                <a:spcPts val="0"/>
              </a:spcBef>
            </a:pPr>
            <a:r>
              <a:rPr lang="en-GB" sz="1100" dirty="0"/>
              <a:t>         OUTF25.B312 := XB312</a:t>
            </a:r>
          </a:p>
          <a:p>
            <a:pPr>
              <a:spcBef>
                <a:spcPts val="0"/>
              </a:spcBef>
            </a:pPr>
            <a:r>
              <a:rPr lang="en-GB" sz="1100" dirty="0"/>
              <a:t>         OUTF25.B330 := XB330</a:t>
            </a:r>
          </a:p>
        </p:txBody>
      </p:sp>
    </p:spTree>
    <p:extLst>
      <p:ext uri="{BB962C8B-B14F-4D97-AF65-F5344CB8AC3E}">
        <p14:creationId xmlns:p14="http://schemas.microsoft.com/office/powerpoint/2010/main" val="1569810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E1EC-5A98-6FE0-7447-D3B2F532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20CE-BDEE-211A-0A6B-3AC2DDDE4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B391 Self-employed – tax paid last 12 months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76CAC-E5ED-F57B-E2BD-F00CF971A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14F901-1F7B-8CB3-C882-EE46D979D68D}"/>
              </a:ext>
            </a:extLst>
          </p:cNvPr>
          <p:cNvSpPr/>
          <p:nvPr/>
        </p:nvSpPr>
        <p:spPr>
          <a:xfrm>
            <a:off x="199178" y="2357522"/>
            <a:ext cx="786832" cy="523636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840267-7A57-8B19-31C0-5516ECB78AFE}"/>
              </a:ext>
            </a:extLst>
          </p:cNvPr>
          <p:cNvSpPr/>
          <p:nvPr/>
        </p:nvSpPr>
        <p:spPr>
          <a:xfrm>
            <a:off x="2397391" y="3296947"/>
            <a:ext cx="1152001" cy="5599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B391 = B391 + </a:t>
            </a:r>
            <a:r>
              <a:rPr lang="en-GB" sz="1100" b="1" dirty="0" err="1">
                <a:solidFill>
                  <a:schemeClr val="tx1"/>
                </a:solidFill>
              </a:rPr>
              <a:t>Dvtaxd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3842D-30A9-AD6C-2F2A-B2B90A84A2D0}"/>
              </a:ext>
            </a:extLst>
          </p:cNvPr>
          <p:cNvSpPr/>
          <p:nvPr/>
        </p:nvSpPr>
        <p:spPr>
          <a:xfrm>
            <a:off x="3690705" y="3315748"/>
            <a:ext cx="1152001" cy="5599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B391 = B391 + </a:t>
            </a:r>
            <a:r>
              <a:rPr lang="en-GB" sz="1100" b="1" dirty="0" err="1">
                <a:solidFill>
                  <a:schemeClr val="tx1"/>
                </a:solidFill>
              </a:rPr>
              <a:t>Dvsetax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46487F-AB01-A6BD-955A-79A8A9970ACB}"/>
              </a:ext>
            </a:extLst>
          </p:cNvPr>
          <p:cNvSpPr/>
          <p:nvPr/>
        </p:nvSpPr>
        <p:spPr>
          <a:xfrm>
            <a:off x="5473218" y="3296947"/>
            <a:ext cx="1152001" cy="5599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B391 = B391 + </a:t>
            </a:r>
            <a:r>
              <a:rPr lang="en-GB" sz="1100" b="1" dirty="0" err="1">
                <a:solidFill>
                  <a:schemeClr val="tx1"/>
                </a:solidFill>
              </a:rPr>
              <a:t>Dvtaxd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6C1D7A-5C9C-C330-0DAB-2926331DBA9D}"/>
              </a:ext>
            </a:extLst>
          </p:cNvPr>
          <p:cNvSpPr/>
          <p:nvPr/>
        </p:nvSpPr>
        <p:spPr>
          <a:xfrm>
            <a:off x="7225251" y="3296947"/>
            <a:ext cx="1152001" cy="5599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B391 = B391 + </a:t>
            </a:r>
            <a:r>
              <a:rPr lang="en-GB" sz="1100" b="1" dirty="0" err="1">
                <a:solidFill>
                  <a:schemeClr val="tx1"/>
                </a:solidFill>
              </a:rPr>
              <a:t>Dvsetax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C1EB54-BD9C-F2A7-9B8B-17C98F368141}"/>
              </a:ext>
            </a:extLst>
          </p:cNvPr>
          <p:cNvSpPr/>
          <p:nvPr/>
        </p:nvSpPr>
        <p:spPr>
          <a:xfrm>
            <a:off x="1248844" y="2203704"/>
            <a:ext cx="914400" cy="8312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B391 =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D6502-00F9-70AA-26E4-AE5668CC8D3C}"/>
              </a:ext>
            </a:extLst>
          </p:cNvPr>
          <p:cNvSpPr/>
          <p:nvPr/>
        </p:nvSpPr>
        <p:spPr>
          <a:xfrm>
            <a:off x="8535766" y="2203703"/>
            <a:ext cx="914400" cy="8312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B391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08C65-D854-1CCD-42D2-E99C17C11DFB}"/>
              </a:ext>
            </a:extLst>
          </p:cNvPr>
          <p:cNvSpPr/>
          <p:nvPr/>
        </p:nvSpPr>
        <p:spPr>
          <a:xfrm>
            <a:off x="2516192" y="2203704"/>
            <a:ext cx="914400" cy="8312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ChecktaxB</a:t>
            </a:r>
            <a:br>
              <a:rPr lang="en-GB" sz="1000" b="1" dirty="0">
                <a:solidFill>
                  <a:schemeClr val="tx1"/>
                </a:solidFill>
              </a:rPr>
            </a:br>
            <a:r>
              <a:rPr lang="en-GB" sz="1000" b="1" dirty="0">
                <a:solidFill>
                  <a:schemeClr val="tx1"/>
                </a:solidFill>
              </a:rPr>
              <a:t>= YESTAX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76BC49-A171-1B3F-13B0-74320468C742}"/>
              </a:ext>
            </a:extLst>
          </p:cNvPr>
          <p:cNvSpPr/>
          <p:nvPr/>
        </p:nvSpPr>
        <p:spPr>
          <a:xfrm>
            <a:off x="3815345" y="2203704"/>
            <a:ext cx="914400" cy="8312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SETAX = </a:t>
            </a:r>
            <a:br>
              <a:rPr lang="en-GB" sz="1000" b="1" dirty="0">
                <a:solidFill>
                  <a:schemeClr val="tx1"/>
                </a:solidFill>
              </a:rPr>
            </a:br>
            <a:r>
              <a:rPr lang="en-GB" sz="1000" b="1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B50880-3C4D-3799-B038-D725506121A7}"/>
              </a:ext>
            </a:extLst>
          </p:cNvPr>
          <p:cNvSpPr/>
          <p:nvPr/>
        </p:nvSpPr>
        <p:spPr>
          <a:xfrm>
            <a:off x="5592018" y="2203704"/>
            <a:ext cx="914400" cy="8312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ChecktaxB</a:t>
            </a:r>
            <a:endParaRPr lang="en-GB" sz="1000" b="1" dirty="0">
              <a:solidFill>
                <a:schemeClr val="tx1"/>
              </a:solidFill>
            </a:endParaRP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= YESTAX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C3208E-79EB-1D03-6EE8-DFCB426124E7}"/>
              </a:ext>
            </a:extLst>
          </p:cNvPr>
          <p:cNvSpPr/>
          <p:nvPr/>
        </p:nvSpPr>
        <p:spPr>
          <a:xfrm>
            <a:off x="7338212" y="2203704"/>
            <a:ext cx="914400" cy="8312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SETAX +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YES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979DF4-3BEE-FCDF-059A-74F95F3B348B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986010" y="2619340"/>
            <a:ext cx="262834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7231DD-2FA7-B974-E35D-EFD0B0E75198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2163244" y="2619341"/>
            <a:ext cx="352948" cy="0"/>
          </a:xfrm>
          <a:prstGeom prst="straightConnector1">
            <a:avLst/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48AEEC-7CB8-E588-2450-51657C9C32F1}"/>
              </a:ext>
            </a:extLst>
          </p:cNvPr>
          <p:cNvCxnSpPr>
            <a:cxnSpLocks/>
            <a:stCxn id="14" idx="3"/>
            <a:endCxn id="10" idx="1"/>
          </p:cNvCxnSpPr>
          <p:nvPr/>
        </p:nvCxnSpPr>
        <p:spPr>
          <a:xfrm flipV="1">
            <a:off x="8252612" y="2619340"/>
            <a:ext cx="283154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4499F9-76A1-2FF6-D89A-11EB968EA07E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3430592" y="2619341"/>
            <a:ext cx="38475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C57844-2CA9-54DF-24AC-0DBC415D13A9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4729745" y="2619341"/>
            <a:ext cx="86227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F786C2-AC36-C0B3-3749-A95F6A26BE41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6506418" y="2619341"/>
            <a:ext cx="831794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4BD66B-8489-01FB-2596-A1AE9B96A70C}"/>
              </a:ext>
            </a:extLst>
          </p:cNvPr>
          <p:cNvCxnSpPr>
            <a:cxnSpLocks/>
            <a:stCxn id="12" idx="2"/>
            <a:endCxn id="6" idx="0"/>
          </p:cNvCxnSpPr>
          <p:nvPr/>
        </p:nvCxnSpPr>
        <p:spPr>
          <a:xfrm flipH="1">
            <a:off x="4266706" y="3034977"/>
            <a:ext cx="5839" cy="2807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28362C2-9D71-D561-56B4-EDFCC19EA14D}"/>
              </a:ext>
            </a:extLst>
          </p:cNvPr>
          <p:cNvCxnSpPr>
            <a:cxnSpLocks/>
            <a:stCxn id="13" idx="2"/>
            <a:endCxn id="7" idx="0"/>
          </p:cNvCxnSpPr>
          <p:nvPr/>
        </p:nvCxnSpPr>
        <p:spPr>
          <a:xfrm>
            <a:off x="6049218" y="3034977"/>
            <a:ext cx="1" cy="261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35E2A72-4782-8060-341F-52DD0263E1CB}"/>
              </a:ext>
            </a:extLst>
          </p:cNvPr>
          <p:cNvCxnSpPr>
            <a:cxnSpLocks/>
            <a:stCxn id="14" idx="2"/>
            <a:endCxn id="8" idx="0"/>
          </p:cNvCxnSpPr>
          <p:nvPr/>
        </p:nvCxnSpPr>
        <p:spPr>
          <a:xfrm>
            <a:off x="7795412" y="3034977"/>
            <a:ext cx="5840" cy="261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DF0C7F4-C6A3-65FD-29A4-08479E3E430C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>
          <a:xfrm>
            <a:off x="2973392" y="3034977"/>
            <a:ext cx="0" cy="261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3D8622E-7658-4C5B-7402-94295146862C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842706" y="3589532"/>
            <a:ext cx="275936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C5C4C78-B69A-2815-8E76-2093C94A4141}"/>
              </a:ext>
            </a:extLst>
          </p:cNvPr>
          <p:cNvCxnSpPr>
            <a:cxnSpLocks/>
          </p:cNvCxnSpPr>
          <p:nvPr/>
        </p:nvCxnSpPr>
        <p:spPr>
          <a:xfrm flipH="1" flipV="1">
            <a:off x="5095372" y="2666820"/>
            <a:ext cx="7876" cy="933542"/>
          </a:xfrm>
          <a:prstGeom prst="straightConnector1">
            <a:avLst/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245A276-3658-A053-2A98-77832E389684}"/>
              </a:ext>
            </a:extLst>
          </p:cNvPr>
          <p:cNvCxnSpPr>
            <a:cxnSpLocks/>
          </p:cNvCxnSpPr>
          <p:nvPr/>
        </p:nvCxnSpPr>
        <p:spPr>
          <a:xfrm flipV="1">
            <a:off x="6641590" y="3578702"/>
            <a:ext cx="275936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1F6BE6E-43D6-5AAC-1763-90514FAE120A}"/>
              </a:ext>
            </a:extLst>
          </p:cNvPr>
          <p:cNvCxnSpPr>
            <a:cxnSpLocks/>
          </p:cNvCxnSpPr>
          <p:nvPr/>
        </p:nvCxnSpPr>
        <p:spPr>
          <a:xfrm flipH="1" flipV="1">
            <a:off x="6894256" y="2655990"/>
            <a:ext cx="7876" cy="933542"/>
          </a:xfrm>
          <a:prstGeom prst="straightConnector1">
            <a:avLst/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6892E91-88BE-5424-088C-8D01C82A6812}"/>
              </a:ext>
            </a:extLst>
          </p:cNvPr>
          <p:cNvSpPr/>
          <p:nvPr/>
        </p:nvSpPr>
        <p:spPr>
          <a:xfrm>
            <a:off x="8418062" y="5280199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33AB62-BEC0-B613-B0D0-9AC34DB42214}"/>
              </a:ext>
            </a:extLst>
          </p:cNvPr>
          <p:cNvCxnSpPr>
            <a:cxnSpLocks/>
          </p:cNvCxnSpPr>
          <p:nvPr/>
        </p:nvCxnSpPr>
        <p:spPr>
          <a:xfrm>
            <a:off x="8711836" y="585931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C4E105-6436-286B-9828-6F63961557E2}"/>
              </a:ext>
            </a:extLst>
          </p:cNvPr>
          <p:cNvCxnSpPr>
            <a:cxnSpLocks/>
          </p:cNvCxnSpPr>
          <p:nvPr/>
        </p:nvCxnSpPr>
        <p:spPr>
          <a:xfrm>
            <a:off x="8711836" y="638509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53214E0-9E1E-CCF0-558A-4326EAA63860}"/>
              </a:ext>
            </a:extLst>
          </p:cNvPr>
          <p:cNvSpPr txBox="1"/>
          <p:nvPr/>
        </p:nvSpPr>
        <p:spPr>
          <a:xfrm>
            <a:off x="8838242" y="5467127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8327D6-A62B-4C27-4FC1-214496219508}"/>
              </a:ext>
            </a:extLst>
          </p:cNvPr>
          <p:cNvSpPr txBox="1"/>
          <p:nvPr/>
        </p:nvSpPr>
        <p:spPr>
          <a:xfrm>
            <a:off x="8853214" y="5992755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105280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E7AB-1DD4-A0BD-035B-4DF11AFA2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CEDD8-90D8-9CB7-5BB8-FC058D434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B391 Self-employed – tax paid last 12 months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D3023-D239-F7CE-FA31-4F1DCE25F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dirty="0" err="1"/>
              <a:t>ChecktaxB</a:t>
            </a:r>
            <a:r>
              <a:rPr lang="en-GB" dirty="0"/>
              <a:t> - Check - was either income tax, or the respondent's regular National Insurance contribution deducted at source?             </a:t>
            </a:r>
          </a:p>
          <a:p>
            <a:pPr marL="355600" indent="-173038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/>
              <a:t>1 - Income tax deducted, </a:t>
            </a:r>
          </a:p>
          <a:p>
            <a:pPr marL="355600" indent="-173038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/>
              <a:t>2 - Regular NI deducted</a:t>
            </a:r>
          </a:p>
          <a:p>
            <a:pPr marL="355600" indent="-173038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/>
              <a:t>3 - No, neither deducted</a:t>
            </a:r>
          </a:p>
          <a:p>
            <a:pPr>
              <a:spcBef>
                <a:spcPts val="0"/>
              </a:spcBef>
            </a:pPr>
            <a:endParaRPr lang="en-GB" dirty="0"/>
          </a:p>
          <a:p>
            <a:pPr>
              <a:spcBef>
                <a:spcPts val="0"/>
              </a:spcBef>
            </a:pPr>
            <a:r>
              <a:rPr lang="en-GB" dirty="0" err="1"/>
              <a:t>Dvsetax</a:t>
            </a:r>
            <a:r>
              <a:rPr lang="en-GB" dirty="0"/>
              <a:t> - Derived from </a:t>
            </a:r>
            <a:r>
              <a:rPr lang="en-GB" dirty="0" err="1"/>
              <a:t>SeTaxAmt</a:t>
            </a:r>
            <a:r>
              <a:rPr lang="en-GB" dirty="0"/>
              <a:t> to give a weekly amount – (</a:t>
            </a:r>
            <a:r>
              <a:rPr lang="en-GB" dirty="0" err="1"/>
              <a:t>SeTaxAmt</a:t>
            </a:r>
            <a:r>
              <a:rPr lang="en-GB" dirty="0"/>
              <a:t> – Self Employment: How much did the respondent pay altogether in the last 12 months?)</a:t>
            </a:r>
          </a:p>
          <a:p>
            <a:pPr>
              <a:spcBef>
                <a:spcPts val="0"/>
              </a:spcBef>
            </a:pPr>
            <a:endParaRPr lang="en-GB" dirty="0"/>
          </a:p>
          <a:p>
            <a:pPr>
              <a:spcBef>
                <a:spcPts val="0"/>
              </a:spcBef>
            </a:pPr>
            <a:r>
              <a:rPr lang="en-GB" dirty="0" err="1"/>
              <a:t>Dvtaxd</a:t>
            </a:r>
            <a:r>
              <a:rPr lang="en-GB" dirty="0"/>
              <a:t> - Derived from </a:t>
            </a:r>
            <a:r>
              <a:rPr lang="en-GB" dirty="0" err="1"/>
              <a:t>TaxDAmt</a:t>
            </a:r>
            <a:r>
              <a:rPr lang="en-GB" dirty="0"/>
              <a:t> to give a weekly amount – (</a:t>
            </a:r>
            <a:r>
              <a:rPr lang="en-GB" dirty="0" err="1"/>
              <a:t>TaxDAmt</a:t>
            </a:r>
            <a:r>
              <a:rPr lang="en-GB" dirty="0"/>
              <a:t> – Self Employment: How much income tax was deducted last time?)</a:t>
            </a:r>
          </a:p>
          <a:p>
            <a:pPr>
              <a:spcBef>
                <a:spcPts val="0"/>
              </a:spcBef>
            </a:pPr>
            <a:endParaRPr lang="en-GB" dirty="0"/>
          </a:p>
          <a:p>
            <a:pPr>
              <a:spcBef>
                <a:spcPts val="0"/>
              </a:spcBef>
            </a:pPr>
            <a:r>
              <a:rPr lang="en-GB" dirty="0" err="1"/>
              <a:t>Setax</a:t>
            </a:r>
            <a:r>
              <a:rPr lang="en-GB" dirty="0"/>
              <a:t>  -(Apart from tax deducted at source) Has the respondent made any (other) income tax payments relating to this job/business in the last 12 months?</a:t>
            </a:r>
          </a:p>
          <a:p>
            <a:pPr marL="355600" indent="-173038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/>
              <a:t>1 = Yes</a:t>
            </a:r>
          </a:p>
          <a:p>
            <a:pPr marL="355600" indent="-173038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/>
              <a:t>2 = No</a:t>
            </a:r>
          </a:p>
        </p:txBody>
      </p:sp>
    </p:spTree>
    <p:extLst>
      <p:ext uri="{BB962C8B-B14F-4D97-AF65-F5344CB8AC3E}">
        <p14:creationId xmlns:p14="http://schemas.microsoft.com/office/powerpoint/2010/main" val="1236488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96FF4-2BBF-F1BB-A7AC-F66D030A0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71070-02C0-F9D8-8035-25C4C2712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400" dirty="0"/>
              <a:t>B047 Main or only occupation: self employed amount of gross income </a:t>
            </a:r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54237B-B943-58D4-2CBF-F453BB80B85A}"/>
              </a:ext>
            </a:extLst>
          </p:cNvPr>
          <p:cNvSpPr/>
          <p:nvPr/>
        </p:nvSpPr>
        <p:spPr>
          <a:xfrm>
            <a:off x="120953" y="1264023"/>
            <a:ext cx="786832" cy="523636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CDBD32-1EE9-6613-F861-C2AC445AFFFC}"/>
              </a:ext>
            </a:extLst>
          </p:cNvPr>
          <p:cNvSpPr/>
          <p:nvPr/>
        </p:nvSpPr>
        <p:spPr>
          <a:xfrm>
            <a:off x="2085019" y="2481071"/>
            <a:ext cx="1611078" cy="6690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 IN </a:t>
            </a:r>
            <a:r>
              <a:rPr lang="en-GB" sz="1100" b="1" dirty="0" err="1">
                <a:solidFill>
                  <a:schemeClr val="tx1"/>
                </a:solidFill>
              </a:rPr>
              <a:t>ChecktaxB</a:t>
            </a:r>
            <a:r>
              <a:rPr lang="en-GB" sz="1100" b="1" dirty="0">
                <a:solidFill>
                  <a:schemeClr val="tx1"/>
                </a:solidFill>
              </a:rPr>
              <a:t> B AND 2 IN </a:t>
            </a:r>
            <a:r>
              <a:rPr lang="en-GB" sz="1100" b="1" dirty="0" err="1">
                <a:solidFill>
                  <a:schemeClr val="tx1"/>
                </a:solidFill>
              </a:rPr>
              <a:t>Chiknded</a:t>
            </a:r>
            <a:r>
              <a:rPr lang="en-GB" sz="1100" b="1" dirty="0">
                <a:solidFill>
                  <a:schemeClr val="tx1"/>
                </a:solidFill>
              </a:rPr>
              <a:t>  OR 2 IN </a:t>
            </a:r>
            <a:r>
              <a:rPr lang="en-GB" sz="1100" b="1" dirty="0" err="1">
                <a:solidFill>
                  <a:schemeClr val="tx1"/>
                </a:solidFill>
              </a:rPr>
              <a:t>ChkincomA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14BEDC-CBEA-FFFD-E1EC-96B963772CEC}"/>
              </a:ext>
            </a:extLst>
          </p:cNvPr>
          <p:cNvSpPr/>
          <p:nvPr/>
        </p:nvSpPr>
        <p:spPr>
          <a:xfrm>
            <a:off x="5584657" y="2527589"/>
            <a:ext cx="900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Profit2 =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43DBA5-5EBE-E0BB-48D9-BEA1D1BD17DF}"/>
              </a:ext>
            </a:extLst>
          </p:cNvPr>
          <p:cNvSpPr/>
          <p:nvPr/>
        </p:nvSpPr>
        <p:spPr>
          <a:xfrm>
            <a:off x="7483161" y="2527589"/>
            <a:ext cx="900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Proftax</a:t>
            </a:r>
            <a:r>
              <a:rPr lang="en-GB" sz="1100" b="1" dirty="0">
                <a:solidFill>
                  <a:schemeClr val="tx1"/>
                </a:solidFill>
              </a:rPr>
              <a:t> =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04DE4D-F58A-A014-311D-F833661639AF}"/>
              </a:ext>
            </a:extLst>
          </p:cNvPr>
          <p:cNvSpPr/>
          <p:nvPr/>
        </p:nvSpPr>
        <p:spPr>
          <a:xfrm>
            <a:off x="1170619" y="1264024"/>
            <a:ext cx="914400" cy="5236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 = 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97DCC1-F6F9-6261-9891-5CF9101E7351}"/>
              </a:ext>
            </a:extLst>
          </p:cNvPr>
          <p:cNvSpPr/>
          <p:nvPr/>
        </p:nvSpPr>
        <p:spPr>
          <a:xfrm>
            <a:off x="2433358" y="1264023"/>
            <a:ext cx="914400" cy="5371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1, 2 IN A200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8822BC-2507-8CAE-081A-FD7B7718A400}"/>
              </a:ext>
            </a:extLst>
          </p:cNvPr>
          <p:cNvSpPr/>
          <p:nvPr/>
        </p:nvSpPr>
        <p:spPr>
          <a:xfrm>
            <a:off x="3737120" y="1261597"/>
            <a:ext cx="914400" cy="5371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 = 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2CA400-8323-F0E5-4CBE-C10D04CC4AC5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907785" y="1525841"/>
            <a:ext cx="262834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CF034A-6E18-5432-8199-D828A981560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085019" y="1525842"/>
            <a:ext cx="348339" cy="6765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34A076-A6F6-CE7F-ADAC-BECD8D344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3347758" y="1530181"/>
            <a:ext cx="389362" cy="242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DAA29C86-E549-5847-B088-A1F029D9D0F6}"/>
              </a:ext>
            </a:extLst>
          </p:cNvPr>
          <p:cNvSpPr/>
          <p:nvPr/>
        </p:nvSpPr>
        <p:spPr>
          <a:xfrm>
            <a:off x="8939398" y="2527088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A847653-96AE-798C-24FF-2FF663E99940}"/>
              </a:ext>
            </a:extLst>
          </p:cNvPr>
          <p:cNvSpPr/>
          <p:nvPr/>
        </p:nvSpPr>
        <p:spPr>
          <a:xfrm>
            <a:off x="2440558" y="3907698"/>
            <a:ext cx="900000" cy="576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DVNIDB &gt; 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5AF23C-20FA-54AD-8265-7DDB9F323C7F}"/>
              </a:ext>
            </a:extLst>
          </p:cNvPr>
          <p:cNvSpPr/>
          <p:nvPr/>
        </p:nvSpPr>
        <p:spPr>
          <a:xfrm>
            <a:off x="4068741" y="3907698"/>
            <a:ext cx="900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Dvtaxd</a:t>
            </a:r>
            <a:r>
              <a:rPr lang="en-GB" sz="10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74E1225-7F9F-250F-C64F-295DA4B6BBB4}"/>
              </a:ext>
            </a:extLst>
          </p:cNvPr>
          <p:cNvSpPr/>
          <p:nvPr/>
        </p:nvSpPr>
        <p:spPr>
          <a:xfrm>
            <a:off x="5584657" y="3907698"/>
            <a:ext cx="900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Dvprof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CB0C6E2-F78F-9172-3F50-9D6CD261A657}"/>
              </a:ext>
            </a:extLst>
          </p:cNvPr>
          <p:cNvSpPr/>
          <p:nvPr/>
        </p:nvSpPr>
        <p:spPr>
          <a:xfrm>
            <a:off x="7483161" y="3907698"/>
            <a:ext cx="900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Dvprbef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684E567-9AF4-BFDA-ACB0-1769ABB654C8}"/>
              </a:ext>
            </a:extLst>
          </p:cNvPr>
          <p:cNvCxnSpPr>
            <a:cxnSpLocks/>
            <a:stCxn id="7" idx="3"/>
            <a:endCxn id="39" idx="2"/>
          </p:cNvCxnSpPr>
          <p:nvPr/>
        </p:nvCxnSpPr>
        <p:spPr>
          <a:xfrm flipV="1">
            <a:off x="8383161" y="2815088"/>
            <a:ext cx="556237" cy="50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C28572A-3789-1D31-7AE4-A1163EB66D6C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3340558" y="4195698"/>
            <a:ext cx="728183" cy="0"/>
          </a:xfrm>
          <a:prstGeom prst="straightConnector1">
            <a:avLst/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F3546F-AA92-4891-B40B-642F4ED4296C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4968741" y="4195698"/>
            <a:ext cx="615916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BC309A8-4700-1DA3-FF1C-625D27D0D5BE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>
            <a:off x="6484657" y="4195698"/>
            <a:ext cx="998504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68DB243-4F76-897D-BE49-AEF92C18F89B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8383161" y="4195698"/>
            <a:ext cx="720199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319AA74-FB69-DEAA-69A7-62444DED6B00}"/>
              </a:ext>
            </a:extLst>
          </p:cNvPr>
          <p:cNvSpPr/>
          <p:nvPr/>
        </p:nvSpPr>
        <p:spPr>
          <a:xfrm>
            <a:off x="2440558" y="5156205"/>
            <a:ext cx="900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XP047 = </a:t>
            </a:r>
            <a:r>
              <a:rPr lang="en-GB" sz="1000" b="1" dirty="0" err="1">
                <a:solidFill>
                  <a:schemeClr val="tx1"/>
                </a:solidFill>
              </a:rPr>
              <a:t>Dvnid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E85526-372F-6C7C-C888-7D5C7E993857}"/>
              </a:ext>
            </a:extLst>
          </p:cNvPr>
          <p:cNvSpPr/>
          <p:nvPr/>
        </p:nvSpPr>
        <p:spPr>
          <a:xfrm>
            <a:off x="4068741" y="5156205"/>
            <a:ext cx="900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XP047 = XP047 + </a:t>
            </a:r>
            <a:r>
              <a:rPr lang="en-GB" sz="1000" b="1" dirty="0" err="1">
                <a:solidFill>
                  <a:schemeClr val="tx1"/>
                </a:solidFill>
              </a:rPr>
              <a:t>Dvtaxd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8CFC25-A8E4-D5BB-E2D6-6C8EA7B6CDFC}"/>
              </a:ext>
            </a:extLst>
          </p:cNvPr>
          <p:cNvSpPr/>
          <p:nvPr/>
        </p:nvSpPr>
        <p:spPr>
          <a:xfrm>
            <a:off x="5584657" y="5156205"/>
            <a:ext cx="900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 = </a:t>
            </a:r>
            <a:r>
              <a:rPr lang="en-GB" sz="1000" b="1" dirty="0" err="1">
                <a:solidFill>
                  <a:schemeClr val="tx1"/>
                </a:solidFill>
              </a:rPr>
              <a:t>Dvprof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642C9A-B680-8E74-12C2-3BB498420A45}"/>
              </a:ext>
            </a:extLst>
          </p:cNvPr>
          <p:cNvSpPr/>
          <p:nvPr/>
        </p:nvSpPr>
        <p:spPr>
          <a:xfrm>
            <a:off x="7483161" y="5156205"/>
            <a:ext cx="900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 = </a:t>
            </a:r>
            <a:r>
              <a:rPr lang="en-GB" sz="1000" b="1" dirty="0" err="1">
                <a:solidFill>
                  <a:schemeClr val="tx1"/>
                </a:solidFill>
              </a:rPr>
              <a:t>Dvprbef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E241E0-1AA9-36F1-56AA-568216A5A4DA}"/>
              </a:ext>
            </a:extLst>
          </p:cNvPr>
          <p:cNvCxnSpPr>
            <a:cxnSpLocks/>
          </p:cNvCxnSpPr>
          <p:nvPr/>
        </p:nvCxnSpPr>
        <p:spPr>
          <a:xfrm flipV="1">
            <a:off x="3737415" y="4312452"/>
            <a:ext cx="0" cy="1257222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1981DF4-6C57-A6DC-86BC-2BB44EA7D0E3}"/>
              </a:ext>
            </a:extLst>
          </p:cNvPr>
          <p:cNvCxnSpPr>
            <a:cxnSpLocks/>
          </p:cNvCxnSpPr>
          <p:nvPr/>
        </p:nvCxnSpPr>
        <p:spPr>
          <a:xfrm flipH="1" flipV="1">
            <a:off x="5332022" y="2936240"/>
            <a:ext cx="8465" cy="2507965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E15D1B-A762-0A25-E327-23BAD7624E86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>
            <a:off x="2890558" y="1801190"/>
            <a:ext cx="0" cy="679881"/>
          </a:xfrm>
          <a:prstGeom prst="straightConnector1">
            <a:avLst/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F60F342-8810-0101-C538-613DCCA447A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696097" y="2815589"/>
            <a:ext cx="1888560" cy="1"/>
          </a:xfrm>
          <a:prstGeom prst="straightConnector1">
            <a:avLst/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B1454C-7252-2D56-7F65-978984754AEC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484657" y="2815589"/>
            <a:ext cx="998504" cy="0"/>
          </a:xfrm>
          <a:prstGeom prst="straightConnector1">
            <a:avLst/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2048524-A649-49AF-C763-E176989CB38C}"/>
              </a:ext>
            </a:extLst>
          </p:cNvPr>
          <p:cNvCxnSpPr>
            <a:cxnSpLocks/>
            <a:stCxn id="5" idx="2"/>
            <a:endCxn id="40" idx="0"/>
          </p:cNvCxnSpPr>
          <p:nvPr/>
        </p:nvCxnSpPr>
        <p:spPr>
          <a:xfrm>
            <a:off x="2890558" y="3150108"/>
            <a:ext cx="0" cy="75759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4AA6A6A-E921-31AC-FAF2-97293846D228}"/>
              </a:ext>
            </a:extLst>
          </p:cNvPr>
          <p:cNvCxnSpPr>
            <a:cxnSpLocks/>
            <a:stCxn id="40" idx="2"/>
            <a:endCxn id="15" idx="0"/>
          </p:cNvCxnSpPr>
          <p:nvPr/>
        </p:nvCxnSpPr>
        <p:spPr>
          <a:xfrm>
            <a:off x="2890558" y="4483698"/>
            <a:ext cx="0" cy="67250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92A9AB80-8BBC-136F-F051-7A3E985D78D1}"/>
              </a:ext>
            </a:extLst>
          </p:cNvPr>
          <p:cNvCxnSpPr>
            <a:cxnSpLocks/>
          </p:cNvCxnSpPr>
          <p:nvPr/>
        </p:nvCxnSpPr>
        <p:spPr>
          <a:xfrm flipV="1">
            <a:off x="3352662" y="5569674"/>
            <a:ext cx="384458" cy="1776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C8C91290-A4AB-D740-1D80-34B752E80FC8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968741" y="5444205"/>
            <a:ext cx="371746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8B55433-C81C-74E5-C1B3-A087A17B9F30}"/>
              </a:ext>
            </a:extLst>
          </p:cNvPr>
          <p:cNvCxnSpPr>
            <a:cxnSpLocks/>
            <a:stCxn id="6" idx="2"/>
            <a:endCxn id="42" idx="0"/>
          </p:cNvCxnSpPr>
          <p:nvPr/>
        </p:nvCxnSpPr>
        <p:spPr>
          <a:xfrm>
            <a:off x="6034657" y="3103589"/>
            <a:ext cx="0" cy="804109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76D6D4B-5F91-F802-32F5-68BE96B87C05}"/>
              </a:ext>
            </a:extLst>
          </p:cNvPr>
          <p:cNvCxnSpPr>
            <a:cxnSpLocks/>
            <a:stCxn id="42" idx="2"/>
            <a:endCxn id="17" idx="0"/>
          </p:cNvCxnSpPr>
          <p:nvPr/>
        </p:nvCxnSpPr>
        <p:spPr>
          <a:xfrm>
            <a:off x="6034657" y="4483698"/>
            <a:ext cx="0" cy="67250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481E092B-A342-B54A-8697-297380426E56}"/>
              </a:ext>
            </a:extLst>
          </p:cNvPr>
          <p:cNvCxnSpPr>
            <a:cxnSpLocks/>
          </p:cNvCxnSpPr>
          <p:nvPr/>
        </p:nvCxnSpPr>
        <p:spPr>
          <a:xfrm flipV="1">
            <a:off x="6991771" y="2950021"/>
            <a:ext cx="0" cy="2501045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C12A24AA-6327-A8BB-F7CC-BB3E35A49DF7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484657" y="5444205"/>
            <a:ext cx="507114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BDAA57AD-03FC-0E0E-C881-88C3F993BBBF}"/>
              </a:ext>
            </a:extLst>
          </p:cNvPr>
          <p:cNvCxnSpPr>
            <a:cxnSpLocks/>
            <a:endCxn id="39" idx="4"/>
          </p:cNvCxnSpPr>
          <p:nvPr/>
        </p:nvCxnSpPr>
        <p:spPr>
          <a:xfrm flipV="1">
            <a:off x="9227398" y="3103088"/>
            <a:ext cx="0" cy="234111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2EF5EF84-AD23-C845-9D64-49D15873974E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8383161" y="5444205"/>
            <a:ext cx="844238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192B9EDC-15C7-97D1-BBEB-2C2426670735}"/>
              </a:ext>
            </a:extLst>
          </p:cNvPr>
          <p:cNvCxnSpPr>
            <a:cxnSpLocks/>
            <a:stCxn id="7" idx="2"/>
            <a:endCxn id="43" idx="0"/>
          </p:cNvCxnSpPr>
          <p:nvPr/>
        </p:nvCxnSpPr>
        <p:spPr>
          <a:xfrm>
            <a:off x="7933161" y="3103589"/>
            <a:ext cx="0" cy="804109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BB733D6D-2C86-11CA-8970-CB6B691EFFC8}"/>
              </a:ext>
            </a:extLst>
          </p:cNvPr>
          <p:cNvCxnSpPr>
            <a:cxnSpLocks/>
            <a:stCxn id="43" idx="2"/>
            <a:endCxn id="18" idx="0"/>
          </p:cNvCxnSpPr>
          <p:nvPr/>
        </p:nvCxnSpPr>
        <p:spPr>
          <a:xfrm>
            <a:off x="7933161" y="4483698"/>
            <a:ext cx="0" cy="67250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37093CA8-66C3-AB42-660D-08C0564C2A92}"/>
              </a:ext>
            </a:extLst>
          </p:cNvPr>
          <p:cNvSpPr txBox="1"/>
          <p:nvPr/>
        </p:nvSpPr>
        <p:spPr>
          <a:xfrm>
            <a:off x="8605273" y="1807922"/>
            <a:ext cx="12442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FLOW CHART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CONTINUED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ON NEXT PAGE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1878EC-2619-0860-E03B-267E681B510A}"/>
              </a:ext>
            </a:extLst>
          </p:cNvPr>
          <p:cNvSpPr/>
          <p:nvPr/>
        </p:nvSpPr>
        <p:spPr>
          <a:xfrm>
            <a:off x="253313" y="5245364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06E74C-37C7-DFB2-5919-96ECB6841641}"/>
              </a:ext>
            </a:extLst>
          </p:cNvPr>
          <p:cNvCxnSpPr>
            <a:cxnSpLocks/>
          </p:cNvCxnSpPr>
          <p:nvPr/>
        </p:nvCxnSpPr>
        <p:spPr>
          <a:xfrm>
            <a:off x="547087" y="5824484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17B185C-25D5-960A-14B5-F58C21E35E3C}"/>
              </a:ext>
            </a:extLst>
          </p:cNvPr>
          <p:cNvCxnSpPr>
            <a:cxnSpLocks/>
          </p:cNvCxnSpPr>
          <p:nvPr/>
        </p:nvCxnSpPr>
        <p:spPr>
          <a:xfrm>
            <a:off x="547087" y="6350264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9B167F0-0F94-0613-9266-E115D9D24E5F}"/>
              </a:ext>
            </a:extLst>
          </p:cNvPr>
          <p:cNvSpPr txBox="1"/>
          <p:nvPr/>
        </p:nvSpPr>
        <p:spPr>
          <a:xfrm>
            <a:off x="673493" y="5432292"/>
            <a:ext cx="425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1F3786-92A6-45EC-9744-A5828D78679C}"/>
              </a:ext>
            </a:extLst>
          </p:cNvPr>
          <p:cNvSpPr txBox="1"/>
          <p:nvPr/>
        </p:nvSpPr>
        <p:spPr>
          <a:xfrm>
            <a:off x="688465" y="5957920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984776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E720D-72B8-AC3C-F443-4B158810C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3686-C669-73F7-D02B-9B42F8763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400" dirty="0"/>
              <a:t>B047 Main or only occupation: self employed amount of gross income 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A663DC-D0A7-4973-A0D9-661008F4D7BE}"/>
              </a:ext>
            </a:extLst>
          </p:cNvPr>
          <p:cNvSpPr/>
          <p:nvPr/>
        </p:nvSpPr>
        <p:spPr>
          <a:xfrm>
            <a:off x="5141654" y="3222568"/>
            <a:ext cx="900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Dvseinc</a:t>
            </a:r>
            <a:r>
              <a:rPr lang="en-GB" sz="11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C82C2-2D49-7F92-A2C7-4AB5BB0DF199}"/>
              </a:ext>
            </a:extLst>
          </p:cNvPr>
          <p:cNvSpPr/>
          <p:nvPr/>
        </p:nvSpPr>
        <p:spPr>
          <a:xfrm>
            <a:off x="1252505" y="2260311"/>
            <a:ext cx="1317169" cy="5236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Profit1 = RESPONSE AND Profit1 = 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705951-5AC0-596C-F86C-3EFC76C0AFA3}"/>
              </a:ext>
            </a:extLst>
          </p:cNvPr>
          <p:cNvSpPr/>
          <p:nvPr/>
        </p:nvSpPr>
        <p:spPr>
          <a:xfrm>
            <a:off x="1457223" y="3241983"/>
            <a:ext cx="914400" cy="5371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Dvownamt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26A42F-BB82-D184-CB8E-5597F5073023}"/>
              </a:ext>
            </a:extLst>
          </p:cNvPr>
          <p:cNvSpPr/>
          <p:nvPr/>
        </p:nvSpPr>
        <p:spPr>
          <a:xfrm>
            <a:off x="3190811" y="3241982"/>
            <a:ext cx="914400" cy="5371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Dvownot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C0510F-AD34-007F-9628-4C8DDFC0D5B4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989672" y="2522128"/>
            <a:ext cx="262833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AC087E-652D-819C-46B0-987B1A38D0B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911090" y="2783947"/>
            <a:ext cx="3333" cy="45803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08D316-A255-8A6D-95F1-796728BD6BA0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2371623" y="3510566"/>
            <a:ext cx="819188" cy="1"/>
          </a:xfrm>
          <a:prstGeom prst="straightConnector1">
            <a:avLst/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B257A6D5-BBA6-B315-0047-021BE0C0E457}"/>
              </a:ext>
            </a:extLst>
          </p:cNvPr>
          <p:cNvSpPr/>
          <p:nvPr/>
        </p:nvSpPr>
        <p:spPr>
          <a:xfrm>
            <a:off x="1471623" y="4063275"/>
            <a:ext cx="900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 = </a:t>
            </a:r>
            <a:r>
              <a:rPr lang="en-GB" sz="1000" b="1" dirty="0" err="1">
                <a:solidFill>
                  <a:schemeClr val="tx1"/>
                </a:solidFill>
              </a:rPr>
              <a:t>Dvownamt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14A7BE-DD0B-8222-7B62-7F59F3318CBF}"/>
              </a:ext>
            </a:extLst>
          </p:cNvPr>
          <p:cNvSpPr/>
          <p:nvPr/>
        </p:nvSpPr>
        <p:spPr>
          <a:xfrm>
            <a:off x="3190811" y="4063275"/>
            <a:ext cx="900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 = P047 = </a:t>
            </a:r>
            <a:r>
              <a:rPr lang="en-GB" sz="1000" b="1" dirty="0" err="1">
                <a:solidFill>
                  <a:schemeClr val="tx1"/>
                </a:solidFill>
              </a:rPr>
              <a:t>Dvownot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1021B08-BF1A-EAE8-C87E-ECDBC84E0224}"/>
              </a:ext>
            </a:extLst>
          </p:cNvPr>
          <p:cNvSpPr/>
          <p:nvPr/>
        </p:nvSpPr>
        <p:spPr>
          <a:xfrm>
            <a:off x="5141654" y="4051786"/>
            <a:ext cx="900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 = P047 + </a:t>
            </a:r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r>
              <a:rPr lang="en-GB" sz="1000" b="1" dirty="0">
                <a:solidFill>
                  <a:schemeClr val="tx1"/>
                </a:solidFill>
              </a:rPr>
              <a:t> + Xp047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2682692-52EF-3A85-4FB1-2D1ECC0F5532}"/>
              </a:ext>
            </a:extLst>
          </p:cNvPr>
          <p:cNvCxnSpPr>
            <a:cxnSpLocks/>
          </p:cNvCxnSpPr>
          <p:nvPr/>
        </p:nvCxnSpPr>
        <p:spPr>
          <a:xfrm flipV="1">
            <a:off x="2801690" y="3604617"/>
            <a:ext cx="0" cy="73675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2AE4781-295B-2ECB-8768-737BA60EB0DB}"/>
              </a:ext>
            </a:extLst>
          </p:cNvPr>
          <p:cNvCxnSpPr>
            <a:cxnSpLocks/>
            <a:endCxn id="3" idx="4"/>
          </p:cNvCxnSpPr>
          <p:nvPr/>
        </p:nvCxnSpPr>
        <p:spPr>
          <a:xfrm flipV="1">
            <a:off x="9306851" y="2783947"/>
            <a:ext cx="0" cy="156352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8049968-050C-5B97-2244-339404DC6B81}"/>
              </a:ext>
            </a:extLst>
          </p:cNvPr>
          <p:cNvCxnSpPr>
            <a:cxnSpLocks/>
            <a:stCxn id="10" idx="3"/>
            <a:endCxn id="6" idx="1"/>
          </p:cNvCxnSpPr>
          <p:nvPr/>
        </p:nvCxnSpPr>
        <p:spPr>
          <a:xfrm>
            <a:off x="4105211" y="3510566"/>
            <a:ext cx="1036443" cy="2"/>
          </a:xfrm>
          <a:prstGeom prst="straightConnector1">
            <a:avLst/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2827B284-4117-F7CA-A966-CE53E167E241}"/>
              </a:ext>
            </a:extLst>
          </p:cNvPr>
          <p:cNvCxnSpPr>
            <a:cxnSpLocks/>
            <a:stCxn id="9" idx="2"/>
            <a:endCxn id="40" idx="0"/>
          </p:cNvCxnSpPr>
          <p:nvPr/>
        </p:nvCxnSpPr>
        <p:spPr>
          <a:xfrm>
            <a:off x="1914423" y="3779150"/>
            <a:ext cx="7200" cy="284125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E75BB3D0-F9CD-0DCB-E994-B3A291A25083}"/>
              </a:ext>
            </a:extLst>
          </p:cNvPr>
          <p:cNvSpPr txBox="1"/>
          <p:nvPr/>
        </p:nvSpPr>
        <p:spPr>
          <a:xfrm>
            <a:off x="8661749" y="1451701"/>
            <a:ext cx="12442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FLOW CHART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CONTINUED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ON NEXT PAGE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BA8BE83-8772-9A77-1335-CE82FB51EEB9}"/>
              </a:ext>
            </a:extLst>
          </p:cNvPr>
          <p:cNvSpPr/>
          <p:nvPr/>
        </p:nvSpPr>
        <p:spPr>
          <a:xfrm>
            <a:off x="9018851" y="2207947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C274531-AA7A-153B-5ECF-04E2E10F4723}"/>
              </a:ext>
            </a:extLst>
          </p:cNvPr>
          <p:cNvSpPr/>
          <p:nvPr/>
        </p:nvSpPr>
        <p:spPr>
          <a:xfrm>
            <a:off x="405945" y="2219051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E9C2987-7F5F-A7E1-6920-E0BE49D93D0C}"/>
              </a:ext>
            </a:extLst>
          </p:cNvPr>
          <p:cNvCxnSpPr>
            <a:cxnSpLocks/>
            <a:stCxn id="8" idx="3"/>
            <a:endCxn id="3" idx="2"/>
          </p:cNvCxnSpPr>
          <p:nvPr/>
        </p:nvCxnSpPr>
        <p:spPr>
          <a:xfrm flipV="1">
            <a:off x="2569674" y="2495947"/>
            <a:ext cx="6449177" cy="2618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15FAF76-38F5-AA98-2015-30F7B0A6864C}"/>
              </a:ext>
            </a:extLst>
          </p:cNvPr>
          <p:cNvCxnSpPr>
            <a:cxnSpLocks/>
            <a:stCxn id="10" idx="2"/>
            <a:endCxn id="41" idx="0"/>
          </p:cNvCxnSpPr>
          <p:nvPr/>
        </p:nvCxnSpPr>
        <p:spPr>
          <a:xfrm flipH="1">
            <a:off x="3640811" y="3779149"/>
            <a:ext cx="7200" cy="28412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91B8EB3-DC7C-3CB1-B380-0D59C087983B}"/>
              </a:ext>
            </a:extLst>
          </p:cNvPr>
          <p:cNvCxnSpPr>
            <a:cxnSpLocks/>
            <a:stCxn id="6" idx="2"/>
            <a:endCxn id="42" idx="0"/>
          </p:cNvCxnSpPr>
          <p:nvPr/>
        </p:nvCxnSpPr>
        <p:spPr>
          <a:xfrm>
            <a:off x="5591654" y="3798568"/>
            <a:ext cx="0" cy="253218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72FCBAB-AFC9-8BBF-65AA-F483136D62B5}"/>
              </a:ext>
            </a:extLst>
          </p:cNvPr>
          <p:cNvCxnSpPr>
            <a:stCxn id="40" idx="3"/>
          </p:cNvCxnSpPr>
          <p:nvPr/>
        </p:nvCxnSpPr>
        <p:spPr>
          <a:xfrm flipV="1">
            <a:off x="2371623" y="4341371"/>
            <a:ext cx="402769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449654A-8E60-E189-731B-29600DA39A0C}"/>
              </a:ext>
            </a:extLst>
          </p:cNvPr>
          <p:cNvCxnSpPr>
            <a:cxnSpLocks/>
          </p:cNvCxnSpPr>
          <p:nvPr/>
        </p:nvCxnSpPr>
        <p:spPr>
          <a:xfrm flipV="1">
            <a:off x="4502724" y="3610713"/>
            <a:ext cx="0" cy="73675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1B04D13-63B8-B0BA-729A-D3BA387559C9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6041654" y="3510565"/>
            <a:ext cx="3143592" cy="3"/>
          </a:xfrm>
          <a:prstGeom prst="straightConnector1">
            <a:avLst/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BDCE868-311F-8B44-AD8C-11E29B61A488}"/>
              </a:ext>
            </a:extLst>
          </p:cNvPr>
          <p:cNvCxnSpPr>
            <a:cxnSpLocks/>
          </p:cNvCxnSpPr>
          <p:nvPr/>
        </p:nvCxnSpPr>
        <p:spPr>
          <a:xfrm>
            <a:off x="4090811" y="4351275"/>
            <a:ext cx="404713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F7DB13A-4D79-8E53-7C95-DC9CA73E052D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6041654" y="4339786"/>
            <a:ext cx="3265197" cy="7681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03FF161B-6294-35B1-4BFC-685BF194F264}"/>
              </a:ext>
            </a:extLst>
          </p:cNvPr>
          <p:cNvSpPr/>
          <p:nvPr/>
        </p:nvSpPr>
        <p:spPr>
          <a:xfrm>
            <a:off x="8418062" y="5280199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A0088DB-0A65-5EDF-65F1-7904BC29E417}"/>
              </a:ext>
            </a:extLst>
          </p:cNvPr>
          <p:cNvCxnSpPr>
            <a:cxnSpLocks/>
          </p:cNvCxnSpPr>
          <p:nvPr/>
        </p:nvCxnSpPr>
        <p:spPr>
          <a:xfrm>
            <a:off x="8711836" y="585931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409749-ECC7-911B-F553-3D4900030F51}"/>
              </a:ext>
            </a:extLst>
          </p:cNvPr>
          <p:cNvCxnSpPr>
            <a:cxnSpLocks/>
          </p:cNvCxnSpPr>
          <p:nvPr/>
        </p:nvCxnSpPr>
        <p:spPr>
          <a:xfrm>
            <a:off x="8711836" y="638509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B56E83D-2674-1E9C-1514-6EDB6094217A}"/>
              </a:ext>
            </a:extLst>
          </p:cNvPr>
          <p:cNvSpPr txBox="1"/>
          <p:nvPr/>
        </p:nvSpPr>
        <p:spPr>
          <a:xfrm>
            <a:off x="8838242" y="5467127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08D78D-36CD-2301-D884-FBA849D89288}"/>
              </a:ext>
            </a:extLst>
          </p:cNvPr>
          <p:cNvSpPr txBox="1"/>
          <p:nvPr/>
        </p:nvSpPr>
        <p:spPr>
          <a:xfrm>
            <a:off x="8853214" y="5992755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899422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B29BF-DD57-CE99-AB32-3449D24C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7CBA-E42D-B415-0619-2C67AC023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400" dirty="0"/>
              <a:t>B047 Main or only occupation: self employed amount of gross income </a:t>
            </a:r>
            <a:endParaRPr lang="en-GB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62A7A63-84DC-203A-2190-DB627A33F346}"/>
              </a:ext>
            </a:extLst>
          </p:cNvPr>
          <p:cNvSpPr txBox="1"/>
          <p:nvPr/>
        </p:nvSpPr>
        <p:spPr>
          <a:xfrm>
            <a:off x="8447578" y="1042756"/>
            <a:ext cx="12442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FLOW CHART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CONTINUED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ON NEXT PAGE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7CB8FA8-AA71-8CA8-BCCE-6282CDE5BF79}"/>
              </a:ext>
            </a:extLst>
          </p:cNvPr>
          <p:cNvSpPr/>
          <p:nvPr/>
        </p:nvSpPr>
        <p:spPr>
          <a:xfrm>
            <a:off x="1143324" y="1741957"/>
            <a:ext cx="1572580" cy="674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Profit2 OR Profit1 = DONTKNOW OR </a:t>
            </a:r>
            <a:r>
              <a:rPr lang="en-GB" sz="1000" b="1" dirty="0" err="1">
                <a:solidFill>
                  <a:schemeClr val="tx1"/>
                </a:solidFill>
              </a:rPr>
              <a:t>Busaccts</a:t>
            </a:r>
            <a:r>
              <a:rPr lang="en-GB" sz="1000" b="1" dirty="0">
                <a:solidFill>
                  <a:schemeClr val="tx1"/>
                </a:solidFill>
              </a:rPr>
              <a:t> = 3 AND 1, 2 IN </a:t>
            </a:r>
            <a:r>
              <a:rPr lang="en-GB" sz="1000" b="1" dirty="0" err="1">
                <a:solidFill>
                  <a:schemeClr val="tx1"/>
                </a:solidFill>
              </a:rPr>
              <a:t>Ownsum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3341C0A-FEF6-6259-D980-6659A36C799D}"/>
              </a:ext>
            </a:extLst>
          </p:cNvPr>
          <p:cNvSpPr/>
          <p:nvPr/>
        </p:nvSpPr>
        <p:spPr>
          <a:xfrm>
            <a:off x="1361686" y="2874718"/>
            <a:ext cx="1140628" cy="5371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 = 0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5AA795E-F163-29AC-D81E-AD659BE06E5E}"/>
              </a:ext>
            </a:extLst>
          </p:cNvPr>
          <p:cNvCxnSpPr>
            <a:cxnSpLocks/>
          </p:cNvCxnSpPr>
          <p:nvPr/>
        </p:nvCxnSpPr>
        <p:spPr>
          <a:xfrm>
            <a:off x="836296" y="2079319"/>
            <a:ext cx="307028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7E3B46C-EDD0-9450-9851-10F590F8863E}"/>
              </a:ext>
            </a:extLst>
          </p:cNvPr>
          <p:cNvCxnSpPr>
            <a:cxnSpLocks/>
            <a:stCxn id="102" idx="2"/>
            <a:endCxn id="103" idx="0"/>
          </p:cNvCxnSpPr>
          <p:nvPr/>
        </p:nvCxnSpPr>
        <p:spPr>
          <a:xfrm>
            <a:off x="1929614" y="2416682"/>
            <a:ext cx="2386" cy="45803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3D715F2-DC67-2841-7D85-7C175A0CC2F8}"/>
              </a:ext>
            </a:extLst>
          </p:cNvPr>
          <p:cNvSpPr/>
          <p:nvPr/>
        </p:nvSpPr>
        <p:spPr>
          <a:xfrm>
            <a:off x="1376085" y="3696010"/>
            <a:ext cx="1122665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Dvownamt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42B09BE-3FE7-DF3F-5FC1-8256D6BDE794}"/>
              </a:ext>
            </a:extLst>
          </p:cNvPr>
          <p:cNvSpPr/>
          <p:nvPr/>
        </p:nvSpPr>
        <p:spPr>
          <a:xfrm>
            <a:off x="3299990" y="3696010"/>
            <a:ext cx="1122665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Dvownot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8CED622-5994-7B5B-3D0E-584225B1B6A8}"/>
              </a:ext>
            </a:extLst>
          </p:cNvPr>
          <p:cNvSpPr/>
          <p:nvPr/>
        </p:nvSpPr>
        <p:spPr>
          <a:xfrm>
            <a:off x="5250833" y="3684521"/>
            <a:ext cx="1122665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15212DA-96B5-A231-3C3B-FED6B4927AB4}"/>
              </a:ext>
            </a:extLst>
          </p:cNvPr>
          <p:cNvCxnSpPr>
            <a:cxnSpLocks/>
            <a:stCxn id="108" idx="3"/>
            <a:endCxn id="109" idx="1"/>
          </p:cNvCxnSpPr>
          <p:nvPr/>
        </p:nvCxnSpPr>
        <p:spPr>
          <a:xfrm>
            <a:off x="2498750" y="3984010"/>
            <a:ext cx="80124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0D0FEB9-DA75-7D1D-E4C3-8EF34DC690F7}"/>
              </a:ext>
            </a:extLst>
          </p:cNvPr>
          <p:cNvCxnSpPr>
            <a:cxnSpLocks/>
            <a:endCxn id="115" idx="4"/>
          </p:cNvCxnSpPr>
          <p:nvPr/>
        </p:nvCxnSpPr>
        <p:spPr>
          <a:xfrm flipV="1">
            <a:off x="9069704" y="2367319"/>
            <a:ext cx="0" cy="2453838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F54CF16-8A30-7B44-F4B0-31FE16452049}"/>
              </a:ext>
            </a:extLst>
          </p:cNvPr>
          <p:cNvCxnSpPr>
            <a:cxnSpLocks/>
            <a:stCxn id="103" idx="2"/>
            <a:endCxn id="108" idx="0"/>
          </p:cNvCxnSpPr>
          <p:nvPr/>
        </p:nvCxnSpPr>
        <p:spPr>
          <a:xfrm>
            <a:off x="1932000" y="3411885"/>
            <a:ext cx="5418" cy="284125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27D3DB00-C88F-F1FC-13E9-F9DCDEBA8CD4}"/>
              </a:ext>
            </a:extLst>
          </p:cNvPr>
          <p:cNvSpPr/>
          <p:nvPr/>
        </p:nvSpPr>
        <p:spPr>
          <a:xfrm>
            <a:off x="8781704" y="1791319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F1776C35-42D7-6A0C-7B11-720DE511CB2C}"/>
              </a:ext>
            </a:extLst>
          </p:cNvPr>
          <p:cNvSpPr/>
          <p:nvPr/>
        </p:nvSpPr>
        <p:spPr>
          <a:xfrm>
            <a:off x="260296" y="1791319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B88C8C7-EF4F-52ED-3132-9A7E0F692669}"/>
              </a:ext>
            </a:extLst>
          </p:cNvPr>
          <p:cNvCxnSpPr>
            <a:cxnSpLocks/>
            <a:stCxn id="102" idx="3"/>
            <a:endCxn id="115" idx="2"/>
          </p:cNvCxnSpPr>
          <p:nvPr/>
        </p:nvCxnSpPr>
        <p:spPr>
          <a:xfrm flipV="1">
            <a:off x="2715904" y="2079319"/>
            <a:ext cx="6065800" cy="1"/>
          </a:xfrm>
          <a:prstGeom prst="straightConnector1">
            <a:avLst/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9ACC4974-0506-E359-C24B-8EA47985922D}"/>
              </a:ext>
            </a:extLst>
          </p:cNvPr>
          <p:cNvCxnSpPr>
            <a:cxnSpLocks/>
            <a:stCxn id="109" idx="3"/>
            <a:endCxn id="110" idx="1"/>
          </p:cNvCxnSpPr>
          <p:nvPr/>
        </p:nvCxnSpPr>
        <p:spPr>
          <a:xfrm flipV="1">
            <a:off x="4422655" y="3972521"/>
            <a:ext cx="828178" cy="1148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9C82BDC-827E-DE98-85D5-9325650328D0}"/>
              </a:ext>
            </a:extLst>
          </p:cNvPr>
          <p:cNvSpPr/>
          <p:nvPr/>
        </p:nvSpPr>
        <p:spPr>
          <a:xfrm>
            <a:off x="1376085" y="4544646"/>
            <a:ext cx="1122665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 = </a:t>
            </a:r>
            <a:r>
              <a:rPr lang="en-GB" sz="1000" b="1" dirty="0" err="1">
                <a:solidFill>
                  <a:schemeClr val="tx1"/>
                </a:solidFill>
              </a:rPr>
              <a:t>Dvownamt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8D6BDEE-96B2-BAED-9E70-882DE1F871D3}"/>
              </a:ext>
            </a:extLst>
          </p:cNvPr>
          <p:cNvSpPr/>
          <p:nvPr/>
        </p:nvSpPr>
        <p:spPr>
          <a:xfrm>
            <a:off x="3299990" y="4544646"/>
            <a:ext cx="1122665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 = P047 + </a:t>
            </a:r>
            <a:r>
              <a:rPr lang="en-GB" sz="1000" b="1" dirty="0" err="1">
                <a:solidFill>
                  <a:schemeClr val="tx1"/>
                </a:solidFill>
              </a:rPr>
              <a:t>Dvownot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8FA57DF-4FF9-2716-BB2D-905BF5278909}"/>
              </a:ext>
            </a:extLst>
          </p:cNvPr>
          <p:cNvSpPr/>
          <p:nvPr/>
        </p:nvSpPr>
        <p:spPr>
          <a:xfrm>
            <a:off x="5250833" y="4533157"/>
            <a:ext cx="1122665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 = P047 + </a:t>
            </a:r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r>
              <a:rPr lang="en-GB" sz="1000" b="1" dirty="0">
                <a:solidFill>
                  <a:schemeClr val="tx1"/>
                </a:solidFill>
              </a:rPr>
              <a:t> + XP047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39B8A26-F46B-D886-3AB1-AF5ABC5BF969}"/>
              </a:ext>
            </a:extLst>
          </p:cNvPr>
          <p:cNvCxnSpPr>
            <a:cxnSpLocks/>
          </p:cNvCxnSpPr>
          <p:nvPr/>
        </p:nvCxnSpPr>
        <p:spPr>
          <a:xfrm flipV="1">
            <a:off x="3047347" y="4085988"/>
            <a:ext cx="0" cy="73675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D3B99C2B-38A6-6BCA-B184-203F22758291}"/>
              </a:ext>
            </a:extLst>
          </p:cNvPr>
          <p:cNvCxnSpPr>
            <a:cxnSpLocks/>
            <a:stCxn id="108" idx="2"/>
            <a:endCxn id="132" idx="0"/>
          </p:cNvCxnSpPr>
          <p:nvPr/>
        </p:nvCxnSpPr>
        <p:spPr>
          <a:xfrm>
            <a:off x="1937418" y="4272010"/>
            <a:ext cx="0" cy="27263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A82CBE3E-3243-0CD5-048F-5A4FBEC57FF8}"/>
              </a:ext>
            </a:extLst>
          </p:cNvPr>
          <p:cNvCxnSpPr>
            <a:cxnSpLocks/>
            <a:stCxn id="109" idx="2"/>
            <a:endCxn id="133" idx="0"/>
          </p:cNvCxnSpPr>
          <p:nvPr/>
        </p:nvCxnSpPr>
        <p:spPr>
          <a:xfrm>
            <a:off x="3861323" y="4272010"/>
            <a:ext cx="0" cy="27263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6CCF03ED-B13A-6774-4B16-3ADC54025A81}"/>
              </a:ext>
            </a:extLst>
          </p:cNvPr>
          <p:cNvCxnSpPr>
            <a:cxnSpLocks/>
            <a:stCxn id="110" idx="2"/>
            <a:endCxn id="134" idx="0"/>
          </p:cNvCxnSpPr>
          <p:nvPr/>
        </p:nvCxnSpPr>
        <p:spPr>
          <a:xfrm>
            <a:off x="5812166" y="4260521"/>
            <a:ext cx="0" cy="27263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4ECE335E-33E2-3275-45CB-9E2BB97537F6}"/>
              </a:ext>
            </a:extLst>
          </p:cNvPr>
          <p:cNvCxnSpPr>
            <a:cxnSpLocks/>
            <a:stCxn id="132" idx="3"/>
          </p:cNvCxnSpPr>
          <p:nvPr/>
        </p:nvCxnSpPr>
        <p:spPr>
          <a:xfrm>
            <a:off x="2498750" y="4832646"/>
            <a:ext cx="544450" cy="0"/>
          </a:xfrm>
          <a:prstGeom prst="line">
            <a:avLst/>
          </a:prstGeom>
          <a:ln w="28575">
            <a:solidFill>
              <a:schemeClr val="accent5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C879DFCE-228B-BE5B-0827-E8942648D3F0}"/>
              </a:ext>
            </a:extLst>
          </p:cNvPr>
          <p:cNvCxnSpPr>
            <a:cxnSpLocks/>
          </p:cNvCxnSpPr>
          <p:nvPr/>
        </p:nvCxnSpPr>
        <p:spPr>
          <a:xfrm flipV="1">
            <a:off x="4980394" y="4092084"/>
            <a:ext cx="0" cy="73675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DA12E16-C81C-D034-76DC-37E86ADA5C91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4422655" y="4832646"/>
            <a:ext cx="571387" cy="0"/>
          </a:xfrm>
          <a:prstGeom prst="line">
            <a:avLst/>
          </a:prstGeom>
          <a:ln w="28575">
            <a:solidFill>
              <a:schemeClr val="accent5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6E1FB886-F0B1-6E91-1C47-E8A18A0002D8}"/>
              </a:ext>
            </a:extLst>
          </p:cNvPr>
          <p:cNvCxnSpPr>
            <a:cxnSpLocks/>
            <a:stCxn id="134" idx="3"/>
          </p:cNvCxnSpPr>
          <p:nvPr/>
        </p:nvCxnSpPr>
        <p:spPr>
          <a:xfrm>
            <a:off x="6373498" y="4821157"/>
            <a:ext cx="2587022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29869F-009A-B7B8-C6AE-0F48CB1E06AB}"/>
              </a:ext>
            </a:extLst>
          </p:cNvPr>
          <p:cNvCxnSpPr>
            <a:cxnSpLocks/>
            <a:stCxn id="110" idx="3"/>
          </p:cNvCxnSpPr>
          <p:nvPr/>
        </p:nvCxnSpPr>
        <p:spPr>
          <a:xfrm>
            <a:off x="6373498" y="3972521"/>
            <a:ext cx="2459309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A475AA9-C9F0-D700-1021-61E5BFA13C4A}"/>
              </a:ext>
            </a:extLst>
          </p:cNvPr>
          <p:cNvSpPr/>
          <p:nvPr/>
        </p:nvSpPr>
        <p:spPr>
          <a:xfrm>
            <a:off x="8418062" y="5280199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1B0C262-B4A5-5B96-7E84-1B8D0F260119}"/>
              </a:ext>
            </a:extLst>
          </p:cNvPr>
          <p:cNvCxnSpPr>
            <a:cxnSpLocks/>
          </p:cNvCxnSpPr>
          <p:nvPr/>
        </p:nvCxnSpPr>
        <p:spPr>
          <a:xfrm>
            <a:off x="8711836" y="585931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70E57B-A4E9-71E7-4947-E2644F75A5B0}"/>
              </a:ext>
            </a:extLst>
          </p:cNvPr>
          <p:cNvCxnSpPr>
            <a:cxnSpLocks/>
          </p:cNvCxnSpPr>
          <p:nvPr/>
        </p:nvCxnSpPr>
        <p:spPr>
          <a:xfrm>
            <a:off x="8711836" y="638509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BBF2D9-2E70-1183-9D1D-AB379AB7F828}"/>
              </a:ext>
            </a:extLst>
          </p:cNvPr>
          <p:cNvSpPr txBox="1"/>
          <p:nvPr/>
        </p:nvSpPr>
        <p:spPr>
          <a:xfrm>
            <a:off x="8838242" y="5467127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54233-7434-AFE7-0B90-10253D9389F8}"/>
              </a:ext>
            </a:extLst>
          </p:cNvPr>
          <p:cNvSpPr txBox="1"/>
          <p:nvPr/>
        </p:nvSpPr>
        <p:spPr>
          <a:xfrm>
            <a:off x="8853214" y="5992755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420971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7B13F-DBDC-2B0C-35EB-EF685A6AE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3253-5278-986A-A90D-7A040F21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400" dirty="0"/>
              <a:t>B047 Main or only occupation: self employed amount of gross income </a:t>
            </a:r>
            <a:endParaRPr lang="en-GB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BE71418-D7A5-72AB-1301-9F63BA80E81B}"/>
              </a:ext>
            </a:extLst>
          </p:cNvPr>
          <p:cNvSpPr/>
          <p:nvPr/>
        </p:nvSpPr>
        <p:spPr>
          <a:xfrm>
            <a:off x="2480803" y="2287867"/>
            <a:ext cx="1137064" cy="674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Busaccts</a:t>
            </a:r>
            <a:r>
              <a:rPr lang="en-GB" sz="1000" b="1" dirty="0">
                <a:solidFill>
                  <a:schemeClr val="tx1"/>
                </a:solidFill>
              </a:rPr>
              <a:t> = 3 AND </a:t>
            </a:r>
            <a:r>
              <a:rPr lang="en-GB" sz="1000" b="1" dirty="0" err="1">
                <a:solidFill>
                  <a:schemeClr val="tx1"/>
                </a:solidFill>
              </a:rPr>
              <a:t>Workacc</a:t>
            </a:r>
            <a:r>
              <a:rPr lang="en-GB" sz="1000" b="1" dirty="0">
                <a:solidFill>
                  <a:schemeClr val="tx1"/>
                </a:solidFill>
              </a:rPr>
              <a:t> = 2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70BD980-D50E-BBF5-05FE-7CB411E639F0}"/>
              </a:ext>
            </a:extLst>
          </p:cNvPr>
          <p:cNvSpPr/>
          <p:nvPr/>
        </p:nvSpPr>
        <p:spPr>
          <a:xfrm>
            <a:off x="2480803" y="3420628"/>
            <a:ext cx="1140628" cy="5371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CA529D1-8CE1-0322-3FD4-2B2703F935E0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1955413" y="2625229"/>
            <a:ext cx="525390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224C04E-4CCE-3812-27C4-48EB7071BAE0}"/>
              </a:ext>
            </a:extLst>
          </p:cNvPr>
          <p:cNvCxnSpPr>
            <a:cxnSpLocks/>
            <a:stCxn id="102" idx="2"/>
            <a:endCxn id="103" idx="0"/>
          </p:cNvCxnSpPr>
          <p:nvPr/>
        </p:nvCxnSpPr>
        <p:spPr>
          <a:xfrm>
            <a:off x="3049335" y="2962592"/>
            <a:ext cx="1782" cy="45803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0E3AC90-B1D9-E73A-F1EA-1DE2D60FABF9}"/>
              </a:ext>
            </a:extLst>
          </p:cNvPr>
          <p:cNvSpPr/>
          <p:nvPr/>
        </p:nvSpPr>
        <p:spPr>
          <a:xfrm>
            <a:off x="2495202" y="4386002"/>
            <a:ext cx="1122665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 = </a:t>
            </a:r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r>
              <a:rPr lang="en-GB" sz="1000" b="1" dirty="0">
                <a:solidFill>
                  <a:schemeClr val="tx1"/>
                </a:solidFill>
              </a:rPr>
              <a:t> + XP047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3CE96794-278E-71BA-36D4-0B1A5A7962A4}"/>
              </a:ext>
            </a:extLst>
          </p:cNvPr>
          <p:cNvCxnSpPr>
            <a:cxnSpLocks/>
          </p:cNvCxnSpPr>
          <p:nvPr/>
        </p:nvCxnSpPr>
        <p:spPr>
          <a:xfrm flipH="1" flipV="1">
            <a:off x="4367284" y="2756847"/>
            <a:ext cx="4848" cy="192433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39CEF38-89F0-153D-FB06-203F302F5AFD}"/>
              </a:ext>
            </a:extLst>
          </p:cNvPr>
          <p:cNvCxnSpPr>
            <a:cxnSpLocks/>
            <a:stCxn id="103" idx="2"/>
            <a:endCxn id="108" idx="0"/>
          </p:cNvCxnSpPr>
          <p:nvPr/>
        </p:nvCxnSpPr>
        <p:spPr>
          <a:xfrm>
            <a:off x="3051117" y="3957795"/>
            <a:ext cx="5418" cy="428207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DD7AD69F-8767-1163-AEC3-EB9A022C222B}"/>
              </a:ext>
            </a:extLst>
          </p:cNvPr>
          <p:cNvSpPr/>
          <p:nvPr/>
        </p:nvSpPr>
        <p:spPr>
          <a:xfrm>
            <a:off x="1379413" y="2337229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8CA1E808-44F1-2AD9-5058-CA3349402B26}"/>
              </a:ext>
            </a:extLst>
          </p:cNvPr>
          <p:cNvCxnSpPr>
            <a:cxnSpLocks/>
            <a:stCxn id="103" idx="3"/>
          </p:cNvCxnSpPr>
          <p:nvPr/>
        </p:nvCxnSpPr>
        <p:spPr>
          <a:xfrm>
            <a:off x="3621431" y="3689212"/>
            <a:ext cx="100282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4127358B-56C6-8324-1B37-C15E547969B5}"/>
              </a:ext>
            </a:extLst>
          </p:cNvPr>
          <p:cNvCxnSpPr>
            <a:cxnSpLocks/>
            <a:stCxn id="102" idx="3"/>
          </p:cNvCxnSpPr>
          <p:nvPr/>
        </p:nvCxnSpPr>
        <p:spPr>
          <a:xfrm flipV="1">
            <a:off x="3617867" y="2625229"/>
            <a:ext cx="1006386" cy="1"/>
          </a:xfrm>
          <a:prstGeom prst="straightConnector1">
            <a:avLst/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1F91350-3015-7CF0-113A-ABD0AF60F14A}"/>
              </a:ext>
            </a:extLst>
          </p:cNvPr>
          <p:cNvSpPr/>
          <p:nvPr/>
        </p:nvSpPr>
        <p:spPr>
          <a:xfrm>
            <a:off x="4740532" y="2287867"/>
            <a:ext cx="1137064" cy="674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Profit2 OR Profit1 = DONTKNOW OR </a:t>
            </a:r>
            <a:r>
              <a:rPr lang="en-GB" sz="1000" b="1" dirty="0" err="1">
                <a:solidFill>
                  <a:schemeClr val="tx1"/>
                </a:solidFill>
              </a:rPr>
              <a:t>Busaccts</a:t>
            </a:r>
            <a:r>
              <a:rPr lang="en-GB" sz="1000" b="1" dirty="0">
                <a:solidFill>
                  <a:schemeClr val="tx1"/>
                </a:solidFill>
              </a:rPr>
              <a:t> = 3 AND 1, 2 IN </a:t>
            </a:r>
            <a:r>
              <a:rPr lang="en-GB" sz="1000" b="1" dirty="0" err="1">
                <a:solidFill>
                  <a:schemeClr val="tx1"/>
                </a:solidFill>
              </a:rPr>
              <a:t>Ownsum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8D0D63-EA47-D73B-C576-4D01C21FF80C}"/>
              </a:ext>
            </a:extLst>
          </p:cNvPr>
          <p:cNvSpPr/>
          <p:nvPr/>
        </p:nvSpPr>
        <p:spPr>
          <a:xfrm>
            <a:off x="4740532" y="3420628"/>
            <a:ext cx="1140628" cy="5371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5A92EC-0687-8FA6-F50C-1CFDAB51D6F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5309064" y="2962592"/>
            <a:ext cx="1782" cy="45803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6AFCF3C-A915-9B0C-334B-29A90DDA215B}"/>
              </a:ext>
            </a:extLst>
          </p:cNvPr>
          <p:cNvSpPr/>
          <p:nvPr/>
        </p:nvSpPr>
        <p:spPr>
          <a:xfrm>
            <a:off x="4740532" y="4372354"/>
            <a:ext cx="1122665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 = </a:t>
            </a:r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r>
              <a:rPr lang="en-GB" sz="1000" b="1" dirty="0">
                <a:solidFill>
                  <a:schemeClr val="tx1"/>
                </a:solidFill>
              </a:rPr>
              <a:t> + XP047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70DC37-9651-34D9-98B4-539B131423D5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flipH="1">
            <a:off x="5301865" y="3957795"/>
            <a:ext cx="8981" cy="414559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8A517D-7F37-3F9E-E557-A653E5E0262F}"/>
              </a:ext>
            </a:extLst>
          </p:cNvPr>
          <p:cNvCxnSpPr>
            <a:cxnSpLocks/>
            <a:stCxn id="15" idx="3"/>
            <a:endCxn id="24" idx="1"/>
          </p:cNvCxnSpPr>
          <p:nvPr/>
        </p:nvCxnSpPr>
        <p:spPr>
          <a:xfrm flipV="1">
            <a:off x="5881160" y="3689211"/>
            <a:ext cx="1115537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032833F-DC14-5122-5901-BBBC0FA01E4D}"/>
              </a:ext>
            </a:extLst>
          </p:cNvPr>
          <p:cNvCxnSpPr>
            <a:cxnSpLocks/>
            <a:stCxn id="14" idx="3"/>
            <a:endCxn id="23" idx="1"/>
          </p:cNvCxnSpPr>
          <p:nvPr/>
        </p:nvCxnSpPr>
        <p:spPr>
          <a:xfrm>
            <a:off x="5877596" y="2625230"/>
            <a:ext cx="1119101" cy="0"/>
          </a:xfrm>
          <a:prstGeom prst="straightConnector1">
            <a:avLst/>
          </a:prstGeom>
          <a:ln w="28575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79F53C5-087C-F157-6C99-4D6DB33F4FD4}"/>
              </a:ext>
            </a:extLst>
          </p:cNvPr>
          <p:cNvSpPr/>
          <p:nvPr/>
        </p:nvSpPr>
        <p:spPr>
          <a:xfrm>
            <a:off x="6996697" y="2287867"/>
            <a:ext cx="1137064" cy="6747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ED8EB7-F773-A345-28D8-DD12F8FEA82F}"/>
              </a:ext>
            </a:extLst>
          </p:cNvPr>
          <p:cNvSpPr/>
          <p:nvPr/>
        </p:nvSpPr>
        <p:spPr>
          <a:xfrm>
            <a:off x="6996697" y="3420627"/>
            <a:ext cx="1140628" cy="53716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P047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CB48256-18AE-C5CA-8433-8DF7863D9938}"/>
              </a:ext>
            </a:extLst>
          </p:cNvPr>
          <p:cNvCxnSpPr>
            <a:cxnSpLocks/>
            <a:stCxn id="108" idx="3"/>
          </p:cNvCxnSpPr>
          <p:nvPr/>
        </p:nvCxnSpPr>
        <p:spPr>
          <a:xfrm>
            <a:off x="3617867" y="4674002"/>
            <a:ext cx="749417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72E9930-AFA3-4E11-63FC-6CC60ADA780E}"/>
              </a:ext>
            </a:extLst>
          </p:cNvPr>
          <p:cNvSpPr/>
          <p:nvPr/>
        </p:nvSpPr>
        <p:spPr>
          <a:xfrm>
            <a:off x="8418062" y="5280199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D5A030D-9DCF-E8C3-6AA2-6AAC0B6341D8}"/>
              </a:ext>
            </a:extLst>
          </p:cNvPr>
          <p:cNvCxnSpPr>
            <a:cxnSpLocks/>
          </p:cNvCxnSpPr>
          <p:nvPr/>
        </p:nvCxnSpPr>
        <p:spPr>
          <a:xfrm>
            <a:off x="8711836" y="585931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F918AAF-16DD-A31A-0DED-49FC1B336ADE}"/>
              </a:ext>
            </a:extLst>
          </p:cNvPr>
          <p:cNvCxnSpPr>
            <a:cxnSpLocks/>
          </p:cNvCxnSpPr>
          <p:nvPr/>
        </p:nvCxnSpPr>
        <p:spPr>
          <a:xfrm>
            <a:off x="8711836" y="638509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9A1FF59-4B77-7EA7-16BD-5E21741626F6}"/>
              </a:ext>
            </a:extLst>
          </p:cNvPr>
          <p:cNvSpPr txBox="1"/>
          <p:nvPr/>
        </p:nvSpPr>
        <p:spPr>
          <a:xfrm>
            <a:off x="8838242" y="5467127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7FC341-5716-3E25-D381-1600F3BA39EE}"/>
              </a:ext>
            </a:extLst>
          </p:cNvPr>
          <p:cNvSpPr txBox="1"/>
          <p:nvPr/>
        </p:nvSpPr>
        <p:spPr>
          <a:xfrm>
            <a:off x="8853214" y="5992755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567317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99451-58B3-1BA7-87C0-784A2E2FC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C49E-1EC9-92E0-F3CE-99C6853F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B047 Main or only occupation: self employed amount of gross income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276CE-78F8-993A-8FD8-94EA2E3B5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KEY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A200  Employment status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0 Not recorded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Employee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Self-employed or employer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3 Out of employment seeking work within last 4 weeks &amp; available to start a job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4 Out of employment waiting to start a job already obtained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5 Sick or injured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6 Retired including Job Release Scheme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7 Unoccupied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Busaccts</a:t>
            </a:r>
            <a:r>
              <a:rPr lang="en-GB" dirty="0"/>
              <a:t>  In job/business were annual business accounts prepared for HMRC for tax purposes?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Yes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No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3 Not yet, but will be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ChecktaxB</a:t>
            </a:r>
            <a:r>
              <a:rPr lang="en-GB" dirty="0"/>
              <a:t>  Was either income tax, or regular National Insurance contribution deducted at source?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Income tax deducted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Regular NI deducted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3 No, neither deducted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ChkincomA</a:t>
            </a:r>
            <a:r>
              <a:rPr lang="en-GB" dirty="0"/>
              <a:t> Self-Employment: Was respondent’s average income of [amount] before or after tax or national insurance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was deducted?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Before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After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ChkInDed</a:t>
            </a:r>
            <a:r>
              <a:rPr lang="en-GB" dirty="0"/>
              <a:t> Is this before or after income tax was deducted at source?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DvNIDB</a:t>
            </a:r>
            <a:r>
              <a:rPr lang="en-GB" dirty="0"/>
              <a:t> Derived from </a:t>
            </a:r>
            <a:r>
              <a:rPr lang="en-GB" dirty="0" err="1"/>
              <a:t>NIDAmt</a:t>
            </a:r>
            <a:r>
              <a:rPr lang="en-GB" dirty="0"/>
              <a:t> to give a weekly amount –(</a:t>
            </a:r>
            <a:r>
              <a:rPr lang="en-GB" dirty="0" err="1"/>
              <a:t>NIDAmt</a:t>
            </a:r>
            <a:r>
              <a:rPr lang="en-GB" dirty="0"/>
              <a:t> – Self-employment: How much National Insurance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was deducted last time?)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Dvownamt</a:t>
            </a:r>
            <a:r>
              <a:rPr lang="en-GB" dirty="0"/>
              <a:t>  Derived from </a:t>
            </a:r>
            <a:r>
              <a:rPr lang="en-GB" dirty="0" err="1"/>
              <a:t>OwnAmt</a:t>
            </a:r>
            <a:r>
              <a:rPr lang="en-GB" dirty="0"/>
              <a:t> to give a weekly amount -(</a:t>
            </a:r>
            <a:r>
              <a:rPr lang="en-GB" dirty="0" err="1"/>
              <a:t>OwnAmt</a:t>
            </a:r>
            <a:r>
              <a:rPr lang="en-GB" dirty="0"/>
              <a:t> -Thinking of the last 12 months, on average how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much did you take each month for these non-business purposes?)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Dvownot</a:t>
            </a:r>
            <a:r>
              <a:rPr lang="en-GB" dirty="0"/>
              <a:t>  Derived from </a:t>
            </a:r>
            <a:r>
              <a:rPr lang="en-GB" dirty="0" err="1"/>
              <a:t>OwnOtAmt</a:t>
            </a:r>
            <a:r>
              <a:rPr lang="en-GB" dirty="0"/>
              <a:t> to give a weekly amount– (</a:t>
            </a:r>
            <a:r>
              <a:rPr lang="en-GB" dirty="0" err="1"/>
              <a:t>OwnOtAmt</a:t>
            </a:r>
            <a:r>
              <a:rPr lang="en-GB" dirty="0"/>
              <a:t> -On average, how much is that each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month?)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Dvprbef</a:t>
            </a:r>
            <a:r>
              <a:rPr lang="en-GB" dirty="0"/>
              <a:t>   Derived from </a:t>
            </a:r>
            <a:r>
              <a:rPr lang="en-GB" dirty="0" err="1"/>
              <a:t>PrBefore</a:t>
            </a:r>
            <a:r>
              <a:rPr lang="en-GB" dirty="0"/>
              <a:t> to give a weekly amount -(</a:t>
            </a:r>
            <a:r>
              <a:rPr lang="en-GB" dirty="0" err="1"/>
              <a:t>PrBefore</a:t>
            </a:r>
            <a:r>
              <a:rPr lang="en-GB" dirty="0"/>
              <a:t> -What was (the respondent’s share of) the     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profit before tax?)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DvProf</a:t>
            </a:r>
            <a:r>
              <a:rPr lang="en-GB" dirty="0"/>
              <a:t>  Derived from Profit2 to give a weekly amount –(Profit2 -Profit/loss amount)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Dvseinc</a:t>
            </a:r>
            <a:r>
              <a:rPr lang="en-GB" dirty="0"/>
              <a:t>  Derived from </a:t>
            </a:r>
            <a:r>
              <a:rPr lang="en-GB" dirty="0" err="1"/>
              <a:t>SeInc</a:t>
            </a:r>
            <a:r>
              <a:rPr lang="en-GB" dirty="0"/>
              <a:t> to give a weekly amount -(</a:t>
            </a:r>
            <a:r>
              <a:rPr lang="en-GB" dirty="0" err="1"/>
              <a:t>SeInc</a:t>
            </a:r>
            <a:r>
              <a:rPr lang="en-GB" dirty="0"/>
              <a:t> -On average, what is the respondent’s weekly or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monthly income from this job/business over the last 12 months (after paying for any materials, equipment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or goods that the respondent use(d) in their work)?)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Dvtaxd</a:t>
            </a:r>
            <a:r>
              <a:rPr lang="en-GB" dirty="0"/>
              <a:t>  Derived from </a:t>
            </a:r>
            <a:r>
              <a:rPr lang="en-GB" dirty="0" err="1"/>
              <a:t>TaxDAmt</a:t>
            </a:r>
            <a:r>
              <a:rPr lang="en-GB" dirty="0"/>
              <a:t> to give a weekly amount -(</a:t>
            </a:r>
            <a:r>
              <a:rPr lang="en-GB" dirty="0" err="1"/>
              <a:t>TaxDAmt</a:t>
            </a:r>
            <a:r>
              <a:rPr lang="en-GB" dirty="0"/>
              <a:t> -How much Income tax was deducted last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time?)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Ownsum</a:t>
            </a:r>
            <a:r>
              <a:rPr lang="en-GB" dirty="0"/>
              <a:t>  Is money drawn from work account for any non-business purposes?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Yes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No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Profit1 What was the profit/loss amount?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Profit2 Does Profit1 refer to profit or loss?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 Profit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2 Loss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Proftax</a:t>
            </a:r>
            <a:r>
              <a:rPr lang="en-GB" dirty="0"/>
              <a:t>  Is the figure before deduction of income tax?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Before tax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After tax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Workacc</a:t>
            </a:r>
            <a:r>
              <a:rPr lang="en-GB" dirty="0"/>
              <a:t>  Is there a separate bank or building society accounts for work and private finances?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Yes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No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Xp047 Temporary variable used in calculations – Main or only occupation: Self employed – amount of gross income.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This temporary variable is used to calculate and store the total amount of Income tax and National Insurance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paid by the respondent; this is used later in the routing.</a:t>
            </a:r>
          </a:p>
        </p:txBody>
      </p:sp>
    </p:spTree>
    <p:extLst>
      <p:ext uri="{BB962C8B-B14F-4D97-AF65-F5344CB8AC3E}">
        <p14:creationId xmlns:p14="http://schemas.microsoft.com/office/powerpoint/2010/main" val="3567462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A6A3A-14C6-E724-6E85-DC20FD1C5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2F7B7-3E5F-BD30-AD80-6CCC4448F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84" y="377586"/>
            <a:ext cx="8543925" cy="434095"/>
          </a:xfrm>
        </p:spPr>
        <p:txBody>
          <a:bodyPr>
            <a:normAutofit/>
          </a:bodyPr>
          <a:lstStyle/>
          <a:p>
            <a:r>
              <a:rPr lang="en-GB" sz="1600" dirty="0"/>
              <a:t>P076 S/E NI contributions paid last 12 months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25889C-F481-1A51-C27F-F3C040FEF09C}"/>
              </a:ext>
            </a:extLst>
          </p:cNvPr>
          <p:cNvSpPr/>
          <p:nvPr/>
        </p:nvSpPr>
        <p:spPr>
          <a:xfrm>
            <a:off x="370570" y="1060368"/>
            <a:ext cx="952066" cy="476033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E8E60F5-C4D1-7865-56E2-0C5C56417729}"/>
              </a:ext>
            </a:extLst>
          </p:cNvPr>
          <p:cNvSpPr/>
          <p:nvPr/>
        </p:nvSpPr>
        <p:spPr>
          <a:xfrm>
            <a:off x="8954609" y="1010384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D808E9-BE58-66DC-1E57-D8AE9309FA7D}"/>
              </a:ext>
            </a:extLst>
          </p:cNvPr>
          <p:cNvSpPr/>
          <p:nvPr/>
        </p:nvSpPr>
        <p:spPr>
          <a:xfrm>
            <a:off x="3092013" y="2094201"/>
            <a:ext cx="1047273" cy="3824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DVNIDB &gt;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72FD9E-85B4-7BD2-8354-A08949F5D4A2}"/>
              </a:ext>
            </a:extLst>
          </p:cNvPr>
          <p:cNvSpPr/>
          <p:nvPr/>
        </p:nvSpPr>
        <p:spPr>
          <a:xfrm>
            <a:off x="5132813" y="2094201"/>
            <a:ext cx="1047273" cy="3824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DVSENIB &gt; 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4A5D2E-15A6-2E03-F537-550C7EB525A3}"/>
              </a:ext>
            </a:extLst>
          </p:cNvPr>
          <p:cNvSpPr/>
          <p:nvPr/>
        </p:nvSpPr>
        <p:spPr>
          <a:xfrm>
            <a:off x="7146316" y="2094201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Dvsenii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797BB1-1092-1E33-6A08-FCD54CB93ADE}"/>
              </a:ext>
            </a:extLst>
          </p:cNvPr>
          <p:cNvSpPr/>
          <p:nvPr/>
        </p:nvSpPr>
        <p:spPr>
          <a:xfrm>
            <a:off x="1832096" y="1103222"/>
            <a:ext cx="826447" cy="3903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P076 = 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C0EC9A-E4EB-462B-FF9A-0D7004EAC47C}"/>
              </a:ext>
            </a:extLst>
          </p:cNvPr>
          <p:cNvSpPr/>
          <p:nvPr/>
        </p:nvSpPr>
        <p:spPr>
          <a:xfrm>
            <a:off x="3201649" y="1103984"/>
            <a:ext cx="828000" cy="388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CheckNI</a:t>
            </a:r>
            <a:r>
              <a:rPr lang="en-GB" sz="1000" b="1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9B4AAC-9DAD-CFEA-1CB6-56862C41474E}"/>
              </a:ext>
            </a:extLst>
          </p:cNvPr>
          <p:cNvSpPr/>
          <p:nvPr/>
        </p:nvSpPr>
        <p:spPr>
          <a:xfrm>
            <a:off x="5242449" y="1103984"/>
            <a:ext cx="828000" cy="388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SeniregB</a:t>
            </a:r>
            <a:r>
              <a:rPr lang="en-GB" sz="1000" b="1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9C8A6B-1E49-8425-8327-61B75EF9C45B}"/>
              </a:ext>
            </a:extLst>
          </p:cNvPr>
          <p:cNvSpPr/>
          <p:nvPr/>
        </p:nvSpPr>
        <p:spPr>
          <a:xfrm>
            <a:off x="7255952" y="1103984"/>
            <a:ext cx="8280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Seniinc</a:t>
            </a:r>
            <a:r>
              <a:rPr lang="en-GB" sz="1000" b="1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B8B191-222A-9C37-E0A4-6FD7F6D3CACD}"/>
              </a:ext>
            </a:extLst>
          </p:cNvPr>
          <p:cNvSpPr/>
          <p:nvPr/>
        </p:nvSpPr>
        <p:spPr>
          <a:xfrm>
            <a:off x="3165649" y="3095077"/>
            <a:ext cx="900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P076 = P076 + DVNIDB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565FB0-B7A5-CF05-8BE0-54A6274B0201}"/>
              </a:ext>
            </a:extLst>
          </p:cNvPr>
          <p:cNvSpPr/>
          <p:nvPr/>
        </p:nvSpPr>
        <p:spPr>
          <a:xfrm>
            <a:off x="5206449" y="3095077"/>
            <a:ext cx="900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P076 = P076 + DVSENIB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3C0DF-3ABE-B87D-9F4D-FCD354E483C3}"/>
              </a:ext>
            </a:extLst>
          </p:cNvPr>
          <p:cNvSpPr/>
          <p:nvPr/>
        </p:nvSpPr>
        <p:spPr>
          <a:xfrm>
            <a:off x="7219952" y="3095077"/>
            <a:ext cx="900000" cy="4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P076 = P076 + DVSENII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F6C3B5-A855-0EFF-53EF-92820927B267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>
            <a:off x="1322636" y="1298385"/>
            <a:ext cx="509460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570CD16-0987-FC0F-3E56-1A2CD10C1C5D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2658543" y="1298384"/>
            <a:ext cx="543106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299C95-32C6-7541-70D2-DC9FB4BF3A66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4029649" y="1298384"/>
            <a:ext cx="121280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69392C-9950-8C88-2C61-DCE7D695B069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6070449" y="1298384"/>
            <a:ext cx="118550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3398AE-9EE4-08A3-0784-F688EC45A73E}"/>
              </a:ext>
            </a:extLst>
          </p:cNvPr>
          <p:cNvCxnSpPr>
            <a:cxnSpLocks/>
            <a:stCxn id="15" idx="3"/>
            <a:endCxn id="6" idx="2"/>
          </p:cNvCxnSpPr>
          <p:nvPr/>
        </p:nvCxnSpPr>
        <p:spPr>
          <a:xfrm>
            <a:off x="8083952" y="1298384"/>
            <a:ext cx="87065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B742FF0-6633-A070-D8FC-9DE6E9F3192F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4139286" y="2285434"/>
            <a:ext cx="99352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2130C88-5F35-A4E6-63EE-1DED304F1C3E}"/>
              </a:ext>
            </a:extLst>
          </p:cNvPr>
          <p:cNvCxnSpPr>
            <a:cxnSpLocks/>
          </p:cNvCxnSpPr>
          <p:nvPr/>
        </p:nvCxnSpPr>
        <p:spPr>
          <a:xfrm flipV="1">
            <a:off x="6652372" y="1379331"/>
            <a:ext cx="0" cy="19317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62685F8-893E-32F5-DDD2-E64B5E342D9A}"/>
              </a:ext>
            </a:extLst>
          </p:cNvPr>
          <p:cNvCxnSpPr>
            <a:cxnSpLocks/>
            <a:stCxn id="13" idx="2"/>
            <a:endCxn id="9" idx="0"/>
          </p:cNvCxnSpPr>
          <p:nvPr/>
        </p:nvCxnSpPr>
        <p:spPr>
          <a:xfrm>
            <a:off x="3615649" y="1492784"/>
            <a:ext cx="1" cy="601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A8F611-EF36-CBD5-486A-E6AA2D9AE3D7}"/>
              </a:ext>
            </a:extLst>
          </p:cNvPr>
          <p:cNvCxnSpPr>
            <a:cxnSpLocks/>
            <a:stCxn id="14" idx="2"/>
            <a:endCxn id="10" idx="0"/>
          </p:cNvCxnSpPr>
          <p:nvPr/>
        </p:nvCxnSpPr>
        <p:spPr>
          <a:xfrm>
            <a:off x="5656449" y="1492784"/>
            <a:ext cx="1" cy="601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BB424A-5627-6C8A-3437-031E0FA317EE}"/>
              </a:ext>
            </a:extLst>
          </p:cNvPr>
          <p:cNvCxnSpPr>
            <a:cxnSpLocks/>
            <a:stCxn id="15" idx="2"/>
            <a:endCxn id="11" idx="0"/>
          </p:cNvCxnSpPr>
          <p:nvPr/>
        </p:nvCxnSpPr>
        <p:spPr>
          <a:xfrm>
            <a:off x="7669952" y="1492784"/>
            <a:ext cx="1" cy="601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9AA0AC3-D857-87EE-7B4E-0E4FD2296210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flipH="1">
            <a:off x="3615649" y="2476667"/>
            <a:ext cx="1" cy="6184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F45B81D-8F88-E0A3-9CC5-DA5C38E95FD5}"/>
              </a:ext>
            </a:extLst>
          </p:cNvPr>
          <p:cNvCxnSpPr>
            <a:cxnSpLocks/>
            <a:stCxn id="10" idx="2"/>
            <a:endCxn id="18" idx="0"/>
          </p:cNvCxnSpPr>
          <p:nvPr/>
        </p:nvCxnSpPr>
        <p:spPr>
          <a:xfrm flipH="1">
            <a:off x="5656449" y="2476667"/>
            <a:ext cx="1" cy="6184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C33C899-A18F-AC2F-352D-666710ABF9A0}"/>
              </a:ext>
            </a:extLst>
          </p:cNvPr>
          <p:cNvCxnSpPr>
            <a:cxnSpLocks/>
            <a:stCxn id="11" idx="2"/>
            <a:endCxn id="19" idx="0"/>
          </p:cNvCxnSpPr>
          <p:nvPr/>
        </p:nvCxnSpPr>
        <p:spPr>
          <a:xfrm flipH="1">
            <a:off x="7669952" y="2476667"/>
            <a:ext cx="1" cy="6184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251777D-528D-A904-D73C-8E01D63CEC57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6180086" y="2285434"/>
            <a:ext cx="9662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5063365-DE74-101E-4DAE-94093F13266C}"/>
              </a:ext>
            </a:extLst>
          </p:cNvPr>
          <p:cNvCxnSpPr>
            <a:cxnSpLocks/>
          </p:cNvCxnSpPr>
          <p:nvPr/>
        </p:nvCxnSpPr>
        <p:spPr>
          <a:xfrm flipV="1">
            <a:off x="4570327" y="1379331"/>
            <a:ext cx="0" cy="19317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27587CE-9A8E-4FE1-E58F-1399ECADAD63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065649" y="3311077"/>
            <a:ext cx="504678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50A46C2-C24A-E120-FBBC-564E0B26DFCB}"/>
              </a:ext>
            </a:extLst>
          </p:cNvPr>
          <p:cNvCxnSpPr>
            <a:cxnSpLocks/>
          </p:cNvCxnSpPr>
          <p:nvPr/>
        </p:nvCxnSpPr>
        <p:spPr>
          <a:xfrm>
            <a:off x="6106449" y="3311077"/>
            <a:ext cx="545923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FF7D3098-F259-25E2-2402-E06A982652EF}"/>
              </a:ext>
            </a:extLst>
          </p:cNvPr>
          <p:cNvCxnSpPr>
            <a:cxnSpLocks/>
            <a:endCxn id="6" idx="4"/>
          </p:cNvCxnSpPr>
          <p:nvPr/>
        </p:nvCxnSpPr>
        <p:spPr>
          <a:xfrm flipV="1">
            <a:off x="9242609" y="1586384"/>
            <a:ext cx="0" cy="172469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C629EA6-D626-4F70-1F18-4BE8ACDEB03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8119952" y="3311077"/>
            <a:ext cx="1122657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649299C9-644B-C62E-FB60-53E0850A118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193589" y="2285434"/>
            <a:ext cx="9662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2425D227-9B13-F071-7B4A-121C8EEE6E96}"/>
              </a:ext>
            </a:extLst>
          </p:cNvPr>
          <p:cNvSpPr/>
          <p:nvPr/>
        </p:nvSpPr>
        <p:spPr>
          <a:xfrm>
            <a:off x="8954609" y="4106893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913C353-3FF6-06DE-8024-4649FAC8CF9B}"/>
              </a:ext>
            </a:extLst>
          </p:cNvPr>
          <p:cNvSpPr/>
          <p:nvPr/>
        </p:nvSpPr>
        <p:spPr>
          <a:xfrm>
            <a:off x="3092013" y="5190710"/>
            <a:ext cx="1047273" cy="3824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DVNIDB &gt; 0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7A1FA05-B88F-F5B8-483A-9D7DFFA6335C}"/>
              </a:ext>
            </a:extLst>
          </p:cNvPr>
          <p:cNvSpPr/>
          <p:nvPr/>
        </p:nvSpPr>
        <p:spPr>
          <a:xfrm>
            <a:off x="5132813" y="5190710"/>
            <a:ext cx="1047273" cy="3824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DVSENIB &gt; 0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94C0BE7-E0DF-42A3-C6CD-42F73DB1E04C}"/>
              </a:ext>
            </a:extLst>
          </p:cNvPr>
          <p:cNvSpPr/>
          <p:nvPr/>
        </p:nvSpPr>
        <p:spPr>
          <a:xfrm>
            <a:off x="7146316" y="5190710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Dvsenii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C4E9A2A-EE40-AEA9-F0FE-7715D7622290}"/>
              </a:ext>
            </a:extLst>
          </p:cNvPr>
          <p:cNvSpPr/>
          <p:nvPr/>
        </p:nvSpPr>
        <p:spPr>
          <a:xfrm>
            <a:off x="1502912" y="4199731"/>
            <a:ext cx="826447" cy="390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Senilump</a:t>
            </a:r>
            <a:r>
              <a:rPr lang="en-GB" sz="1000" b="1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A0CE66A-6A60-9203-80F2-3E5494F9EFAF}"/>
              </a:ext>
            </a:extLst>
          </p:cNvPr>
          <p:cNvSpPr/>
          <p:nvPr/>
        </p:nvSpPr>
        <p:spPr>
          <a:xfrm>
            <a:off x="3201649" y="4200493"/>
            <a:ext cx="828000" cy="388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CheckNI</a:t>
            </a:r>
            <a:r>
              <a:rPr lang="en-GB" sz="1000" b="1" dirty="0">
                <a:solidFill>
                  <a:schemeClr val="tx1"/>
                </a:solidFill>
              </a:rPr>
              <a:t> =1 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2E3ED88-75C9-A98B-8980-D06827F00D78}"/>
              </a:ext>
            </a:extLst>
          </p:cNvPr>
          <p:cNvSpPr/>
          <p:nvPr/>
        </p:nvSpPr>
        <p:spPr>
          <a:xfrm>
            <a:off x="5242449" y="4200493"/>
            <a:ext cx="828000" cy="388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SeniregB</a:t>
            </a:r>
            <a:r>
              <a:rPr lang="en-GB" sz="1000" b="1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91380EA5-C391-15AA-27AC-77081CC07ED0}"/>
              </a:ext>
            </a:extLst>
          </p:cNvPr>
          <p:cNvSpPr/>
          <p:nvPr/>
        </p:nvSpPr>
        <p:spPr>
          <a:xfrm>
            <a:off x="7255952" y="4200493"/>
            <a:ext cx="8280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Seniinc</a:t>
            </a:r>
            <a:r>
              <a:rPr lang="en-GB" sz="1000" b="1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BC21AA2-0E89-6990-F776-38D6C644DB16}"/>
              </a:ext>
            </a:extLst>
          </p:cNvPr>
          <p:cNvSpPr/>
          <p:nvPr/>
        </p:nvSpPr>
        <p:spPr>
          <a:xfrm>
            <a:off x="3165649" y="6191586"/>
            <a:ext cx="900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P076 = P076 + DVNIDB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5386BB1-ABAF-CF73-F7D3-1A05323E95DD}"/>
              </a:ext>
            </a:extLst>
          </p:cNvPr>
          <p:cNvSpPr/>
          <p:nvPr/>
        </p:nvSpPr>
        <p:spPr>
          <a:xfrm>
            <a:off x="5206449" y="6191586"/>
            <a:ext cx="900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P076 = P076 + DVSENIB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EC468A3-53F9-7CCC-191F-E5B927D89230}"/>
              </a:ext>
            </a:extLst>
          </p:cNvPr>
          <p:cNvSpPr/>
          <p:nvPr/>
        </p:nvSpPr>
        <p:spPr>
          <a:xfrm>
            <a:off x="7219952" y="6191586"/>
            <a:ext cx="900000" cy="4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P076 = P076 + DVSENII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40D3CCA-B8E8-35FC-503D-656D18DFF7B9}"/>
              </a:ext>
            </a:extLst>
          </p:cNvPr>
          <p:cNvCxnSpPr>
            <a:cxnSpLocks/>
            <a:stCxn id="148" idx="6"/>
            <a:endCxn id="120" idx="1"/>
          </p:cNvCxnSpPr>
          <p:nvPr/>
        </p:nvCxnSpPr>
        <p:spPr>
          <a:xfrm>
            <a:off x="920473" y="4394893"/>
            <a:ext cx="582439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CCA2938-936F-9381-610E-ED68E4AD6D08}"/>
              </a:ext>
            </a:extLst>
          </p:cNvPr>
          <p:cNvCxnSpPr>
            <a:cxnSpLocks/>
            <a:stCxn id="120" idx="3"/>
            <a:endCxn id="121" idx="1"/>
          </p:cNvCxnSpPr>
          <p:nvPr/>
        </p:nvCxnSpPr>
        <p:spPr>
          <a:xfrm flipV="1">
            <a:off x="2329359" y="4394893"/>
            <a:ext cx="872290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EB3C523-F89F-4A9F-052D-7D3E932D3C3B}"/>
              </a:ext>
            </a:extLst>
          </p:cNvPr>
          <p:cNvCxnSpPr>
            <a:cxnSpLocks/>
            <a:stCxn id="121" idx="3"/>
            <a:endCxn id="122" idx="1"/>
          </p:cNvCxnSpPr>
          <p:nvPr/>
        </p:nvCxnSpPr>
        <p:spPr>
          <a:xfrm>
            <a:off x="4029649" y="4394893"/>
            <a:ext cx="121280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E196958-B36E-B398-3A4A-C7E38F18A9A7}"/>
              </a:ext>
            </a:extLst>
          </p:cNvPr>
          <p:cNvCxnSpPr>
            <a:cxnSpLocks/>
            <a:stCxn id="122" idx="3"/>
            <a:endCxn id="123" idx="1"/>
          </p:cNvCxnSpPr>
          <p:nvPr/>
        </p:nvCxnSpPr>
        <p:spPr>
          <a:xfrm>
            <a:off x="6070449" y="4394893"/>
            <a:ext cx="118550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ED4E540-5DFB-34E4-5C4A-7DD2DDBA9667}"/>
              </a:ext>
            </a:extLst>
          </p:cNvPr>
          <p:cNvCxnSpPr>
            <a:cxnSpLocks/>
            <a:stCxn id="123" idx="3"/>
            <a:endCxn id="116" idx="2"/>
          </p:cNvCxnSpPr>
          <p:nvPr/>
        </p:nvCxnSpPr>
        <p:spPr>
          <a:xfrm>
            <a:off x="8083952" y="4394893"/>
            <a:ext cx="87065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27CA5E3-03BC-2816-8752-08CF44FE2841}"/>
              </a:ext>
            </a:extLst>
          </p:cNvPr>
          <p:cNvCxnSpPr>
            <a:cxnSpLocks/>
            <a:stCxn id="117" idx="3"/>
            <a:endCxn id="118" idx="1"/>
          </p:cNvCxnSpPr>
          <p:nvPr/>
        </p:nvCxnSpPr>
        <p:spPr>
          <a:xfrm>
            <a:off x="4139286" y="5381943"/>
            <a:ext cx="993527" cy="0"/>
          </a:xfrm>
          <a:prstGeom prst="straightConnector1">
            <a:avLst/>
          </a:prstGeom>
          <a:ln w="28575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10942C2A-F7EE-B3C5-5AA6-5A93CAA70DB0}"/>
              </a:ext>
            </a:extLst>
          </p:cNvPr>
          <p:cNvCxnSpPr>
            <a:cxnSpLocks/>
          </p:cNvCxnSpPr>
          <p:nvPr/>
        </p:nvCxnSpPr>
        <p:spPr>
          <a:xfrm flipV="1">
            <a:off x="6652372" y="4475840"/>
            <a:ext cx="0" cy="19317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1AF1A94E-B02C-9A60-38CB-98D83E46C6E5}"/>
              </a:ext>
            </a:extLst>
          </p:cNvPr>
          <p:cNvCxnSpPr>
            <a:cxnSpLocks/>
            <a:stCxn id="121" idx="2"/>
            <a:endCxn id="117" idx="0"/>
          </p:cNvCxnSpPr>
          <p:nvPr/>
        </p:nvCxnSpPr>
        <p:spPr>
          <a:xfrm>
            <a:off x="3615649" y="4589293"/>
            <a:ext cx="1" cy="601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FB8DD099-B1EE-0852-AB17-726C46E3E0B9}"/>
              </a:ext>
            </a:extLst>
          </p:cNvPr>
          <p:cNvCxnSpPr>
            <a:cxnSpLocks/>
            <a:stCxn id="122" idx="2"/>
            <a:endCxn id="118" idx="0"/>
          </p:cNvCxnSpPr>
          <p:nvPr/>
        </p:nvCxnSpPr>
        <p:spPr>
          <a:xfrm>
            <a:off x="5656449" y="4589293"/>
            <a:ext cx="1" cy="601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F003A02-8982-0773-6D76-89C8E58F049A}"/>
              </a:ext>
            </a:extLst>
          </p:cNvPr>
          <p:cNvCxnSpPr>
            <a:cxnSpLocks/>
            <a:stCxn id="123" idx="2"/>
            <a:endCxn id="119" idx="0"/>
          </p:cNvCxnSpPr>
          <p:nvPr/>
        </p:nvCxnSpPr>
        <p:spPr>
          <a:xfrm>
            <a:off x="7669952" y="4589293"/>
            <a:ext cx="1" cy="601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30834D9-F6C1-31ED-C3D7-B1FBAFBEDBDF}"/>
              </a:ext>
            </a:extLst>
          </p:cNvPr>
          <p:cNvCxnSpPr>
            <a:cxnSpLocks/>
            <a:stCxn id="117" idx="2"/>
            <a:endCxn id="124" idx="0"/>
          </p:cNvCxnSpPr>
          <p:nvPr/>
        </p:nvCxnSpPr>
        <p:spPr>
          <a:xfrm flipH="1">
            <a:off x="3615649" y="5573176"/>
            <a:ext cx="1" cy="6184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43BE464D-797C-F531-5451-04A76BCA708A}"/>
              </a:ext>
            </a:extLst>
          </p:cNvPr>
          <p:cNvCxnSpPr>
            <a:cxnSpLocks/>
            <a:stCxn id="118" idx="2"/>
            <a:endCxn id="125" idx="0"/>
          </p:cNvCxnSpPr>
          <p:nvPr/>
        </p:nvCxnSpPr>
        <p:spPr>
          <a:xfrm flipH="1">
            <a:off x="5656449" y="5573176"/>
            <a:ext cx="1" cy="6184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6F9C6F8E-E4B7-5454-5141-2592021DB869}"/>
              </a:ext>
            </a:extLst>
          </p:cNvPr>
          <p:cNvCxnSpPr>
            <a:cxnSpLocks/>
            <a:stCxn id="119" idx="2"/>
            <a:endCxn id="126" idx="0"/>
          </p:cNvCxnSpPr>
          <p:nvPr/>
        </p:nvCxnSpPr>
        <p:spPr>
          <a:xfrm flipH="1">
            <a:off x="7669952" y="5573176"/>
            <a:ext cx="1" cy="6184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CB77081-33B8-ADCC-F06C-15878D1A466C}"/>
              </a:ext>
            </a:extLst>
          </p:cNvPr>
          <p:cNvCxnSpPr>
            <a:cxnSpLocks/>
            <a:stCxn id="118" idx="3"/>
            <a:endCxn id="119" idx="1"/>
          </p:cNvCxnSpPr>
          <p:nvPr/>
        </p:nvCxnSpPr>
        <p:spPr>
          <a:xfrm>
            <a:off x="6180086" y="5381943"/>
            <a:ext cx="9662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CBA2013-68F4-1A5B-DD98-A52E577C391D}"/>
              </a:ext>
            </a:extLst>
          </p:cNvPr>
          <p:cNvCxnSpPr>
            <a:cxnSpLocks/>
          </p:cNvCxnSpPr>
          <p:nvPr/>
        </p:nvCxnSpPr>
        <p:spPr>
          <a:xfrm flipV="1">
            <a:off x="4570327" y="4475840"/>
            <a:ext cx="0" cy="19317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47ECA2DD-29E0-26B3-54F8-F98488968AAC}"/>
              </a:ext>
            </a:extLst>
          </p:cNvPr>
          <p:cNvCxnSpPr>
            <a:cxnSpLocks/>
            <a:stCxn id="124" idx="3"/>
          </p:cNvCxnSpPr>
          <p:nvPr/>
        </p:nvCxnSpPr>
        <p:spPr>
          <a:xfrm>
            <a:off x="4065649" y="6407586"/>
            <a:ext cx="504678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EA8E3C0-D576-E0DE-710C-393842787111}"/>
              </a:ext>
            </a:extLst>
          </p:cNvPr>
          <p:cNvCxnSpPr>
            <a:cxnSpLocks/>
          </p:cNvCxnSpPr>
          <p:nvPr/>
        </p:nvCxnSpPr>
        <p:spPr>
          <a:xfrm>
            <a:off x="6106449" y="6407586"/>
            <a:ext cx="545923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63F909F0-5989-5250-2732-F0F7896E1733}"/>
              </a:ext>
            </a:extLst>
          </p:cNvPr>
          <p:cNvCxnSpPr>
            <a:cxnSpLocks/>
            <a:endCxn id="116" idx="4"/>
          </p:cNvCxnSpPr>
          <p:nvPr/>
        </p:nvCxnSpPr>
        <p:spPr>
          <a:xfrm flipV="1">
            <a:off x="9242609" y="4682893"/>
            <a:ext cx="0" cy="172469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0F05857C-A42F-77D9-87A1-12C473CBB79E}"/>
              </a:ext>
            </a:extLst>
          </p:cNvPr>
          <p:cNvCxnSpPr>
            <a:cxnSpLocks/>
            <a:stCxn id="126" idx="3"/>
          </p:cNvCxnSpPr>
          <p:nvPr/>
        </p:nvCxnSpPr>
        <p:spPr>
          <a:xfrm>
            <a:off x="8119952" y="6407586"/>
            <a:ext cx="1122657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CEF17D1C-5F7C-E9D2-3BBC-9C324B943E0E}"/>
              </a:ext>
            </a:extLst>
          </p:cNvPr>
          <p:cNvCxnSpPr>
            <a:cxnSpLocks/>
            <a:stCxn id="119" idx="3"/>
          </p:cNvCxnSpPr>
          <p:nvPr/>
        </p:nvCxnSpPr>
        <p:spPr>
          <a:xfrm>
            <a:off x="8193589" y="5381943"/>
            <a:ext cx="9662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E092D392-8E35-5314-8D02-EE6FDE9E8CD8}"/>
              </a:ext>
            </a:extLst>
          </p:cNvPr>
          <p:cNvSpPr/>
          <p:nvPr/>
        </p:nvSpPr>
        <p:spPr>
          <a:xfrm>
            <a:off x="344473" y="4106893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9059342D-97A0-2462-4698-A5A2A20EA36F}"/>
              </a:ext>
            </a:extLst>
          </p:cNvPr>
          <p:cNvSpPr/>
          <p:nvPr/>
        </p:nvSpPr>
        <p:spPr>
          <a:xfrm>
            <a:off x="1392097" y="5177149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Dvsenil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7A0F258-C9AF-5001-4603-C87386DAC0D4}"/>
              </a:ext>
            </a:extLst>
          </p:cNvPr>
          <p:cNvSpPr/>
          <p:nvPr/>
        </p:nvSpPr>
        <p:spPr>
          <a:xfrm>
            <a:off x="1465733" y="6178025"/>
            <a:ext cx="900000" cy="4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P076 = P076 + DVNIDB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9A827EA5-C2F7-945C-A99B-DFF1E5EEB8F3}"/>
              </a:ext>
            </a:extLst>
          </p:cNvPr>
          <p:cNvCxnSpPr>
            <a:cxnSpLocks/>
            <a:endCxn id="150" idx="0"/>
          </p:cNvCxnSpPr>
          <p:nvPr/>
        </p:nvCxnSpPr>
        <p:spPr>
          <a:xfrm>
            <a:off x="1915733" y="4575732"/>
            <a:ext cx="1" cy="601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11A79589-6CAB-C270-A314-8FF542C1843C}"/>
              </a:ext>
            </a:extLst>
          </p:cNvPr>
          <p:cNvCxnSpPr>
            <a:cxnSpLocks/>
            <a:stCxn id="150" idx="2"/>
            <a:endCxn id="151" idx="0"/>
          </p:cNvCxnSpPr>
          <p:nvPr/>
        </p:nvCxnSpPr>
        <p:spPr>
          <a:xfrm flipH="1">
            <a:off x="1915733" y="5559615"/>
            <a:ext cx="1" cy="6184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4E045F7E-0329-C4D1-5E35-163FC1EF52BD}"/>
              </a:ext>
            </a:extLst>
          </p:cNvPr>
          <p:cNvCxnSpPr>
            <a:cxnSpLocks/>
          </p:cNvCxnSpPr>
          <p:nvPr/>
        </p:nvCxnSpPr>
        <p:spPr>
          <a:xfrm flipV="1">
            <a:off x="2870411" y="4462279"/>
            <a:ext cx="0" cy="19317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1C91214D-C39D-8140-432D-11E98F47C27B}"/>
              </a:ext>
            </a:extLst>
          </p:cNvPr>
          <p:cNvCxnSpPr>
            <a:cxnSpLocks/>
            <a:stCxn id="151" idx="3"/>
          </p:cNvCxnSpPr>
          <p:nvPr/>
        </p:nvCxnSpPr>
        <p:spPr>
          <a:xfrm>
            <a:off x="2365733" y="6394025"/>
            <a:ext cx="504678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DED0F844-A2AA-D565-D983-6692233FE619}"/>
              </a:ext>
            </a:extLst>
          </p:cNvPr>
          <p:cNvSpPr txBox="1"/>
          <p:nvPr/>
        </p:nvSpPr>
        <p:spPr>
          <a:xfrm>
            <a:off x="8611329" y="3457286"/>
            <a:ext cx="12442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FLOW CHART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CONTINUED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ON NEXT PAGE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7C794A-14BE-4F7E-03E3-2F1ED71E1F2F}"/>
              </a:ext>
            </a:extLst>
          </p:cNvPr>
          <p:cNvSpPr/>
          <p:nvPr/>
        </p:nvSpPr>
        <p:spPr>
          <a:xfrm>
            <a:off x="308670" y="2245392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1CD2DFE-B814-BC13-3B8C-4852D0595CB1}"/>
              </a:ext>
            </a:extLst>
          </p:cNvPr>
          <p:cNvCxnSpPr>
            <a:cxnSpLocks/>
          </p:cNvCxnSpPr>
          <p:nvPr/>
        </p:nvCxnSpPr>
        <p:spPr>
          <a:xfrm>
            <a:off x="602444" y="2824512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63F58D-08D1-893B-34F2-0656BD8297DF}"/>
              </a:ext>
            </a:extLst>
          </p:cNvPr>
          <p:cNvCxnSpPr>
            <a:cxnSpLocks/>
          </p:cNvCxnSpPr>
          <p:nvPr/>
        </p:nvCxnSpPr>
        <p:spPr>
          <a:xfrm>
            <a:off x="602444" y="3350292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B8BACE1-C5F2-CC40-1092-D6C257290F24}"/>
              </a:ext>
            </a:extLst>
          </p:cNvPr>
          <p:cNvSpPr txBox="1"/>
          <p:nvPr/>
        </p:nvSpPr>
        <p:spPr>
          <a:xfrm>
            <a:off x="728850" y="2432320"/>
            <a:ext cx="425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C23479-556D-AEE3-BC44-076D79EF3199}"/>
              </a:ext>
            </a:extLst>
          </p:cNvPr>
          <p:cNvSpPr txBox="1"/>
          <p:nvPr/>
        </p:nvSpPr>
        <p:spPr>
          <a:xfrm>
            <a:off x="743822" y="2957948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410696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4259E-C854-2F45-3133-762B8EFED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6E721-874E-5DD8-1F72-5B3960C4A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84" y="377586"/>
            <a:ext cx="8543925" cy="434095"/>
          </a:xfrm>
        </p:spPr>
        <p:txBody>
          <a:bodyPr>
            <a:normAutofit/>
          </a:bodyPr>
          <a:lstStyle/>
          <a:p>
            <a:r>
              <a:rPr lang="en-GB" sz="1600" dirty="0"/>
              <a:t>P076 S/E NI contributions paid last 12 months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54F5BAB-8096-D57D-824B-8E5FB173378B}"/>
              </a:ext>
            </a:extLst>
          </p:cNvPr>
          <p:cNvSpPr/>
          <p:nvPr/>
        </p:nvSpPr>
        <p:spPr>
          <a:xfrm>
            <a:off x="5316598" y="3225433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P076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1C63FA5-8277-9962-AC61-A33B772FF495}"/>
              </a:ext>
            </a:extLst>
          </p:cNvPr>
          <p:cNvSpPr/>
          <p:nvPr/>
        </p:nvSpPr>
        <p:spPr>
          <a:xfrm>
            <a:off x="3727497" y="2234454"/>
            <a:ext cx="826447" cy="390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Senilump</a:t>
            </a:r>
            <a:r>
              <a:rPr lang="en-GB" sz="1000" b="1" dirty="0">
                <a:solidFill>
                  <a:schemeClr val="tx1"/>
                </a:solidFill>
              </a:rPr>
              <a:t> = 1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1143E51-6FD3-35C3-07BE-02465FD92B61}"/>
              </a:ext>
            </a:extLst>
          </p:cNvPr>
          <p:cNvSpPr/>
          <p:nvPr/>
        </p:nvSpPr>
        <p:spPr>
          <a:xfrm>
            <a:off x="5426234" y="2235216"/>
            <a:ext cx="8280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P076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DEA8C1EB-A89B-8C8E-C6AD-F4DC15F69427}"/>
              </a:ext>
            </a:extLst>
          </p:cNvPr>
          <p:cNvCxnSpPr>
            <a:cxnSpLocks/>
            <a:stCxn id="148" idx="6"/>
            <a:endCxn id="120" idx="1"/>
          </p:cNvCxnSpPr>
          <p:nvPr/>
        </p:nvCxnSpPr>
        <p:spPr>
          <a:xfrm>
            <a:off x="3145058" y="2429616"/>
            <a:ext cx="582439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1CDF1AB-F9C2-9B1E-802C-B48C02B4F2B1}"/>
              </a:ext>
            </a:extLst>
          </p:cNvPr>
          <p:cNvCxnSpPr>
            <a:cxnSpLocks/>
            <a:stCxn id="120" idx="3"/>
            <a:endCxn id="121" idx="1"/>
          </p:cNvCxnSpPr>
          <p:nvPr/>
        </p:nvCxnSpPr>
        <p:spPr>
          <a:xfrm flipV="1">
            <a:off x="4553944" y="2429616"/>
            <a:ext cx="872290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BC65DBA-9167-B1A2-BCD8-BC30237A4FB2}"/>
              </a:ext>
            </a:extLst>
          </p:cNvPr>
          <p:cNvCxnSpPr>
            <a:cxnSpLocks/>
            <a:stCxn id="150" idx="3"/>
            <a:endCxn id="117" idx="1"/>
          </p:cNvCxnSpPr>
          <p:nvPr/>
        </p:nvCxnSpPr>
        <p:spPr>
          <a:xfrm>
            <a:off x="4663955" y="3403105"/>
            <a:ext cx="65264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22E63EF2-F515-7C95-4597-9A8F3840FC0F}"/>
              </a:ext>
            </a:extLst>
          </p:cNvPr>
          <p:cNvSpPr/>
          <p:nvPr/>
        </p:nvSpPr>
        <p:spPr>
          <a:xfrm>
            <a:off x="2569058" y="2141616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F9A437B-31C0-7499-BB46-3EBF1E5F4612}"/>
              </a:ext>
            </a:extLst>
          </p:cNvPr>
          <p:cNvSpPr/>
          <p:nvPr/>
        </p:nvSpPr>
        <p:spPr>
          <a:xfrm>
            <a:off x="3616682" y="3211872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Dvsenil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0ABDEEF-117C-7B7B-6D6F-7D769473DCE8}"/>
              </a:ext>
            </a:extLst>
          </p:cNvPr>
          <p:cNvSpPr/>
          <p:nvPr/>
        </p:nvSpPr>
        <p:spPr>
          <a:xfrm>
            <a:off x="3690318" y="4212748"/>
            <a:ext cx="900000" cy="4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P076 = P076 + DVSENIL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A226D509-8A06-388D-2FD8-B5448F2351FB}"/>
              </a:ext>
            </a:extLst>
          </p:cNvPr>
          <p:cNvCxnSpPr>
            <a:cxnSpLocks/>
            <a:endCxn id="150" idx="0"/>
          </p:cNvCxnSpPr>
          <p:nvPr/>
        </p:nvCxnSpPr>
        <p:spPr>
          <a:xfrm>
            <a:off x="4140318" y="2610455"/>
            <a:ext cx="1" cy="601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95226629-44BE-7511-C54C-72789A8FA308}"/>
              </a:ext>
            </a:extLst>
          </p:cNvPr>
          <p:cNvCxnSpPr>
            <a:cxnSpLocks/>
            <a:stCxn id="150" idx="2"/>
            <a:endCxn id="151" idx="0"/>
          </p:cNvCxnSpPr>
          <p:nvPr/>
        </p:nvCxnSpPr>
        <p:spPr>
          <a:xfrm flipH="1">
            <a:off x="4140318" y="3594338"/>
            <a:ext cx="1" cy="6184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D5FCF5C-04E3-0BA3-E021-BC70FCBBD00E}"/>
              </a:ext>
            </a:extLst>
          </p:cNvPr>
          <p:cNvSpPr/>
          <p:nvPr/>
        </p:nvSpPr>
        <p:spPr>
          <a:xfrm>
            <a:off x="8418062" y="5280199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D4998E-C984-78B4-9DB4-EEAE22D1913B}"/>
              </a:ext>
            </a:extLst>
          </p:cNvPr>
          <p:cNvCxnSpPr>
            <a:cxnSpLocks/>
          </p:cNvCxnSpPr>
          <p:nvPr/>
        </p:nvCxnSpPr>
        <p:spPr>
          <a:xfrm>
            <a:off x="8711836" y="585931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383B54-2385-4710-0FA3-0E9ABEB4044C}"/>
              </a:ext>
            </a:extLst>
          </p:cNvPr>
          <p:cNvCxnSpPr>
            <a:cxnSpLocks/>
          </p:cNvCxnSpPr>
          <p:nvPr/>
        </p:nvCxnSpPr>
        <p:spPr>
          <a:xfrm>
            <a:off x="8711836" y="638509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36EFB4B-6D80-BBA6-D972-C09D403947C7}"/>
              </a:ext>
            </a:extLst>
          </p:cNvPr>
          <p:cNvSpPr txBox="1"/>
          <p:nvPr/>
        </p:nvSpPr>
        <p:spPr>
          <a:xfrm>
            <a:off x="8838242" y="5467127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49EAA0-7826-7FE6-FDB5-3D3D38901EA8}"/>
              </a:ext>
            </a:extLst>
          </p:cNvPr>
          <p:cNvSpPr txBox="1"/>
          <p:nvPr/>
        </p:nvSpPr>
        <p:spPr>
          <a:xfrm>
            <a:off x="8853214" y="5992755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419932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58259-7FD3-4D65-FC01-0AD767A51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2F06C-E758-3A0B-E7CC-10639AC80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P076 S/E NI contributions paid last 12 months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B9F70-8E14-7454-598A-80A1C1EA5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GB" sz="1600" dirty="0"/>
              <a:t>KEY</a:t>
            </a:r>
          </a:p>
          <a:p>
            <a:pPr>
              <a:spcBef>
                <a:spcPts val="0"/>
              </a:spcBef>
            </a:pPr>
            <a:r>
              <a:rPr lang="en-GB" sz="1600" b="1" dirty="0" err="1"/>
              <a:t>CheckNI</a:t>
            </a:r>
            <a:r>
              <a:rPr lang="en-GB" sz="1600" b="1" dirty="0"/>
              <a:t> - Was your weekly Class 2 National Insurance DEDUCTED from pay AT SOURCE?</a:t>
            </a:r>
            <a:endParaRPr lang="en-GB" sz="1600" dirty="0"/>
          </a:p>
          <a:p>
            <a:pPr>
              <a:spcBef>
                <a:spcPts val="0"/>
              </a:spcBef>
            </a:pPr>
            <a:r>
              <a:rPr lang="en-GB" sz="1600" b="1" dirty="0"/>
              <a:t>DVNIDB - Derived from </a:t>
            </a:r>
            <a:r>
              <a:rPr lang="en-GB" sz="1600" b="1" dirty="0" err="1"/>
              <a:t>NIDAmt</a:t>
            </a:r>
            <a:r>
              <a:rPr lang="en-GB" sz="1600" b="1" dirty="0"/>
              <a:t> to give a weekly amount – (</a:t>
            </a:r>
            <a:r>
              <a:rPr lang="en-GB" sz="1600" b="1" dirty="0" err="1"/>
              <a:t>NIDAmt</a:t>
            </a:r>
            <a:r>
              <a:rPr lang="en-GB" sz="1600" b="1" dirty="0"/>
              <a:t> – Self Employment: How much National Insurance was deducted last time?)</a:t>
            </a:r>
            <a:endParaRPr lang="en-GB" sz="1600" dirty="0"/>
          </a:p>
          <a:p>
            <a:pPr>
              <a:spcBef>
                <a:spcPts val="0"/>
              </a:spcBef>
            </a:pPr>
            <a:r>
              <a:rPr lang="en-GB" sz="1600" dirty="0" err="1"/>
              <a:t>Dvseni</a:t>
            </a:r>
            <a:r>
              <a:rPr lang="en-GB" sz="1600" dirty="0"/>
              <a:t> - Derived from </a:t>
            </a:r>
            <a:r>
              <a:rPr lang="en-GB" sz="1600" dirty="0" err="1"/>
              <a:t>SeNIRAmt</a:t>
            </a:r>
            <a:r>
              <a:rPr lang="en-GB" sz="1600" dirty="0"/>
              <a:t> to give a weekly amount – (</a:t>
            </a:r>
            <a:r>
              <a:rPr lang="en-GB" sz="1600" dirty="0" err="1"/>
              <a:t>SeNIRAmt</a:t>
            </a:r>
            <a:r>
              <a:rPr lang="en-GB" sz="1600" dirty="0"/>
              <a:t> – Self Employment: How much was your last National Insurance payment?)</a:t>
            </a:r>
          </a:p>
          <a:p>
            <a:pPr>
              <a:spcBef>
                <a:spcPts val="0"/>
              </a:spcBef>
            </a:pPr>
            <a:r>
              <a:rPr lang="en-GB" sz="1600" dirty="0" err="1"/>
              <a:t>Dvsenii</a:t>
            </a:r>
            <a:r>
              <a:rPr lang="en-GB" sz="1600" dirty="0"/>
              <a:t> - Derived from </a:t>
            </a:r>
            <a:r>
              <a:rPr lang="en-GB" sz="1600" dirty="0" err="1"/>
              <a:t>SeNIiAmt</a:t>
            </a:r>
            <a:r>
              <a:rPr lang="en-GB" sz="1600" dirty="0"/>
              <a:t> to give a weekly amount – (</a:t>
            </a:r>
            <a:r>
              <a:rPr lang="en-GB" sz="1600" dirty="0" err="1"/>
              <a:t>SeNIiAmt</a:t>
            </a:r>
            <a:r>
              <a:rPr lang="en-GB" sz="1600" dirty="0"/>
              <a:t> – Self Employment: How much was the National insurance lump sum payment?)</a:t>
            </a:r>
          </a:p>
          <a:p>
            <a:pPr>
              <a:spcBef>
                <a:spcPts val="0"/>
              </a:spcBef>
            </a:pPr>
            <a:r>
              <a:rPr lang="en-GB" sz="1600" dirty="0" err="1"/>
              <a:t>Dvsenil</a:t>
            </a:r>
            <a:r>
              <a:rPr lang="en-GB" sz="1600" dirty="0"/>
              <a:t> - Derived from </a:t>
            </a:r>
            <a:r>
              <a:rPr lang="en-GB" sz="1600" dirty="0" err="1"/>
              <a:t>SeNiLAmt</a:t>
            </a:r>
            <a:r>
              <a:rPr lang="en-GB" sz="1600" dirty="0"/>
              <a:t> to give a weekly amount – (</a:t>
            </a:r>
            <a:r>
              <a:rPr lang="en-GB" sz="1600" dirty="0" err="1"/>
              <a:t>SeNiLAmt</a:t>
            </a:r>
            <a:r>
              <a:rPr lang="en-GB" sz="1600" dirty="0"/>
              <a:t> – </a:t>
            </a:r>
            <a:r>
              <a:rPr lang="en-GB" sz="1600" dirty="0" err="1"/>
              <a:t>Selft</a:t>
            </a:r>
            <a:r>
              <a:rPr lang="en-GB" sz="1600" dirty="0"/>
              <a:t> Employment: What was your total lump sum payment in the last 12 months?)</a:t>
            </a:r>
          </a:p>
          <a:p>
            <a:pPr>
              <a:spcBef>
                <a:spcPts val="0"/>
              </a:spcBef>
            </a:pPr>
            <a:r>
              <a:rPr lang="en-GB" sz="1600" b="1" dirty="0" err="1"/>
              <a:t>SeniregB</a:t>
            </a:r>
            <a:r>
              <a:rPr lang="en-GB" sz="1600" b="1" dirty="0"/>
              <a:t> - Do you pay a regular National Insurance contribution in connection with this job?</a:t>
            </a:r>
            <a:endParaRPr lang="en-GB" sz="1600" dirty="0"/>
          </a:p>
          <a:p>
            <a:pPr>
              <a:spcBef>
                <a:spcPts val="0"/>
              </a:spcBef>
            </a:pPr>
            <a:r>
              <a:rPr lang="en-GB" sz="1600" b="1" dirty="0"/>
              <a:t>1 - Yes</a:t>
            </a:r>
            <a:endParaRPr lang="en-GB" sz="1600" dirty="0"/>
          </a:p>
          <a:p>
            <a:pPr>
              <a:spcBef>
                <a:spcPts val="0"/>
              </a:spcBef>
            </a:pPr>
            <a:r>
              <a:rPr lang="en-GB" sz="1600" b="1" dirty="0"/>
              <a:t>2 - No</a:t>
            </a:r>
            <a:endParaRPr lang="en-GB" sz="1600" dirty="0"/>
          </a:p>
          <a:p>
            <a:pPr>
              <a:spcBef>
                <a:spcPts val="0"/>
              </a:spcBef>
            </a:pPr>
            <a:r>
              <a:rPr lang="en-GB" sz="1600" dirty="0" err="1"/>
              <a:t>Seniinc</a:t>
            </a:r>
            <a:r>
              <a:rPr lang="en-GB" sz="1600" dirty="0"/>
              <a:t> - Does that figure include a LUMP SUM (Class 4) National Insurance contribution based on taxable profits?</a:t>
            </a:r>
          </a:p>
          <a:p>
            <a:pPr>
              <a:spcBef>
                <a:spcPts val="0"/>
              </a:spcBef>
            </a:pPr>
            <a:r>
              <a:rPr lang="en-GB" sz="1600" dirty="0"/>
              <a:t>1 - Yes</a:t>
            </a:r>
          </a:p>
          <a:p>
            <a:pPr>
              <a:spcBef>
                <a:spcPts val="0"/>
              </a:spcBef>
            </a:pPr>
            <a:r>
              <a:rPr lang="en-GB" sz="1600" dirty="0"/>
              <a:t>2 - No</a:t>
            </a:r>
          </a:p>
          <a:p>
            <a:pPr>
              <a:spcBef>
                <a:spcPts val="0"/>
              </a:spcBef>
            </a:pPr>
            <a:r>
              <a:rPr lang="en-GB" sz="1600" dirty="0" err="1"/>
              <a:t>Senilump</a:t>
            </a:r>
            <a:r>
              <a:rPr lang="en-GB" sz="1600" dirty="0"/>
              <a:t> - In the last 12 months have you paid any lump sum NI contributions based on taxable profits?</a:t>
            </a:r>
          </a:p>
          <a:p>
            <a:pPr>
              <a:spcBef>
                <a:spcPts val="0"/>
              </a:spcBef>
            </a:pPr>
            <a:r>
              <a:rPr lang="en-GB" sz="1600" dirty="0"/>
              <a:t>1 - Yes</a:t>
            </a:r>
          </a:p>
          <a:p>
            <a:pPr>
              <a:spcBef>
                <a:spcPts val="0"/>
              </a:spcBef>
            </a:pPr>
            <a:r>
              <a:rPr lang="en-GB" sz="1600" dirty="0"/>
              <a:t>2 - No</a:t>
            </a:r>
          </a:p>
          <a:p>
            <a:pPr>
              <a:spcBef>
                <a:spcPts val="0"/>
              </a:spcBef>
            </a:pPr>
            <a:r>
              <a:rPr lang="en-GB" sz="1600" dirty="0" err="1"/>
              <a:t>SeNIRAmt</a:t>
            </a:r>
            <a:r>
              <a:rPr lang="en-GB" sz="1600" dirty="0"/>
              <a:t> - Self-Employment: How much was your last National Insurance payment?</a:t>
            </a:r>
          </a:p>
          <a:p>
            <a:pPr>
              <a:spcBef>
                <a:spcPts val="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2165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F98CC-A23E-0C64-A36F-77A8F75F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EA6A-02B9-B4CD-4557-5C676073F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1600" dirty="0"/>
              <a:t>B391H Self-employed – tax paid last 12 months (household)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BDE579-69F4-F6EC-2596-28AF756B4ABB}"/>
              </a:ext>
            </a:extLst>
          </p:cNvPr>
          <p:cNvSpPr/>
          <p:nvPr/>
        </p:nvSpPr>
        <p:spPr>
          <a:xfrm>
            <a:off x="264389" y="2254089"/>
            <a:ext cx="786832" cy="476033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BCFBDC-BF3D-F9E8-8AC4-E7089A267DE7}"/>
              </a:ext>
            </a:extLst>
          </p:cNvPr>
          <p:cNvSpPr/>
          <p:nvPr/>
        </p:nvSpPr>
        <p:spPr>
          <a:xfrm>
            <a:off x="1438578" y="2296943"/>
            <a:ext cx="826447" cy="390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B391h =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967E7D-A66F-C4DB-D59C-1CB83BC40FC2}"/>
              </a:ext>
            </a:extLst>
          </p:cNvPr>
          <p:cNvSpPr/>
          <p:nvPr/>
        </p:nvSpPr>
        <p:spPr>
          <a:xfrm>
            <a:off x="2808131" y="2297705"/>
            <a:ext cx="828000" cy="388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ChecktaxB</a:t>
            </a:r>
            <a:r>
              <a:rPr lang="en-GB" sz="1000" b="1" dirty="0">
                <a:solidFill>
                  <a:schemeClr val="tx1"/>
                </a:solidFill>
              </a:rPr>
              <a:t> = TESTAX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955AAC-1121-C912-6724-CCF75CB54F9D}"/>
              </a:ext>
            </a:extLst>
          </p:cNvPr>
          <p:cNvSpPr/>
          <p:nvPr/>
        </p:nvSpPr>
        <p:spPr>
          <a:xfrm>
            <a:off x="4357610" y="2297705"/>
            <a:ext cx="8280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Setax</a:t>
            </a:r>
            <a:r>
              <a:rPr lang="en-GB" sz="1000" b="1" dirty="0">
                <a:solidFill>
                  <a:schemeClr val="tx1"/>
                </a:solidFill>
              </a:rPr>
              <a:t> = Yes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8FA90C-7A72-3F62-9CF2-4719DFA551FE}"/>
              </a:ext>
            </a:extLst>
          </p:cNvPr>
          <p:cNvSpPr/>
          <p:nvPr/>
        </p:nvSpPr>
        <p:spPr>
          <a:xfrm>
            <a:off x="5893436" y="2297705"/>
            <a:ext cx="828000" cy="388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ChecktaxB</a:t>
            </a:r>
            <a:r>
              <a:rPr lang="en-GB" sz="1000" b="1" dirty="0">
                <a:solidFill>
                  <a:schemeClr val="tx1"/>
                </a:solidFill>
              </a:rPr>
              <a:t> = YESTAX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5D4DFD-BF5F-81C9-D9BF-B4FE79FB50B1}"/>
              </a:ext>
            </a:extLst>
          </p:cNvPr>
          <p:cNvSpPr/>
          <p:nvPr/>
        </p:nvSpPr>
        <p:spPr>
          <a:xfrm>
            <a:off x="2772131" y="3306159"/>
            <a:ext cx="900000" cy="4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B391h = b391 + </a:t>
            </a:r>
            <a:r>
              <a:rPr lang="en-GB" sz="1000" b="1" dirty="0" err="1">
                <a:solidFill>
                  <a:schemeClr val="tx1"/>
                </a:solidFill>
              </a:rPr>
              <a:t>Dvtaxd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7B447E-92F0-FD50-7875-6FBF1E6E2FC3}"/>
              </a:ext>
            </a:extLst>
          </p:cNvPr>
          <p:cNvSpPr/>
          <p:nvPr/>
        </p:nvSpPr>
        <p:spPr>
          <a:xfrm>
            <a:off x="4321610" y="3306159"/>
            <a:ext cx="900000" cy="4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B391h = b391h + </a:t>
            </a:r>
            <a:r>
              <a:rPr lang="en-GB" sz="1000" b="1" dirty="0" err="1">
                <a:solidFill>
                  <a:schemeClr val="tx1"/>
                </a:solidFill>
              </a:rPr>
              <a:t>Dvsetax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6D2656-CC00-F62C-50B2-45605B0D963B}"/>
              </a:ext>
            </a:extLst>
          </p:cNvPr>
          <p:cNvSpPr/>
          <p:nvPr/>
        </p:nvSpPr>
        <p:spPr>
          <a:xfrm>
            <a:off x="5857436" y="3306159"/>
            <a:ext cx="900000" cy="4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B391h = b391 + </a:t>
            </a:r>
            <a:r>
              <a:rPr lang="en-GB" sz="1000" b="1" dirty="0" err="1">
                <a:solidFill>
                  <a:schemeClr val="tx1"/>
                </a:solidFill>
              </a:rPr>
              <a:t>Dvtaxd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2CDA73-8480-E6FD-22C3-F4DA7BEEFE71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051221" y="2492106"/>
            <a:ext cx="387357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34124D-25C4-F10B-4AEC-089A2469C35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265025" y="2492105"/>
            <a:ext cx="543106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BFAA09-D242-46FB-0944-257305AD3C2D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636131" y="2492105"/>
            <a:ext cx="721479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2042E9-5673-D9E1-9278-9D5F76142276}"/>
              </a:ext>
            </a:extLst>
          </p:cNvPr>
          <p:cNvCxnSpPr>
            <a:cxnSpLocks/>
          </p:cNvCxnSpPr>
          <p:nvPr/>
        </p:nvCxnSpPr>
        <p:spPr>
          <a:xfrm flipV="1">
            <a:off x="5576463" y="2573052"/>
            <a:ext cx="0" cy="94910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CF539D-F9CD-0DFA-9964-ED9746E84BD0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3222131" y="2686505"/>
            <a:ext cx="0" cy="6196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2361AC-1DF8-2BE7-2BBE-F5EBAC551567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4771610" y="2686505"/>
            <a:ext cx="0" cy="6196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50EE65-94C6-EB65-53E4-A25F23F0970C}"/>
              </a:ext>
            </a:extLst>
          </p:cNvPr>
          <p:cNvCxnSpPr>
            <a:cxnSpLocks/>
          </p:cNvCxnSpPr>
          <p:nvPr/>
        </p:nvCxnSpPr>
        <p:spPr>
          <a:xfrm flipV="1">
            <a:off x="4013033" y="2573052"/>
            <a:ext cx="0" cy="94910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0491E6C-1400-23EB-F5D2-75B41FE74D2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672131" y="3522159"/>
            <a:ext cx="301635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434376-0F53-192F-63CC-4D41971F6111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5221610" y="3522159"/>
            <a:ext cx="32164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DD2DB1B-3771-0006-DBC6-0CB3B8D23AF2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5185610" y="2492105"/>
            <a:ext cx="707826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228DC4-1DBE-C72C-7626-8E395DAE16D7}"/>
              </a:ext>
            </a:extLst>
          </p:cNvPr>
          <p:cNvCxnSpPr>
            <a:cxnSpLocks/>
          </p:cNvCxnSpPr>
          <p:nvPr/>
        </p:nvCxnSpPr>
        <p:spPr>
          <a:xfrm flipV="1">
            <a:off x="7110899" y="2574781"/>
            <a:ext cx="0" cy="94910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B7C742-436C-9E39-848B-9EF3360B30BD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6307436" y="2686505"/>
            <a:ext cx="0" cy="6196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BB67224-A1BA-F8EC-DCC4-536067E0E75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6757436" y="3522159"/>
            <a:ext cx="320258" cy="17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0101A56-1C3B-C60E-63D6-B19D054CF15F}"/>
              </a:ext>
            </a:extLst>
          </p:cNvPr>
          <p:cNvSpPr/>
          <p:nvPr/>
        </p:nvSpPr>
        <p:spPr>
          <a:xfrm>
            <a:off x="7427871" y="2296943"/>
            <a:ext cx="8280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Setax</a:t>
            </a:r>
            <a:r>
              <a:rPr lang="en-GB" sz="1000" b="1" dirty="0">
                <a:solidFill>
                  <a:schemeClr val="tx1"/>
                </a:solidFill>
              </a:rPr>
              <a:t> = Yes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3776796-4F2B-4225-1CAC-3B8E61CA40B4}"/>
              </a:ext>
            </a:extLst>
          </p:cNvPr>
          <p:cNvCxnSpPr>
            <a:cxnSpLocks/>
            <a:stCxn id="8" idx="3"/>
            <a:endCxn id="34" idx="1"/>
          </p:cNvCxnSpPr>
          <p:nvPr/>
        </p:nvCxnSpPr>
        <p:spPr>
          <a:xfrm flipV="1">
            <a:off x="6721436" y="2491343"/>
            <a:ext cx="706435" cy="76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43F6ACE1-570F-40C1-1E6E-1214917C8D14}"/>
              </a:ext>
            </a:extLst>
          </p:cNvPr>
          <p:cNvSpPr/>
          <p:nvPr/>
        </p:nvSpPr>
        <p:spPr>
          <a:xfrm>
            <a:off x="7393262" y="3307623"/>
            <a:ext cx="900000" cy="4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B391h = b391h + </a:t>
            </a:r>
            <a:r>
              <a:rPr lang="en-GB" sz="1000" b="1" dirty="0" err="1">
                <a:solidFill>
                  <a:schemeClr val="tx1"/>
                </a:solidFill>
              </a:rPr>
              <a:t>Dvsetax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E3A58EE-824E-CE11-BA45-DBD65150893B}"/>
              </a:ext>
            </a:extLst>
          </p:cNvPr>
          <p:cNvCxnSpPr>
            <a:cxnSpLocks/>
            <a:stCxn id="34" idx="2"/>
            <a:endCxn id="38" idx="0"/>
          </p:cNvCxnSpPr>
          <p:nvPr/>
        </p:nvCxnSpPr>
        <p:spPr>
          <a:xfrm>
            <a:off x="7841871" y="2685743"/>
            <a:ext cx="1391" cy="6218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61B4F4D-76B0-6297-83CA-21AD545F92F1}"/>
              </a:ext>
            </a:extLst>
          </p:cNvPr>
          <p:cNvSpPr/>
          <p:nvPr/>
        </p:nvSpPr>
        <p:spPr>
          <a:xfrm>
            <a:off x="8622166" y="2291871"/>
            <a:ext cx="8280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b391h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DC5DAD2-D5CC-AD09-9ADB-C30649ECC720}"/>
              </a:ext>
            </a:extLst>
          </p:cNvPr>
          <p:cNvCxnSpPr>
            <a:cxnSpLocks/>
            <a:stCxn id="34" idx="3"/>
            <a:endCxn id="48" idx="1"/>
          </p:cNvCxnSpPr>
          <p:nvPr/>
        </p:nvCxnSpPr>
        <p:spPr>
          <a:xfrm flipV="1">
            <a:off x="8255871" y="2486271"/>
            <a:ext cx="366295" cy="507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1F6B414-F2C1-345E-6DBC-FC6C4C77CE33}"/>
              </a:ext>
            </a:extLst>
          </p:cNvPr>
          <p:cNvSpPr/>
          <p:nvPr/>
        </p:nvSpPr>
        <p:spPr>
          <a:xfrm>
            <a:off x="8418062" y="5280199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4951A9-83EB-9CC1-400B-5B628AF02DDC}"/>
              </a:ext>
            </a:extLst>
          </p:cNvPr>
          <p:cNvCxnSpPr>
            <a:cxnSpLocks/>
          </p:cNvCxnSpPr>
          <p:nvPr/>
        </p:nvCxnSpPr>
        <p:spPr>
          <a:xfrm>
            <a:off x="8711836" y="585931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C762EEE-72F2-BD4C-961E-6652F1BC8C22}"/>
              </a:ext>
            </a:extLst>
          </p:cNvPr>
          <p:cNvCxnSpPr>
            <a:cxnSpLocks/>
          </p:cNvCxnSpPr>
          <p:nvPr/>
        </p:nvCxnSpPr>
        <p:spPr>
          <a:xfrm>
            <a:off x="8711836" y="638509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700B172-F2F5-F488-D9C3-45DA1C5F16B2}"/>
              </a:ext>
            </a:extLst>
          </p:cNvPr>
          <p:cNvSpPr txBox="1"/>
          <p:nvPr/>
        </p:nvSpPr>
        <p:spPr>
          <a:xfrm>
            <a:off x="8838242" y="5467127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0170A9-4321-AC3B-BC7B-2B7CCAB25DB7}"/>
              </a:ext>
            </a:extLst>
          </p:cNvPr>
          <p:cNvSpPr txBox="1"/>
          <p:nvPr/>
        </p:nvSpPr>
        <p:spPr>
          <a:xfrm>
            <a:off x="8853214" y="5992755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711412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CF0D0-7EC8-BFA6-AEB0-9A347F171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BC9ED-2387-50E2-07E1-0CBD2042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B391H Self-employed – tax paid last 12 months (household)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E69D-D0BB-A112-E5F9-A53400558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GB" dirty="0"/>
              <a:t>KEY</a:t>
            </a:r>
          </a:p>
          <a:p>
            <a:pPr>
              <a:spcBef>
                <a:spcPts val="0"/>
              </a:spcBef>
            </a:pPr>
            <a:r>
              <a:rPr lang="en-GB" dirty="0" err="1"/>
              <a:t>ChecktaxB</a:t>
            </a:r>
            <a:r>
              <a:rPr lang="en-GB" dirty="0"/>
              <a:t> - Check - was either income tax, or the respondent's regular National Insurance contribution deducted at source?</a:t>
            </a:r>
          </a:p>
          <a:p>
            <a:pPr>
              <a:spcBef>
                <a:spcPts val="0"/>
              </a:spcBef>
            </a:pPr>
            <a:r>
              <a:rPr lang="en-GB" dirty="0"/>
              <a:t>1 Income tax deducted </a:t>
            </a:r>
          </a:p>
          <a:p>
            <a:pPr>
              <a:spcBef>
                <a:spcPts val="0"/>
              </a:spcBef>
            </a:pPr>
            <a:r>
              <a:rPr lang="en-GB" dirty="0"/>
              <a:t>2 Regular NI deducted</a:t>
            </a:r>
          </a:p>
          <a:p>
            <a:pPr>
              <a:spcBef>
                <a:spcPts val="0"/>
              </a:spcBef>
            </a:pPr>
            <a:r>
              <a:rPr lang="en-GB" dirty="0"/>
              <a:t>3 No, neither deducted</a:t>
            </a:r>
          </a:p>
          <a:p>
            <a:pPr>
              <a:spcBef>
                <a:spcPts val="0"/>
              </a:spcBef>
            </a:pPr>
            <a:r>
              <a:rPr lang="en-GB" dirty="0" err="1"/>
              <a:t>Dvsetax</a:t>
            </a:r>
            <a:r>
              <a:rPr lang="en-GB" dirty="0"/>
              <a:t> - Derived from </a:t>
            </a:r>
            <a:r>
              <a:rPr lang="en-GB" dirty="0" err="1"/>
              <a:t>SeTaxAmt</a:t>
            </a:r>
            <a:r>
              <a:rPr lang="en-GB" dirty="0"/>
              <a:t> to give a weekly amount – (</a:t>
            </a:r>
            <a:r>
              <a:rPr lang="en-GB" dirty="0" err="1"/>
              <a:t>SeTaxAmt</a:t>
            </a:r>
            <a:r>
              <a:rPr lang="en-GB" dirty="0"/>
              <a:t> – Self Employment: How much did the respondent pay altogether in the last 12 months?)</a:t>
            </a:r>
          </a:p>
          <a:p>
            <a:pPr>
              <a:spcBef>
                <a:spcPts val="0"/>
              </a:spcBef>
            </a:pPr>
            <a:r>
              <a:rPr lang="en-GB" dirty="0" err="1"/>
              <a:t>Dvtaxd</a:t>
            </a:r>
            <a:r>
              <a:rPr lang="en-GB" dirty="0"/>
              <a:t> - Derived from </a:t>
            </a:r>
            <a:r>
              <a:rPr lang="en-GB" dirty="0" err="1"/>
              <a:t>TaxDAmt</a:t>
            </a:r>
            <a:r>
              <a:rPr lang="en-GB" dirty="0"/>
              <a:t> to give a weekly amount – (</a:t>
            </a:r>
            <a:r>
              <a:rPr lang="en-GB" dirty="0" err="1"/>
              <a:t>TaxDAmt</a:t>
            </a:r>
            <a:r>
              <a:rPr lang="en-GB" dirty="0"/>
              <a:t> – Self Employment: How much income tax was deducted last time?)</a:t>
            </a:r>
          </a:p>
          <a:p>
            <a:pPr>
              <a:spcBef>
                <a:spcPts val="0"/>
              </a:spcBef>
            </a:pPr>
            <a:r>
              <a:rPr lang="en-GB" dirty="0" err="1"/>
              <a:t>Setax</a:t>
            </a:r>
            <a:r>
              <a:rPr lang="en-GB" dirty="0"/>
              <a:t>  - (Apart from tax deducted at source) Has the respondent made any (other) income tax payments relating to this job/business in the last 12 months?</a:t>
            </a:r>
          </a:p>
          <a:p>
            <a:pPr>
              <a:spcBef>
                <a:spcPts val="0"/>
              </a:spcBef>
            </a:pPr>
            <a:r>
              <a:rPr lang="en-GB" dirty="0"/>
              <a:t>1 Yes</a:t>
            </a:r>
          </a:p>
          <a:p>
            <a:pPr>
              <a:spcBef>
                <a:spcPts val="0"/>
              </a:spcBef>
            </a:pPr>
            <a:r>
              <a:rPr lang="en-GB" dirty="0"/>
              <a:t>2 No</a:t>
            </a:r>
          </a:p>
          <a:p>
            <a:pPr>
              <a:spcBef>
                <a:spcPts val="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4719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52E12-B0B0-527A-5C86-E43F40119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8E108-1B43-C283-F692-0AB50ACFD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B150 Mortgage interest/principal – interest paid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AE8C8-A01C-EFB4-7212-20750E5F9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A8AEE4-EF41-428B-1721-7DF0A56A02AA}"/>
              </a:ext>
            </a:extLst>
          </p:cNvPr>
          <p:cNvSpPr/>
          <p:nvPr/>
        </p:nvSpPr>
        <p:spPr>
          <a:xfrm>
            <a:off x="453187" y="1060368"/>
            <a:ext cx="786832" cy="476033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D90E27-B46A-3BB6-C66F-3C730BF88263}"/>
              </a:ext>
            </a:extLst>
          </p:cNvPr>
          <p:cNvSpPr/>
          <p:nvPr/>
        </p:nvSpPr>
        <p:spPr>
          <a:xfrm>
            <a:off x="1586053" y="1062237"/>
            <a:ext cx="909092" cy="47229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B150 =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70071F-D022-DD4D-36F5-E71C2827AC44}"/>
              </a:ext>
            </a:extLst>
          </p:cNvPr>
          <p:cNvSpPr/>
          <p:nvPr/>
        </p:nvSpPr>
        <p:spPr>
          <a:xfrm>
            <a:off x="2955529" y="1063160"/>
            <a:ext cx="910800" cy="4704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Repay, </a:t>
            </a:r>
            <a:r>
              <a:rPr lang="en-GB" sz="1000" b="1" dirty="0" err="1">
                <a:solidFill>
                  <a:schemeClr val="tx1"/>
                </a:solidFill>
              </a:rPr>
              <a:t>EndRep</a:t>
            </a:r>
            <a:r>
              <a:rPr lang="en-GB" sz="1000" b="1" dirty="0">
                <a:solidFill>
                  <a:schemeClr val="tx1"/>
                </a:solidFill>
              </a:rPr>
              <a:t>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54DCAF-EFBA-C2AC-368C-098EB2BAA00A}"/>
              </a:ext>
            </a:extLst>
          </p:cNvPr>
          <p:cNvSpPr/>
          <p:nvPr/>
        </p:nvSpPr>
        <p:spPr>
          <a:xfrm>
            <a:off x="4505008" y="1063160"/>
            <a:ext cx="910800" cy="4704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DVMORT &gt; 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2087C7-DBB2-4478-9BA5-8DEF1494CF99}"/>
              </a:ext>
            </a:extLst>
          </p:cNvPr>
          <p:cNvSpPr/>
          <p:nvPr/>
        </p:nvSpPr>
        <p:spPr>
          <a:xfrm>
            <a:off x="6040834" y="1063160"/>
            <a:ext cx="910800" cy="4704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1-11 IN </a:t>
            </a:r>
            <a:r>
              <a:rPr lang="en-GB" sz="1000" b="1" dirty="0" err="1">
                <a:solidFill>
                  <a:schemeClr val="tx1"/>
                </a:solidFill>
              </a:rPr>
              <a:t>ResMth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0EB1E-AB55-2BD2-94FA-A02232ADAF3E}"/>
              </a:ext>
            </a:extLst>
          </p:cNvPr>
          <p:cNvSpPr/>
          <p:nvPr/>
        </p:nvSpPr>
        <p:spPr>
          <a:xfrm>
            <a:off x="2915929" y="2067078"/>
            <a:ext cx="990000" cy="5227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B150 = 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5AB155-EE34-0DDA-2994-C0A0A173421E}"/>
              </a:ext>
            </a:extLst>
          </p:cNvPr>
          <p:cNvSpPr/>
          <p:nvPr/>
        </p:nvSpPr>
        <p:spPr>
          <a:xfrm>
            <a:off x="4465408" y="2067078"/>
            <a:ext cx="990000" cy="5227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B150 = 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82BF28-5500-7EC9-B4F6-4A9E5464D8F9}"/>
              </a:ext>
            </a:extLst>
          </p:cNvPr>
          <p:cNvSpPr/>
          <p:nvPr/>
        </p:nvSpPr>
        <p:spPr>
          <a:xfrm>
            <a:off x="6001234" y="2067078"/>
            <a:ext cx="990000" cy="5227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1-11 IN </a:t>
            </a:r>
            <a:r>
              <a:rPr lang="en-GB" sz="1000" b="1" dirty="0" err="1">
                <a:solidFill>
                  <a:schemeClr val="tx1"/>
                </a:solidFill>
              </a:rPr>
              <a:t>ResMth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E6E2683-DA33-DF0A-47EB-CF94AEBF84F2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1240019" y="1298384"/>
            <a:ext cx="346034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DBB8DA5-4C8C-8DD7-5100-7B1327B5B34D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495145" y="1298384"/>
            <a:ext cx="460384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FFA3FE-0C26-49FA-0934-1BEC2463E10A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3866329" y="1298384"/>
            <a:ext cx="638679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6177DA-6BD2-66AD-1538-F6C7E8E1A83C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3410929" y="1533608"/>
            <a:ext cx="0" cy="533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2F8443-DE79-CE7B-1F89-8ADFEA1BA3A0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4960408" y="1533608"/>
            <a:ext cx="0" cy="533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0B1B87-878D-4F20-A140-0A994DCBEC3F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415808" y="1298384"/>
            <a:ext cx="625026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B2C2877-C815-2DEB-27E4-8F0599BA127A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6496234" y="1533608"/>
            <a:ext cx="0" cy="5334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047C751-1129-FDB4-D0A0-392834A2DDFC}"/>
              </a:ext>
            </a:extLst>
          </p:cNvPr>
          <p:cNvSpPr/>
          <p:nvPr/>
        </p:nvSpPr>
        <p:spPr>
          <a:xfrm>
            <a:off x="7575269" y="1062398"/>
            <a:ext cx="910800" cy="4704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XMortYear</a:t>
            </a:r>
            <a:r>
              <a:rPr lang="en-GB" sz="1000" b="1" dirty="0">
                <a:solidFill>
                  <a:schemeClr val="tx1"/>
                </a:solidFill>
              </a:rPr>
              <a:t> = 1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1E2758C-43EC-A94D-F407-D3170A114C6E}"/>
              </a:ext>
            </a:extLst>
          </p:cNvPr>
          <p:cNvCxnSpPr>
            <a:cxnSpLocks/>
            <a:stCxn id="12" idx="3"/>
            <a:endCxn id="29" idx="1"/>
          </p:cNvCxnSpPr>
          <p:nvPr/>
        </p:nvCxnSpPr>
        <p:spPr>
          <a:xfrm flipV="1">
            <a:off x="6951634" y="1297622"/>
            <a:ext cx="623635" cy="76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F18FA18F-D651-AF0E-2E97-B6C90D7BCB88}"/>
              </a:ext>
            </a:extLst>
          </p:cNvPr>
          <p:cNvSpPr/>
          <p:nvPr/>
        </p:nvSpPr>
        <p:spPr>
          <a:xfrm>
            <a:off x="7537060" y="2068542"/>
            <a:ext cx="990000" cy="5227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XmortYear</a:t>
            </a:r>
            <a:r>
              <a:rPr lang="en-GB" sz="1000" b="1" dirty="0">
                <a:solidFill>
                  <a:schemeClr val="tx1"/>
                </a:solidFill>
              </a:rPr>
              <a:t> = Restme2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5AC1449-213C-BB07-3C42-C7F292610924}"/>
              </a:ext>
            </a:extLst>
          </p:cNvPr>
          <p:cNvCxnSpPr>
            <a:cxnSpLocks/>
            <a:endCxn id="53" idx="4"/>
          </p:cNvCxnSpPr>
          <p:nvPr/>
        </p:nvCxnSpPr>
        <p:spPr>
          <a:xfrm flipV="1">
            <a:off x="9208517" y="1589757"/>
            <a:ext cx="0" cy="73868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056DF3A-6EBA-DCBB-BF02-417D4BF1BE7F}"/>
              </a:ext>
            </a:extLst>
          </p:cNvPr>
          <p:cNvCxnSpPr>
            <a:cxnSpLocks/>
            <a:stCxn id="29" idx="3"/>
            <a:endCxn id="53" idx="2"/>
          </p:cNvCxnSpPr>
          <p:nvPr/>
        </p:nvCxnSpPr>
        <p:spPr>
          <a:xfrm>
            <a:off x="8486069" y="1297622"/>
            <a:ext cx="434448" cy="413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E6AD4ED4-09C3-870A-44A2-CAEEA33FE3BE}"/>
              </a:ext>
            </a:extLst>
          </p:cNvPr>
          <p:cNvSpPr/>
          <p:nvPr/>
        </p:nvSpPr>
        <p:spPr>
          <a:xfrm>
            <a:off x="5996996" y="2868870"/>
            <a:ext cx="990000" cy="5227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B150 = 0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5EE15F0-03D9-6C91-D256-E512F5357CE9}"/>
              </a:ext>
            </a:extLst>
          </p:cNvPr>
          <p:cNvCxnSpPr>
            <a:cxnSpLocks/>
            <a:stCxn id="15" idx="2"/>
            <a:endCxn id="38" idx="0"/>
          </p:cNvCxnSpPr>
          <p:nvPr/>
        </p:nvCxnSpPr>
        <p:spPr>
          <a:xfrm flipH="1">
            <a:off x="6491996" y="2589798"/>
            <a:ext cx="4238" cy="2790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CB8AAF4-7384-BA21-B1F1-F75BCB6BDA8D}"/>
              </a:ext>
            </a:extLst>
          </p:cNvPr>
          <p:cNvCxnSpPr>
            <a:cxnSpLocks/>
            <a:stCxn id="15" idx="3"/>
            <a:endCxn id="31" idx="1"/>
          </p:cNvCxnSpPr>
          <p:nvPr/>
        </p:nvCxnSpPr>
        <p:spPr>
          <a:xfrm>
            <a:off x="6991234" y="2328438"/>
            <a:ext cx="545826" cy="146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A8E21B3-680F-EE88-8F3D-7F3147282479}"/>
              </a:ext>
            </a:extLst>
          </p:cNvPr>
          <p:cNvCxnSpPr/>
          <p:nvPr/>
        </p:nvCxnSpPr>
        <p:spPr>
          <a:xfrm>
            <a:off x="8482060" y="2328438"/>
            <a:ext cx="742901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2DF0D26B-2369-58AD-623C-8B8BEB09C9F5}"/>
              </a:ext>
            </a:extLst>
          </p:cNvPr>
          <p:cNvSpPr/>
          <p:nvPr/>
        </p:nvSpPr>
        <p:spPr>
          <a:xfrm>
            <a:off x="629678" y="3902177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CD242A9-D68D-97FA-CE06-D5533C1DB69A}"/>
              </a:ext>
            </a:extLst>
          </p:cNvPr>
          <p:cNvSpPr/>
          <p:nvPr/>
        </p:nvSpPr>
        <p:spPr>
          <a:xfrm>
            <a:off x="8920517" y="1013757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B9E835A-3838-656B-BF09-74E8F2AC88F4}"/>
              </a:ext>
            </a:extLst>
          </p:cNvPr>
          <p:cNvSpPr/>
          <p:nvPr/>
        </p:nvSpPr>
        <p:spPr>
          <a:xfrm>
            <a:off x="1704278" y="3954953"/>
            <a:ext cx="910800" cy="4704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XmortYear</a:t>
            </a:r>
            <a:r>
              <a:rPr lang="en-GB" sz="1000" b="1" dirty="0">
                <a:solidFill>
                  <a:schemeClr val="tx1"/>
                </a:solidFill>
              </a:rPr>
              <a:t> &gt; 25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3EBF719-812F-2194-FF7D-869505CFFC01}"/>
              </a:ext>
            </a:extLst>
          </p:cNvPr>
          <p:cNvSpPr/>
          <p:nvPr/>
        </p:nvSpPr>
        <p:spPr>
          <a:xfrm>
            <a:off x="3176846" y="3954953"/>
            <a:ext cx="910800" cy="4704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XMortYear</a:t>
            </a:r>
            <a:r>
              <a:rPr lang="en-GB" sz="1000" b="1" dirty="0">
                <a:solidFill>
                  <a:schemeClr val="tx1"/>
                </a:solidFill>
              </a:rPr>
              <a:t> = 26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45B4A6A-78B5-9779-7C28-AE21AE86AC7F}"/>
              </a:ext>
            </a:extLst>
          </p:cNvPr>
          <p:cNvSpPr/>
          <p:nvPr/>
        </p:nvSpPr>
        <p:spPr>
          <a:xfrm>
            <a:off x="4645813" y="3954953"/>
            <a:ext cx="989995" cy="4704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B150 = </a:t>
            </a:r>
            <a:r>
              <a:rPr lang="en-GB" sz="1000" b="1" dirty="0" err="1">
                <a:solidFill>
                  <a:schemeClr val="tx1"/>
                </a:solidFill>
              </a:rPr>
              <a:t>DvMort</a:t>
            </a:r>
            <a:r>
              <a:rPr lang="en-GB" sz="1000" b="1" dirty="0">
                <a:solidFill>
                  <a:schemeClr val="tx1"/>
                </a:solidFill>
              </a:rPr>
              <a:t> * </a:t>
            </a:r>
            <a:r>
              <a:rPr lang="en-GB" sz="1000" b="1" dirty="0" err="1">
                <a:solidFill>
                  <a:schemeClr val="tx1"/>
                </a:solidFill>
              </a:rPr>
              <a:t>XmortFactor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217817E-E08D-D844-AF08-FD8C5275B592}"/>
              </a:ext>
            </a:extLst>
          </p:cNvPr>
          <p:cNvSpPr/>
          <p:nvPr/>
        </p:nvSpPr>
        <p:spPr>
          <a:xfrm>
            <a:off x="1664678" y="4806670"/>
            <a:ext cx="990000" cy="5227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XMortYear</a:t>
            </a:r>
            <a:r>
              <a:rPr lang="en-GB" sz="1000" b="1" dirty="0">
                <a:solidFill>
                  <a:schemeClr val="tx1"/>
                </a:solidFill>
              </a:rPr>
              <a:t> = </a:t>
            </a:r>
            <a:r>
              <a:rPr lang="en-GB" sz="1000" b="1" dirty="0" err="1">
                <a:solidFill>
                  <a:schemeClr val="tx1"/>
                </a:solidFill>
              </a:rPr>
              <a:t>XMortYear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98B4FCB-A71E-E4B2-B50F-F1B43F86A14D}"/>
              </a:ext>
            </a:extLst>
          </p:cNvPr>
          <p:cNvCxnSpPr>
            <a:cxnSpLocks/>
            <a:stCxn id="50" idx="6"/>
            <a:endCxn id="57" idx="1"/>
          </p:cNvCxnSpPr>
          <p:nvPr/>
        </p:nvCxnSpPr>
        <p:spPr>
          <a:xfrm>
            <a:off x="1205678" y="4190177"/>
            <a:ext cx="498600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7D3E9A4-DFB0-749A-47DC-BD778E0EB825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>
            <a:off x="2615078" y="4190177"/>
            <a:ext cx="561768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4E39F07-3EA7-271C-05C1-654FFFF833A3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>
            <a:off x="2159678" y="4425401"/>
            <a:ext cx="0" cy="381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51EE11C-8AB6-5AB8-6E08-6F929A774932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4087646" y="4190177"/>
            <a:ext cx="55816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6657DCB-B165-C91D-8592-89BD4D2705B4}"/>
              </a:ext>
            </a:extLst>
          </p:cNvPr>
          <p:cNvCxnSpPr>
            <a:cxnSpLocks/>
          </p:cNvCxnSpPr>
          <p:nvPr/>
        </p:nvCxnSpPr>
        <p:spPr>
          <a:xfrm flipV="1">
            <a:off x="4505949" y="4277360"/>
            <a:ext cx="0" cy="79067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7D8E62E-DD33-4AC6-99CA-13F5E12E430A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2654678" y="5068030"/>
            <a:ext cx="1851271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EAEFE7F-3ECD-F8FC-6808-4AB90D13A834}"/>
              </a:ext>
            </a:extLst>
          </p:cNvPr>
          <p:cNvSpPr/>
          <p:nvPr/>
        </p:nvSpPr>
        <p:spPr>
          <a:xfrm>
            <a:off x="8418062" y="5280199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58EF772-6DD8-089B-EBB0-FCE9765DB18F}"/>
              </a:ext>
            </a:extLst>
          </p:cNvPr>
          <p:cNvCxnSpPr>
            <a:cxnSpLocks/>
          </p:cNvCxnSpPr>
          <p:nvPr/>
        </p:nvCxnSpPr>
        <p:spPr>
          <a:xfrm>
            <a:off x="8711836" y="585931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F0E227A-9DC8-13C7-F09C-FF6450BD290F}"/>
              </a:ext>
            </a:extLst>
          </p:cNvPr>
          <p:cNvCxnSpPr>
            <a:cxnSpLocks/>
          </p:cNvCxnSpPr>
          <p:nvPr/>
        </p:nvCxnSpPr>
        <p:spPr>
          <a:xfrm>
            <a:off x="8711836" y="638509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FE5EB5-6306-7B2C-024D-A55FA3E7E5F2}"/>
              </a:ext>
            </a:extLst>
          </p:cNvPr>
          <p:cNvSpPr txBox="1"/>
          <p:nvPr/>
        </p:nvSpPr>
        <p:spPr>
          <a:xfrm>
            <a:off x="8838242" y="5467127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A6EC76-F491-E4C7-3789-C52EE437DA78}"/>
              </a:ext>
            </a:extLst>
          </p:cNvPr>
          <p:cNvSpPr txBox="1"/>
          <p:nvPr/>
        </p:nvSpPr>
        <p:spPr>
          <a:xfrm>
            <a:off x="8853214" y="5992755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435018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A2C46-577A-C8BE-C93F-3DF7D5A92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4599-687C-2C5D-041D-C6694D52E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B150 Mortgage interest/principal – interest paid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13F2FE-AB64-4AB4-004F-EF6B949417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KEY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DvMort - Derived from MortPay to give a weekly amount – (MortPay – Mortgage: How much was the respondents last payment on this mortgage or loan?)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MortType - What type of mortgage is this?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Endow - An endowment mortgage where mortgage payments cover interest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Repay - A repayment mortgage where mortgage payments cover interest and part of the original loan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Pension - A pension mortgage where mortgage payments cover interest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UTISA - A Unit Trust or ISA mortgage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EndRep - BOTH an endowment (or other interest only) AND a repayment mortgage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IntLink - An interest only mortgage with MORE than one linked investment (e.g. pension and unit trust, endowment and ISA)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IntNoLnk - An interest only mortgage with NO linked investment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Other - Another type (Please specify)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ResMth - How many months has the respondent lived at this address? (Asked if respondent has lived at address for less than a year)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RestMe2 - How many years has the respondent lived at this address?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XMortFactor - Temporary variable, dependent on XMortYear, used to estimate proportion of interest paid in mortgage payment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XMortYear - Temporary variable used to estimate remaining duration of mortgage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196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3AD66-EE9C-1883-882C-49C325BEF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AEA6-5F52-1216-F50C-DFC60E66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B130 Mortgage interest only (last payment)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8E5465-B76E-D787-2AB6-AB8497AE53F3}"/>
              </a:ext>
            </a:extLst>
          </p:cNvPr>
          <p:cNvSpPr/>
          <p:nvPr/>
        </p:nvSpPr>
        <p:spPr>
          <a:xfrm>
            <a:off x="288682" y="2560805"/>
            <a:ext cx="952066" cy="476033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7D0536-27DC-8B6D-6CB5-9D4C7C0561D3}"/>
              </a:ext>
            </a:extLst>
          </p:cNvPr>
          <p:cNvSpPr/>
          <p:nvPr/>
        </p:nvSpPr>
        <p:spPr>
          <a:xfrm>
            <a:off x="8872721" y="2513593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70ADB7-6C88-A127-C830-17B6A986A1DF}"/>
              </a:ext>
            </a:extLst>
          </p:cNvPr>
          <p:cNvSpPr/>
          <p:nvPr/>
        </p:nvSpPr>
        <p:spPr>
          <a:xfrm>
            <a:off x="3030750" y="3704639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B130 = B130 + </a:t>
            </a:r>
            <a:r>
              <a:rPr lang="en-GB" sz="1100" b="1" dirty="0" err="1">
                <a:solidFill>
                  <a:schemeClr val="tx1"/>
                </a:solidFill>
              </a:rPr>
              <a:t>DvMort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4015EE-4BA8-F844-0C04-399B1F57F8C2}"/>
              </a:ext>
            </a:extLst>
          </p:cNvPr>
          <p:cNvSpPr/>
          <p:nvPr/>
        </p:nvSpPr>
        <p:spPr>
          <a:xfrm>
            <a:off x="5050925" y="3704639"/>
            <a:ext cx="1047273" cy="382466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DvWho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DCDE1F-61BA-7ACC-FA83-3A72BEC88765}"/>
              </a:ext>
            </a:extLst>
          </p:cNvPr>
          <p:cNvSpPr/>
          <p:nvPr/>
        </p:nvSpPr>
        <p:spPr>
          <a:xfrm>
            <a:off x="7136428" y="3704639"/>
            <a:ext cx="1047273" cy="382466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DvMen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4EBF6B-2C7D-2B52-5C04-9CE5823D8985}"/>
              </a:ext>
            </a:extLst>
          </p:cNvPr>
          <p:cNvSpPr/>
          <p:nvPr/>
        </p:nvSpPr>
        <p:spPr>
          <a:xfrm>
            <a:off x="1509578" y="2603659"/>
            <a:ext cx="826447" cy="390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B130 =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3B6647-6E32-46BA-591D-C8DEB8EF06FA}"/>
              </a:ext>
            </a:extLst>
          </p:cNvPr>
          <p:cNvSpPr/>
          <p:nvPr/>
        </p:nvSpPr>
        <p:spPr>
          <a:xfrm>
            <a:off x="2808310" y="2503058"/>
            <a:ext cx="1481593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ENDOW, PENSION, UTISA, INTLINK, INTNOLINK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37DBB7-C5F8-E6FE-22D9-ABA46ECA8696}"/>
              </a:ext>
            </a:extLst>
          </p:cNvPr>
          <p:cNvSpPr/>
          <p:nvPr/>
        </p:nvSpPr>
        <p:spPr>
          <a:xfrm>
            <a:off x="4694685" y="2503058"/>
            <a:ext cx="1753097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ENDOW, PENSION, UTISA, INTLINK, INTNOLINK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AND NO IN </a:t>
            </a:r>
            <a:r>
              <a:rPr lang="en-GB" sz="1000" b="1" dirty="0" err="1">
                <a:solidFill>
                  <a:schemeClr val="tx1"/>
                </a:solidFill>
              </a:rPr>
              <a:t>WhoInc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E96A32-CA2D-92CC-7733-2A8F03F273B4}"/>
              </a:ext>
            </a:extLst>
          </p:cNvPr>
          <p:cNvSpPr/>
          <p:nvPr/>
        </p:nvSpPr>
        <p:spPr>
          <a:xfrm>
            <a:off x="6920067" y="2503058"/>
            <a:ext cx="1476353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ENDOW, PENSION, UTISA, INTLINK, INTNOLINK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AND YES IN </a:t>
            </a:r>
            <a:r>
              <a:rPr lang="en-GB" sz="1000" b="1" dirty="0" err="1">
                <a:solidFill>
                  <a:schemeClr val="tx1"/>
                </a:solidFill>
              </a:rPr>
              <a:t>InciNint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1F151-5316-7F99-FE4F-CE7136A4CC97}"/>
              </a:ext>
            </a:extLst>
          </p:cNvPr>
          <p:cNvSpPr/>
          <p:nvPr/>
        </p:nvSpPr>
        <p:spPr>
          <a:xfrm>
            <a:off x="5124561" y="4705515"/>
            <a:ext cx="900000" cy="4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B130 = B130 + </a:t>
            </a:r>
            <a:r>
              <a:rPr lang="en-GB" sz="1000" b="1" dirty="0" err="1">
                <a:solidFill>
                  <a:schemeClr val="tx1"/>
                </a:solidFill>
              </a:rPr>
              <a:t>DvWho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7EC819-74B5-F717-D670-9B3462B6B848}"/>
              </a:ext>
            </a:extLst>
          </p:cNvPr>
          <p:cNvSpPr/>
          <p:nvPr/>
        </p:nvSpPr>
        <p:spPr>
          <a:xfrm>
            <a:off x="7210064" y="4705515"/>
            <a:ext cx="900000" cy="4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B130 = B130 + </a:t>
            </a:r>
            <a:r>
              <a:rPr lang="en-GB" sz="1000" b="1" dirty="0" err="1">
                <a:solidFill>
                  <a:schemeClr val="tx1"/>
                </a:solidFill>
              </a:rPr>
              <a:t>DvMen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0D5EBB8-8025-2864-50D2-4547FBF8F7D5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1240748" y="2798822"/>
            <a:ext cx="268830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E91F49-B0C0-2E8E-BB9E-5EC17C4C865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336025" y="2798822"/>
            <a:ext cx="472285" cy="4318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D52284-61FC-7A90-6988-1AC4DCFDBB39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4289903" y="2803140"/>
            <a:ext cx="40478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F8A6C6-C500-CAE5-4F84-7DFBC812CD33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447782" y="2803140"/>
            <a:ext cx="472285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4EA8859-A4FC-4F4F-A4CD-2E41BB230097}"/>
              </a:ext>
            </a:extLst>
          </p:cNvPr>
          <p:cNvCxnSpPr>
            <a:cxnSpLocks/>
            <a:stCxn id="12" idx="3"/>
            <a:endCxn id="5" idx="2"/>
          </p:cNvCxnSpPr>
          <p:nvPr/>
        </p:nvCxnSpPr>
        <p:spPr>
          <a:xfrm flipV="1">
            <a:off x="8396420" y="2801593"/>
            <a:ext cx="476301" cy="154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C89B87E-463D-381B-8D9D-917EA83E2B9C}"/>
              </a:ext>
            </a:extLst>
          </p:cNvPr>
          <p:cNvCxnSpPr>
            <a:cxnSpLocks/>
          </p:cNvCxnSpPr>
          <p:nvPr/>
        </p:nvCxnSpPr>
        <p:spPr>
          <a:xfrm flipV="1">
            <a:off x="6570484" y="2989769"/>
            <a:ext cx="0" cy="193174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2FA7C9-75E7-B711-C714-0DDD9C47DED7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>
            <a:off x="3549107" y="3103222"/>
            <a:ext cx="5280" cy="601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F99F49-030C-48A0-75DD-8FDD4B7E9DCB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>
            <a:off x="5571234" y="3103222"/>
            <a:ext cx="3328" cy="601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413358-05A4-C330-D1A8-DA4D54CC07C0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>
            <a:off x="7658244" y="3103222"/>
            <a:ext cx="1821" cy="601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4F48410-3928-CA1A-C0B2-0A2620A924A4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H="1">
            <a:off x="5574561" y="4087105"/>
            <a:ext cx="1" cy="6184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9F950F0-0132-B109-61C0-1DAE34F5C13B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 flipH="1">
            <a:off x="7660064" y="4087105"/>
            <a:ext cx="1" cy="6184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18D3E5-B5FD-17D7-E3EE-97F4141BEFE3}"/>
              </a:ext>
            </a:extLst>
          </p:cNvPr>
          <p:cNvCxnSpPr>
            <a:cxnSpLocks/>
          </p:cNvCxnSpPr>
          <p:nvPr/>
        </p:nvCxnSpPr>
        <p:spPr>
          <a:xfrm>
            <a:off x="6024561" y="4921515"/>
            <a:ext cx="545923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3564871-E81B-7E5E-A582-D3497A211018}"/>
              </a:ext>
            </a:extLst>
          </p:cNvPr>
          <p:cNvCxnSpPr>
            <a:cxnSpLocks/>
            <a:endCxn id="5" idx="4"/>
          </p:cNvCxnSpPr>
          <p:nvPr/>
        </p:nvCxnSpPr>
        <p:spPr>
          <a:xfrm flipV="1">
            <a:off x="9160721" y="3089593"/>
            <a:ext cx="0" cy="183192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28A99A4-13F8-6D1B-FB4B-28328CAF4492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8110064" y="4921515"/>
            <a:ext cx="1050027" cy="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0E1BAC4-53D3-AE11-F6BC-FE40AE0EDF59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8183701" y="3895872"/>
            <a:ext cx="9662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1A955889-4984-3068-1E53-837CD138B42D}"/>
              </a:ext>
            </a:extLst>
          </p:cNvPr>
          <p:cNvSpPr txBox="1"/>
          <p:nvPr/>
        </p:nvSpPr>
        <p:spPr>
          <a:xfrm>
            <a:off x="8538595" y="1817122"/>
            <a:ext cx="12442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FLOW CHART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CONTINUED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ON NEXT PAGE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42F209E-029B-ADDA-6BD9-98BACA802BE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098198" y="3895872"/>
            <a:ext cx="472286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C610EC3-D6B9-84F2-BB95-13F41A8A1DD1}"/>
              </a:ext>
            </a:extLst>
          </p:cNvPr>
          <p:cNvSpPr/>
          <p:nvPr/>
        </p:nvSpPr>
        <p:spPr>
          <a:xfrm>
            <a:off x="8418062" y="5280199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3D3C2D-E5BF-0D80-14AD-00F3032583D3}"/>
              </a:ext>
            </a:extLst>
          </p:cNvPr>
          <p:cNvCxnSpPr>
            <a:cxnSpLocks/>
          </p:cNvCxnSpPr>
          <p:nvPr/>
        </p:nvCxnSpPr>
        <p:spPr>
          <a:xfrm>
            <a:off x="8711836" y="585931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7C6702-52BD-7417-F6B8-E4A2BFFB6137}"/>
              </a:ext>
            </a:extLst>
          </p:cNvPr>
          <p:cNvCxnSpPr>
            <a:cxnSpLocks/>
          </p:cNvCxnSpPr>
          <p:nvPr/>
        </p:nvCxnSpPr>
        <p:spPr>
          <a:xfrm>
            <a:off x="8711836" y="638509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95D871C-28A9-B28C-A20A-8BE584AD4026}"/>
              </a:ext>
            </a:extLst>
          </p:cNvPr>
          <p:cNvSpPr txBox="1"/>
          <p:nvPr/>
        </p:nvSpPr>
        <p:spPr>
          <a:xfrm>
            <a:off x="8838242" y="5467127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AD05C5-5EA6-BB82-7EC5-C6E5B4C806DE}"/>
              </a:ext>
            </a:extLst>
          </p:cNvPr>
          <p:cNvSpPr txBox="1"/>
          <p:nvPr/>
        </p:nvSpPr>
        <p:spPr>
          <a:xfrm>
            <a:off x="8853214" y="5992755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845143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B0BA3-5DE5-B343-8237-1B1819C21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773D1-C398-9FDD-5D16-F3E52D4C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B130 Mortgage interest only (last payment)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34FFCFA-9580-4162-5103-6E4B4206E371}"/>
              </a:ext>
            </a:extLst>
          </p:cNvPr>
          <p:cNvSpPr/>
          <p:nvPr/>
        </p:nvSpPr>
        <p:spPr>
          <a:xfrm>
            <a:off x="8444250" y="2829431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A52E9-DE97-732B-98F9-8C08303C96E8}"/>
              </a:ext>
            </a:extLst>
          </p:cNvPr>
          <p:cNvSpPr/>
          <p:nvPr/>
        </p:nvSpPr>
        <p:spPr>
          <a:xfrm>
            <a:off x="2034839" y="2926198"/>
            <a:ext cx="1047273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YE IN </a:t>
            </a:r>
            <a:r>
              <a:rPr lang="en-GB" sz="1100" b="1" dirty="0" err="1">
                <a:solidFill>
                  <a:schemeClr val="tx1"/>
                </a:solidFill>
              </a:rPr>
              <a:t>InCmp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B82169-819F-E8D9-2655-50E14C9DFC73}"/>
              </a:ext>
            </a:extLst>
          </p:cNvPr>
          <p:cNvSpPr/>
          <p:nvPr/>
        </p:nvSpPr>
        <p:spPr>
          <a:xfrm>
            <a:off x="4332263" y="2817684"/>
            <a:ext cx="1513073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YES IN </a:t>
            </a:r>
            <a:r>
              <a:rPr lang="en-GB" sz="1100" b="1" dirty="0" err="1">
                <a:solidFill>
                  <a:schemeClr val="tx1"/>
                </a:solidFill>
              </a:rPr>
              <a:t>Strinc</a:t>
            </a:r>
            <a:r>
              <a:rPr lang="en-GB" sz="1100" b="1" dirty="0">
                <a:solidFill>
                  <a:schemeClr val="tx1"/>
                </a:solidFill>
              </a:rPr>
              <a:t> AND </a:t>
            </a:r>
            <a:r>
              <a:rPr lang="en-GB" sz="1100" b="1" dirty="0" err="1">
                <a:solidFill>
                  <a:schemeClr val="tx1"/>
                </a:solidFill>
              </a:rPr>
              <a:t>Striprem</a:t>
            </a:r>
            <a:r>
              <a:rPr lang="en-GB" sz="11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F4D717-14D5-47AB-9B15-C60755CE14B1}"/>
              </a:ext>
            </a:extLst>
          </p:cNvPr>
          <p:cNvSpPr/>
          <p:nvPr/>
        </p:nvSpPr>
        <p:spPr>
          <a:xfrm>
            <a:off x="6431686" y="2665807"/>
            <a:ext cx="1512000" cy="9025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YES IN </a:t>
            </a:r>
            <a:r>
              <a:rPr lang="en-GB" sz="1100" b="1" dirty="0" err="1">
                <a:solidFill>
                  <a:schemeClr val="tx1"/>
                </a:solidFill>
              </a:rPr>
              <a:t>Strinc</a:t>
            </a:r>
            <a:r>
              <a:rPr lang="en-GB" sz="1100" b="1" dirty="0">
                <a:solidFill>
                  <a:schemeClr val="tx1"/>
                </a:solidFill>
              </a:rPr>
              <a:t> AND STRONLY </a:t>
            </a:r>
            <a:r>
              <a:rPr lang="en-GB" sz="1100" b="1" dirty="0" err="1">
                <a:solidFill>
                  <a:schemeClr val="tx1"/>
                </a:solidFill>
              </a:rPr>
              <a:t>iIN</a:t>
            </a:r>
            <a:r>
              <a:rPr lang="en-GB" sz="1100" b="1" dirty="0">
                <a:solidFill>
                  <a:schemeClr val="tx1"/>
                </a:solidFill>
              </a:rPr>
              <a:t> </a:t>
            </a:r>
            <a:r>
              <a:rPr lang="en-GB" sz="1100" b="1" dirty="0" err="1">
                <a:solidFill>
                  <a:schemeClr val="tx1"/>
                </a:solidFill>
              </a:rPr>
              <a:t>StriType</a:t>
            </a:r>
            <a:r>
              <a:rPr lang="en-GB" sz="1100" b="1" dirty="0">
                <a:solidFill>
                  <a:schemeClr val="tx1"/>
                </a:solidFill>
              </a:rPr>
              <a:t> AND </a:t>
            </a:r>
            <a:r>
              <a:rPr lang="en-GB" sz="1100" b="1" dirty="0" err="1">
                <a:solidFill>
                  <a:schemeClr val="tx1"/>
                </a:solidFill>
              </a:rPr>
              <a:t>Striprem</a:t>
            </a:r>
            <a:r>
              <a:rPr lang="en-GB" sz="1100" b="1" dirty="0">
                <a:solidFill>
                  <a:schemeClr val="tx1"/>
                </a:solidFill>
              </a:rPr>
              <a:t> = DONTKNOW AND </a:t>
            </a:r>
            <a:r>
              <a:rPr lang="en-GB" sz="1100" b="1" dirty="0" err="1">
                <a:solidFill>
                  <a:schemeClr val="tx1"/>
                </a:solidFill>
              </a:rPr>
              <a:t>StriVal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5813A5-1034-43EF-79CC-EEA0FFA75FBB}"/>
              </a:ext>
            </a:extLst>
          </p:cNvPr>
          <p:cNvSpPr/>
          <p:nvPr/>
        </p:nvSpPr>
        <p:spPr>
          <a:xfrm>
            <a:off x="1801931" y="1867574"/>
            <a:ext cx="1513089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ENDOW, PENSION, UTISA, INTLINK, INTNOLINK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40EFF8-E350-9613-8057-6B0D50BA956C}"/>
              </a:ext>
            </a:extLst>
          </p:cNvPr>
          <p:cNvSpPr/>
          <p:nvPr/>
        </p:nvSpPr>
        <p:spPr>
          <a:xfrm>
            <a:off x="4332255" y="1867574"/>
            <a:ext cx="1513089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ENDOW, PENSION, UTISA, INTLINK, INTNOLINK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7BF4AB-58E1-EBE6-82A9-48EC3AADA2E1}"/>
              </a:ext>
            </a:extLst>
          </p:cNvPr>
          <p:cNvSpPr/>
          <p:nvPr/>
        </p:nvSpPr>
        <p:spPr>
          <a:xfrm>
            <a:off x="6773686" y="1973256"/>
            <a:ext cx="8280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B130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FF6C41-5BD7-6D99-A23A-A5D7351FCCBB}"/>
              </a:ext>
            </a:extLst>
          </p:cNvPr>
          <p:cNvSpPr/>
          <p:nvPr/>
        </p:nvSpPr>
        <p:spPr>
          <a:xfrm>
            <a:off x="4594716" y="3734208"/>
            <a:ext cx="988167" cy="388800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DvStri</a:t>
            </a:r>
            <a:r>
              <a:rPr lang="en-GB" sz="10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3D4E63-F58D-B1A8-AB61-C819D73F1B7E}"/>
              </a:ext>
            </a:extLst>
          </p:cNvPr>
          <p:cNvSpPr/>
          <p:nvPr/>
        </p:nvSpPr>
        <p:spPr>
          <a:xfrm>
            <a:off x="6468505" y="4722908"/>
            <a:ext cx="1438363" cy="5003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B130 = B130 – 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*0.2/5200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0BEBB9-2C9E-722D-E28E-A1600224FD29}"/>
              </a:ext>
            </a:extLst>
          </p:cNvPr>
          <p:cNvCxnSpPr>
            <a:cxnSpLocks/>
            <a:stCxn id="3" idx="6"/>
            <a:endCxn id="10" idx="1"/>
          </p:cNvCxnSpPr>
          <p:nvPr/>
        </p:nvCxnSpPr>
        <p:spPr>
          <a:xfrm>
            <a:off x="984919" y="2167656"/>
            <a:ext cx="817012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32AA98-CB96-94D5-3040-61E6445930E4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3315020" y="2167656"/>
            <a:ext cx="1017235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E1A76A-0CAA-2CCE-23E4-19C7F1D69723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845344" y="2167656"/>
            <a:ext cx="92834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2E44F2-6D39-53AF-B46C-56EB13C7771D}"/>
              </a:ext>
            </a:extLst>
          </p:cNvPr>
          <p:cNvCxnSpPr>
            <a:cxnSpLocks/>
          </p:cNvCxnSpPr>
          <p:nvPr/>
        </p:nvCxnSpPr>
        <p:spPr>
          <a:xfrm flipH="1" flipV="1">
            <a:off x="6071403" y="3278298"/>
            <a:ext cx="0" cy="162369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55B4D64-2936-B1A8-5B52-77BCD4B990A0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>
            <a:off x="2558476" y="2467738"/>
            <a:ext cx="0" cy="4584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5C97318-7E79-16A0-7C14-1E7D7E7B9394}"/>
              </a:ext>
            </a:extLst>
          </p:cNvPr>
          <p:cNvCxnSpPr>
            <a:cxnSpLocks/>
          </p:cNvCxnSpPr>
          <p:nvPr/>
        </p:nvCxnSpPr>
        <p:spPr>
          <a:xfrm>
            <a:off x="5088795" y="2467738"/>
            <a:ext cx="0" cy="3499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1041C10-C702-54E8-26A0-11635CD0D6E8}"/>
              </a:ext>
            </a:extLst>
          </p:cNvPr>
          <p:cNvCxnSpPr>
            <a:cxnSpLocks/>
          </p:cNvCxnSpPr>
          <p:nvPr/>
        </p:nvCxnSpPr>
        <p:spPr>
          <a:xfrm>
            <a:off x="5083904" y="3417848"/>
            <a:ext cx="0" cy="3163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2C55F2-D31E-8D79-D4B2-E126A70E6EAE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>
            <a:off x="7187686" y="3568342"/>
            <a:ext cx="1" cy="11545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FF9CACD-49F2-46B0-404B-3A0CEE3C9312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5612436" y="4960810"/>
            <a:ext cx="475313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9451305-878D-EE27-39BF-B12F6778BF26}"/>
              </a:ext>
            </a:extLst>
          </p:cNvPr>
          <p:cNvCxnSpPr>
            <a:cxnSpLocks/>
            <a:endCxn id="5" idx="4"/>
          </p:cNvCxnSpPr>
          <p:nvPr/>
        </p:nvCxnSpPr>
        <p:spPr>
          <a:xfrm flipV="1">
            <a:off x="8732250" y="3405431"/>
            <a:ext cx="0" cy="151717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ED20FE-A3CF-8DA7-2580-DD1BA7CB0272}"/>
              </a:ext>
            </a:extLst>
          </p:cNvPr>
          <p:cNvCxnSpPr>
            <a:cxnSpLocks/>
          </p:cNvCxnSpPr>
          <p:nvPr/>
        </p:nvCxnSpPr>
        <p:spPr>
          <a:xfrm>
            <a:off x="7976732" y="4992907"/>
            <a:ext cx="75551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6D545B3-14B9-C156-9939-E8BB423FD55F}"/>
              </a:ext>
            </a:extLst>
          </p:cNvPr>
          <p:cNvCxnSpPr>
            <a:cxnSpLocks/>
            <a:stCxn id="8" idx="3"/>
            <a:endCxn id="5" idx="2"/>
          </p:cNvCxnSpPr>
          <p:nvPr/>
        </p:nvCxnSpPr>
        <p:spPr>
          <a:xfrm>
            <a:off x="7943686" y="3117075"/>
            <a:ext cx="500564" cy="35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A9977B3-0C3D-66A9-E740-1F36F188E465}"/>
              </a:ext>
            </a:extLst>
          </p:cNvPr>
          <p:cNvSpPr/>
          <p:nvPr/>
        </p:nvSpPr>
        <p:spPr>
          <a:xfrm>
            <a:off x="4565163" y="4757088"/>
            <a:ext cx="1047273" cy="4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B130 = B130 - </a:t>
            </a:r>
            <a:r>
              <a:rPr lang="en-GB" sz="1000" b="1" dirty="0" err="1">
                <a:solidFill>
                  <a:schemeClr val="tx1"/>
                </a:solidFill>
              </a:rPr>
              <a:t>DvStri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BBD9C27-62A3-BB6D-8984-9CD45EC6471E}"/>
              </a:ext>
            </a:extLst>
          </p:cNvPr>
          <p:cNvCxnSpPr>
            <a:cxnSpLocks/>
          </p:cNvCxnSpPr>
          <p:nvPr/>
        </p:nvCxnSpPr>
        <p:spPr>
          <a:xfrm flipV="1">
            <a:off x="3866835" y="2365725"/>
            <a:ext cx="0" cy="255774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65741C4-70AB-AC6A-93F7-F761A71FAB5D}"/>
              </a:ext>
            </a:extLst>
          </p:cNvPr>
          <p:cNvCxnSpPr>
            <a:cxnSpLocks/>
          </p:cNvCxnSpPr>
          <p:nvPr/>
        </p:nvCxnSpPr>
        <p:spPr>
          <a:xfrm>
            <a:off x="5080639" y="4123008"/>
            <a:ext cx="0" cy="5752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E32DD12-ABB1-3D2B-5D68-E927CD07C21B}"/>
              </a:ext>
            </a:extLst>
          </p:cNvPr>
          <p:cNvCxnSpPr>
            <a:cxnSpLocks/>
            <a:stCxn id="6" idx="2"/>
            <a:endCxn id="26" idx="0"/>
          </p:cNvCxnSpPr>
          <p:nvPr/>
        </p:nvCxnSpPr>
        <p:spPr>
          <a:xfrm>
            <a:off x="2558476" y="3308664"/>
            <a:ext cx="0" cy="4318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E544009-8550-54D1-D2B0-321D7AD4B22B}"/>
              </a:ext>
            </a:extLst>
          </p:cNvPr>
          <p:cNvCxnSpPr>
            <a:cxnSpLocks/>
          </p:cNvCxnSpPr>
          <p:nvPr/>
        </p:nvCxnSpPr>
        <p:spPr>
          <a:xfrm>
            <a:off x="3065983" y="4921991"/>
            <a:ext cx="814500" cy="148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167E12E3-CABE-C6ED-8C24-8AA462767AC5}"/>
              </a:ext>
            </a:extLst>
          </p:cNvPr>
          <p:cNvSpPr txBox="1"/>
          <p:nvPr/>
        </p:nvSpPr>
        <p:spPr>
          <a:xfrm>
            <a:off x="8110124" y="2110587"/>
            <a:ext cx="12442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FLOW CHART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CONTINUED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ON NEXT PAGE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551D0E3-13A1-0A4E-7539-D490EE412D80}"/>
              </a:ext>
            </a:extLst>
          </p:cNvPr>
          <p:cNvSpPr/>
          <p:nvPr/>
        </p:nvSpPr>
        <p:spPr>
          <a:xfrm>
            <a:off x="408919" y="1879656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8868A6-1BD4-486C-5658-078DD66C2E97}"/>
              </a:ext>
            </a:extLst>
          </p:cNvPr>
          <p:cNvSpPr/>
          <p:nvPr/>
        </p:nvSpPr>
        <p:spPr>
          <a:xfrm>
            <a:off x="2034839" y="4736111"/>
            <a:ext cx="1047273" cy="4739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B130 = B130 - </a:t>
            </a:r>
            <a:r>
              <a:rPr lang="en-GB" sz="1100" b="1" dirty="0" err="1">
                <a:solidFill>
                  <a:schemeClr val="tx1"/>
                </a:solidFill>
              </a:rPr>
              <a:t>DvMorp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5D1ADB-46FC-5625-A257-D0161AC0076C}"/>
              </a:ext>
            </a:extLst>
          </p:cNvPr>
          <p:cNvSpPr/>
          <p:nvPr/>
        </p:nvSpPr>
        <p:spPr>
          <a:xfrm>
            <a:off x="2034845" y="3740541"/>
            <a:ext cx="1047261" cy="382466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DvMorp</a:t>
            </a:r>
            <a:r>
              <a:rPr lang="en-GB" sz="1000" b="1" dirty="0">
                <a:solidFill>
                  <a:schemeClr val="tx1"/>
                </a:solidFill>
              </a:rPr>
              <a:t> &gt; 0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3336E3C-C9AE-8C5C-20A1-FB5509C98CF2}"/>
              </a:ext>
            </a:extLst>
          </p:cNvPr>
          <p:cNvCxnSpPr>
            <a:cxnSpLocks/>
            <a:stCxn id="26" idx="2"/>
            <a:endCxn id="21" idx="0"/>
          </p:cNvCxnSpPr>
          <p:nvPr/>
        </p:nvCxnSpPr>
        <p:spPr>
          <a:xfrm>
            <a:off x="2558476" y="4123007"/>
            <a:ext cx="0" cy="6131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2F0902-3C73-DB26-8EB8-A498F7305393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082112" y="3117431"/>
            <a:ext cx="1250151" cy="33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41ED9C1-5144-D5E1-65D7-5464C4130C75}"/>
              </a:ext>
            </a:extLst>
          </p:cNvPr>
          <p:cNvCxnSpPr>
            <a:cxnSpLocks/>
            <a:stCxn id="26" idx="3"/>
            <a:endCxn id="14" idx="1"/>
          </p:cNvCxnSpPr>
          <p:nvPr/>
        </p:nvCxnSpPr>
        <p:spPr>
          <a:xfrm flipV="1">
            <a:off x="3082106" y="3928608"/>
            <a:ext cx="1512610" cy="316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959A2A9-48B3-1607-B3AF-10D2854006E1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5845336" y="3117075"/>
            <a:ext cx="586350" cy="69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4A1BCD2-399A-5470-6A38-032CFA46B720}"/>
              </a:ext>
            </a:extLst>
          </p:cNvPr>
          <p:cNvSpPr/>
          <p:nvPr/>
        </p:nvSpPr>
        <p:spPr>
          <a:xfrm>
            <a:off x="8418062" y="5280199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6B3B9D-558D-F94B-EFB1-0264A466550A}"/>
              </a:ext>
            </a:extLst>
          </p:cNvPr>
          <p:cNvCxnSpPr>
            <a:cxnSpLocks/>
          </p:cNvCxnSpPr>
          <p:nvPr/>
        </p:nvCxnSpPr>
        <p:spPr>
          <a:xfrm>
            <a:off x="8711836" y="585931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8BDEA7-2094-1841-E719-6C2814C11402}"/>
              </a:ext>
            </a:extLst>
          </p:cNvPr>
          <p:cNvCxnSpPr>
            <a:cxnSpLocks/>
          </p:cNvCxnSpPr>
          <p:nvPr/>
        </p:nvCxnSpPr>
        <p:spPr>
          <a:xfrm>
            <a:off x="8711836" y="638509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AD78E1B-33E4-22FD-411E-580B818D7ADA}"/>
              </a:ext>
            </a:extLst>
          </p:cNvPr>
          <p:cNvSpPr txBox="1"/>
          <p:nvPr/>
        </p:nvSpPr>
        <p:spPr>
          <a:xfrm>
            <a:off x="8838242" y="5467127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F8BDE1-4DC5-ED21-B62E-19D56F4EC68F}"/>
              </a:ext>
            </a:extLst>
          </p:cNvPr>
          <p:cNvSpPr txBox="1"/>
          <p:nvPr/>
        </p:nvSpPr>
        <p:spPr>
          <a:xfrm>
            <a:off x="8853214" y="5992755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303719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E4BAA-0D10-30FB-033B-5A6ECC7B5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CFFC-78AA-0BEC-B5E4-C97F5CECE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B130 Mortgage interest only (last payment)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FCEDDA-139B-996D-E439-0CB1DE52F5FB}"/>
              </a:ext>
            </a:extLst>
          </p:cNvPr>
          <p:cNvSpPr/>
          <p:nvPr/>
        </p:nvSpPr>
        <p:spPr>
          <a:xfrm>
            <a:off x="2030986" y="1932423"/>
            <a:ext cx="1497501" cy="10694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YES IN </a:t>
            </a:r>
            <a:r>
              <a:rPr lang="en-GB" sz="1000" b="1" dirty="0" err="1">
                <a:solidFill>
                  <a:schemeClr val="tx1"/>
                </a:solidFill>
              </a:rPr>
              <a:t>Strinc</a:t>
            </a:r>
            <a:r>
              <a:rPr lang="en-GB" sz="1000" b="1" dirty="0">
                <a:solidFill>
                  <a:schemeClr val="tx1"/>
                </a:solidFill>
              </a:rPr>
              <a:t> AND COMBO IN </a:t>
            </a:r>
            <a:r>
              <a:rPr lang="en-GB" sz="1000" b="1" dirty="0" err="1">
                <a:solidFill>
                  <a:schemeClr val="tx1"/>
                </a:solidFill>
              </a:rPr>
              <a:t>StriType</a:t>
            </a:r>
            <a:r>
              <a:rPr lang="en-GB" sz="1000" b="1" dirty="0">
                <a:solidFill>
                  <a:schemeClr val="tx1"/>
                </a:solidFill>
              </a:rPr>
              <a:t> AND </a:t>
            </a:r>
            <a:r>
              <a:rPr lang="en-GB" sz="1000" b="1" dirty="0" err="1">
                <a:solidFill>
                  <a:schemeClr val="tx1"/>
                </a:solidFill>
              </a:rPr>
              <a:t>Striprem</a:t>
            </a:r>
            <a:r>
              <a:rPr lang="en-GB" sz="1000" b="1" dirty="0">
                <a:solidFill>
                  <a:schemeClr val="tx1"/>
                </a:solidFill>
              </a:rPr>
              <a:t> = DONTKNOW AND 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 &gt; 0 AND PersiVal &gt; 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A96D54-ED0A-4D9C-2F9F-59A8486EDEDA}"/>
              </a:ext>
            </a:extLst>
          </p:cNvPr>
          <p:cNvSpPr/>
          <p:nvPr/>
        </p:nvSpPr>
        <p:spPr>
          <a:xfrm>
            <a:off x="2028033" y="3748988"/>
            <a:ext cx="1497501" cy="6014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B130 = B130–(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*0.2/5200)–(PersiVal*0.4/5200)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5B72A1-AFBA-3282-5100-65DFEF7D5535}"/>
              </a:ext>
            </a:extLst>
          </p:cNvPr>
          <p:cNvCxnSpPr>
            <a:cxnSpLocks/>
            <a:stCxn id="3" idx="6"/>
            <a:endCxn id="9" idx="1"/>
          </p:cNvCxnSpPr>
          <p:nvPr/>
        </p:nvCxnSpPr>
        <p:spPr>
          <a:xfrm>
            <a:off x="1569912" y="2467146"/>
            <a:ext cx="461074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F8FF15F-B176-C26D-598E-B5AD66C8E705}"/>
              </a:ext>
            </a:extLst>
          </p:cNvPr>
          <p:cNvCxnSpPr>
            <a:cxnSpLocks/>
            <a:stCxn id="9" idx="3"/>
            <a:endCxn id="42" idx="1"/>
          </p:cNvCxnSpPr>
          <p:nvPr/>
        </p:nvCxnSpPr>
        <p:spPr>
          <a:xfrm>
            <a:off x="3528487" y="2467146"/>
            <a:ext cx="42767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6C15B6-A4B3-F285-571C-4704D4D88551}"/>
              </a:ext>
            </a:extLst>
          </p:cNvPr>
          <p:cNvCxnSpPr>
            <a:cxnSpLocks/>
            <a:stCxn id="42" idx="3"/>
            <a:endCxn id="53" idx="1"/>
          </p:cNvCxnSpPr>
          <p:nvPr/>
        </p:nvCxnSpPr>
        <p:spPr>
          <a:xfrm flipV="1">
            <a:off x="5453660" y="2467145"/>
            <a:ext cx="502629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9D5DEF-34A1-3B00-AA53-A2FD46143ED9}"/>
              </a:ext>
            </a:extLst>
          </p:cNvPr>
          <p:cNvCxnSpPr>
            <a:cxnSpLocks/>
            <a:stCxn id="53" idx="3"/>
            <a:endCxn id="29" idx="1"/>
          </p:cNvCxnSpPr>
          <p:nvPr/>
        </p:nvCxnSpPr>
        <p:spPr>
          <a:xfrm>
            <a:off x="7453790" y="2467145"/>
            <a:ext cx="611398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0FD2CA-A6A6-4BE0-ACB4-C6B9AA3565EE}"/>
              </a:ext>
            </a:extLst>
          </p:cNvPr>
          <p:cNvCxnSpPr>
            <a:cxnSpLocks/>
            <a:stCxn id="42" idx="2"/>
            <a:endCxn id="47" idx="0"/>
          </p:cNvCxnSpPr>
          <p:nvPr/>
        </p:nvCxnSpPr>
        <p:spPr>
          <a:xfrm flipH="1">
            <a:off x="4704909" y="3001868"/>
            <a:ext cx="1" cy="7629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2F5AE7F-2A4D-3737-89D3-FCA2B1BE0E17}"/>
              </a:ext>
            </a:extLst>
          </p:cNvPr>
          <p:cNvCxnSpPr>
            <a:cxnSpLocks/>
            <a:stCxn id="53" idx="2"/>
            <a:endCxn id="54" idx="0"/>
          </p:cNvCxnSpPr>
          <p:nvPr/>
        </p:nvCxnSpPr>
        <p:spPr>
          <a:xfrm>
            <a:off x="6705040" y="3001867"/>
            <a:ext cx="0" cy="7629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DA20296-D2DD-AC6D-B639-9C6AAB9F7842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flipH="1">
            <a:off x="2776784" y="3001868"/>
            <a:ext cx="2953" cy="7471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1707FB42-4C11-C77D-4534-41068CD8108A}"/>
              </a:ext>
            </a:extLst>
          </p:cNvPr>
          <p:cNvSpPr/>
          <p:nvPr/>
        </p:nvSpPr>
        <p:spPr>
          <a:xfrm>
            <a:off x="993912" y="2179146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CDF0D6-9EF2-3066-EE18-8C49437E7A1F}"/>
              </a:ext>
            </a:extLst>
          </p:cNvPr>
          <p:cNvSpPr/>
          <p:nvPr/>
        </p:nvSpPr>
        <p:spPr>
          <a:xfrm>
            <a:off x="8065188" y="2272745"/>
            <a:ext cx="8280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B130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8627CB4-1477-4C8B-4FA9-20FA90E43972}"/>
              </a:ext>
            </a:extLst>
          </p:cNvPr>
          <p:cNvSpPr/>
          <p:nvPr/>
        </p:nvSpPr>
        <p:spPr>
          <a:xfrm>
            <a:off x="3956159" y="1932423"/>
            <a:ext cx="1497501" cy="10694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YES IN </a:t>
            </a:r>
            <a:r>
              <a:rPr lang="en-GB" sz="1000" b="1" dirty="0" err="1">
                <a:solidFill>
                  <a:schemeClr val="tx1"/>
                </a:solidFill>
              </a:rPr>
              <a:t>Strinc</a:t>
            </a:r>
            <a:r>
              <a:rPr lang="en-GB" sz="1000" b="1" dirty="0">
                <a:solidFill>
                  <a:schemeClr val="tx1"/>
                </a:solidFill>
              </a:rPr>
              <a:t> AND COMBO IN </a:t>
            </a:r>
            <a:r>
              <a:rPr lang="en-GB" sz="1000" b="1" dirty="0" err="1">
                <a:solidFill>
                  <a:schemeClr val="tx1"/>
                </a:solidFill>
              </a:rPr>
              <a:t>StriType</a:t>
            </a:r>
            <a:r>
              <a:rPr lang="en-GB" sz="1000" b="1" dirty="0">
                <a:solidFill>
                  <a:schemeClr val="tx1"/>
                </a:solidFill>
              </a:rPr>
              <a:t> AND </a:t>
            </a:r>
            <a:r>
              <a:rPr lang="en-GB" sz="1000" b="1" dirty="0" err="1">
                <a:solidFill>
                  <a:schemeClr val="tx1"/>
                </a:solidFill>
              </a:rPr>
              <a:t>Striprem</a:t>
            </a:r>
            <a:r>
              <a:rPr lang="en-GB" sz="1000" b="1" dirty="0">
                <a:solidFill>
                  <a:schemeClr val="tx1"/>
                </a:solidFill>
              </a:rPr>
              <a:t> = DONTKNOW AND 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 = EMPTY AND PersiVal &gt; 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B23DC04-3F2E-E485-57A8-05362FE997F6}"/>
              </a:ext>
            </a:extLst>
          </p:cNvPr>
          <p:cNvSpPr/>
          <p:nvPr/>
        </p:nvSpPr>
        <p:spPr>
          <a:xfrm>
            <a:off x="3956158" y="3764855"/>
            <a:ext cx="1497501" cy="6014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B130 = B130–(PersiVal*0.4*3.5/5200)–(PersiVal*0.4/5200)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1C17A85-0E06-B7D7-18F6-FDAC2FD06960}"/>
              </a:ext>
            </a:extLst>
          </p:cNvPr>
          <p:cNvSpPr/>
          <p:nvPr/>
        </p:nvSpPr>
        <p:spPr>
          <a:xfrm>
            <a:off x="5956289" y="1932423"/>
            <a:ext cx="1497501" cy="106944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YES IN </a:t>
            </a:r>
            <a:r>
              <a:rPr lang="en-GB" sz="1000" b="1" dirty="0" err="1">
                <a:solidFill>
                  <a:schemeClr val="tx1"/>
                </a:solidFill>
              </a:rPr>
              <a:t>Strinc</a:t>
            </a:r>
            <a:r>
              <a:rPr lang="en-GB" sz="1000" b="1" dirty="0">
                <a:solidFill>
                  <a:schemeClr val="tx1"/>
                </a:solidFill>
              </a:rPr>
              <a:t> AND COMBO IN </a:t>
            </a:r>
            <a:r>
              <a:rPr lang="en-GB" sz="1000" b="1" dirty="0" err="1">
                <a:solidFill>
                  <a:schemeClr val="tx1"/>
                </a:solidFill>
              </a:rPr>
              <a:t>StriType</a:t>
            </a:r>
            <a:r>
              <a:rPr lang="en-GB" sz="1000" b="1" dirty="0">
                <a:solidFill>
                  <a:schemeClr val="tx1"/>
                </a:solidFill>
              </a:rPr>
              <a:t> AND </a:t>
            </a:r>
            <a:r>
              <a:rPr lang="en-GB" sz="1000" b="1" dirty="0" err="1">
                <a:solidFill>
                  <a:schemeClr val="tx1"/>
                </a:solidFill>
              </a:rPr>
              <a:t>Striprem</a:t>
            </a:r>
            <a:r>
              <a:rPr lang="en-GB" sz="1000" b="1" dirty="0">
                <a:solidFill>
                  <a:schemeClr val="tx1"/>
                </a:solidFill>
              </a:rPr>
              <a:t> = DONTKNOW AND 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 &gt; 0 AND PersiVal = EMPTY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8D29474-BDFF-D040-0B4C-49CAC4A7E4A8}"/>
              </a:ext>
            </a:extLst>
          </p:cNvPr>
          <p:cNvSpPr/>
          <p:nvPr/>
        </p:nvSpPr>
        <p:spPr>
          <a:xfrm>
            <a:off x="5956289" y="3764854"/>
            <a:ext cx="1497501" cy="6014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B130 = B130–(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*0.2/5200)–((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*0.2/5200)/3.5)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596A81-3D0E-A6BD-C6E7-D312323AD14C}"/>
              </a:ext>
            </a:extLst>
          </p:cNvPr>
          <p:cNvSpPr/>
          <p:nvPr/>
        </p:nvSpPr>
        <p:spPr>
          <a:xfrm>
            <a:off x="8418062" y="5280199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2096D2-3D39-BB90-9826-DF9AA25B0A27}"/>
              </a:ext>
            </a:extLst>
          </p:cNvPr>
          <p:cNvCxnSpPr>
            <a:cxnSpLocks/>
          </p:cNvCxnSpPr>
          <p:nvPr/>
        </p:nvCxnSpPr>
        <p:spPr>
          <a:xfrm>
            <a:off x="8711836" y="585931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BAA7955-54DD-87DC-7825-21442D47BF67}"/>
              </a:ext>
            </a:extLst>
          </p:cNvPr>
          <p:cNvCxnSpPr>
            <a:cxnSpLocks/>
          </p:cNvCxnSpPr>
          <p:nvPr/>
        </p:nvCxnSpPr>
        <p:spPr>
          <a:xfrm>
            <a:off x="8711836" y="6385099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BF639C-E1E7-403B-76CB-C56024BF13EE}"/>
              </a:ext>
            </a:extLst>
          </p:cNvPr>
          <p:cNvSpPr txBox="1"/>
          <p:nvPr/>
        </p:nvSpPr>
        <p:spPr>
          <a:xfrm>
            <a:off x="8838242" y="5467127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6BD74D-91BA-069E-862C-ADC6C19E965F}"/>
              </a:ext>
            </a:extLst>
          </p:cNvPr>
          <p:cNvSpPr txBox="1"/>
          <p:nvPr/>
        </p:nvSpPr>
        <p:spPr>
          <a:xfrm>
            <a:off x="8853214" y="5992755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484000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AC981-0B00-F619-1C9A-7A939A47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E9476-E7D0-BD6B-5C1B-726F8F36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B130 Mortgage interest only (last payment)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7D34C3-C114-7B6A-8515-D538C0A8DA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2693" y="1011309"/>
            <a:ext cx="8960614" cy="567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KEY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DvMen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Derived from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Menpolam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to give a weekly amount –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Menpolam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– Mortgage: How much was the respondents last payment on the endowment policy/pension plan/ISA/unit trust?)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DvMorp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Derived from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MortProt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to give a weekly amount –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MortProt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– Mortgage: (Apart from any endowment policies they have mentioned). Does the respondent have a mortgage protection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policy to repay this mortgage in the event of sickness/accident, redundancy or death?)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DvMort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Derived from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MortPay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to give a weekly amount –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MortPay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– Mortgage: How much was the respondents last payment on this mortgage or loan?)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DvStri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Derived from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StriPrem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to give a weekly amount –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StriPrem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– Structural Insurance: How much was the last premium?)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DvWho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Derived from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WhoAmt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to give a weekly amount –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WhoAmt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– Mortgage: How much did the respondent pay last time?)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InCmp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Is this payment included in the amount of [£amount] the respondent mentioned earlier?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InicNint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Is this payment included in the amount the respondent mentioned earlier [£amount]?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MortType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What type of mortgage is this?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Endow - An endowment mortgage where mortgage payments cover interest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Repay - A repayment mortgage where mortgage payments cover interest and part of the original loan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Pension - A pension mortgage where mortgage payments cover interest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UTISA - A Unit Trust or ISA mortgage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Endrep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BOTH an endowment (or other interest only) AND a repayment mortgage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Intlink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An interest only mortgage with MORE than one linked investment (e.g. pension and unit trust, endowment and ISA)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Intnolink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An interest only mortgage with NO linked investment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Equity - An equity release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mortage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Other - Another type (Please specify)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Persival - What is the insured value of the furniture and contents and/or personal possessions?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StrInc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Was this insurance premium included in the respondents last mortgage payment?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Striprem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How much was the last premium?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StriType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Are the payments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StrOnly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structure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Combo - structure combined with furniture and contents and/or personal possessions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PerOnly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furniture and contents and/or personal possessions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Strival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What is the insured value of the structure?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WhoInc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- Was this amount included in the mortgage repayment the respondent mentioned earlier?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69186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DBDE8-76BA-9ED8-B31D-F38CE0E8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9A68-174F-4A30-181E-CAE5F0B19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B200 – Mortgage interest/principal (last payment)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89D7D40-5C02-F17E-A0A4-6E806579086E}"/>
              </a:ext>
            </a:extLst>
          </p:cNvPr>
          <p:cNvSpPr/>
          <p:nvPr/>
        </p:nvSpPr>
        <p:spPr>
          <a:xfrm>
            <a:off x="8936964" y="2599259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28D07D-12BB-675E-768C-4BBBF7058BC2}"/>
              </a:ext>
            </a:extLst>
          </p:cNvPr>
          <p:cNvSpPr/>
          <p:nvPr/>
        </p:nvSpPr>
        <p:spPr>
          <a:xfrm>
            <a:off x="4092335" y="2695438"/>
            <a:ext cx="828000" cy="382466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DvWho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F91DDC-9D66-5D22-BC40-FBEB87371D81}"/>
              </a:ext>
            </a:extLst>
          </p:cNvPr>
          <p:cNvSpPr/>
          <p:nvPr/>
        </p:nvSpPr>
        <p:spPr>
          <a:xfrm>
            <a:off x="5662163" y="2587177"/>
            <a:ext cx="828000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YES IN </a:t>
            </a:r>
            <a:r>
              <a:rPr lang="en-GB" sz="1100" b="1" dirty="0" err="1">
                <a:solidFill>
                  <a:schemeClr val="tx1"/>
                </a:solidFill>
              </a:rPr>
              <a:t>InCmp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C9C151-3EFB-6AAF-4782-81B6C49CBC44}"/>
              </a:ext>
            </a:extLst>
          </p:cNvPr>
          <p:cNvSpPr/>
          <p:nvPr/>
        </p:nvSpPr>
        <p:spPr>
          <a:xfrm>
            <a:off x="6996411" y="2558602"/>
            <a:ext cx="1299156" cy="65731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YES IN </a:t>
            </a:r>
            <a:r>
              <a:rPr lang="en-GB" sz="1100" b="1" dirty="0" err="1">
                <a:solidFill>
                  <a:schemeClr val="tx1"/>
                </a:solidFill>
              </a:rPr>
              <a:t>Strinc</a:t>
            </a:r>
            <a:r>
              <a:rPr lang="en-GB" sz="1100" b="1" dirty="0">
                <a:solidFill>
                  <a:schemeClr val="tx1"/>
                </a:solidFill>
              </a:rPr>
              <a:t> AND </a:t>
            </a:r>
            <a:r>
              <a:rPr lang="en-GB" sz="1100" b="1" dirty="0" err="1">
                <a:solidFill>
                  <a:schemeClr val="tx1"/>
                </a:solidFill>
              </a:rPr>
              <a:t>Striprem</a:t>
            </a:r>
            <a:r>
              <a:rPr lang="en-GB" sz="11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F596D-9886-E433-2B56-D43B385EBB53}"/>
              </a:ext>
            </a:extLst>
          </p:cNvPr>
          <p:cNvSpPr/>
          <p:nvPr/>
        </p:nvSpPr>
        <p:spPr>
          <a:xfrm>
            <a:off x="4092335" y="1528685"/>
            <a:ext cx="828000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= REPAY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3226C1-5F56-47C6-D1E4-163AF79A21B4}"/>
              </a:ext>
            </a:extLst>
          </p:cNvPr>
          <p:cNvSpPr/>
          <p:nvPr/>
        </p:nvSpPr>
        <p:spPr>
          <a:xfrm>
            <a:off x="5665212" y="1528685"/>
            <a:ext cx="828000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= REPAY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B54A02-2091-2DF9-C9F0-719E1D6D9971}"/>
              </a:ext>
            </a:extLst>
          </p:cNvPr>
          <p:cNvSpPr/>
          <p:nvPr/>
        </p:nvSpPr>
        <p:spPr>
          <a:xfrm>
            <a:off x="7238089" y="1528686"/>
            <a:ext cx="828000" cy="6001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= REPAY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55078F-4A81-0E83-3E8B-CBC295F4ED2C}"/>
              </a:ext>
            </a:extLst>
          </p:cNvPr>
          <p:cNvSpPr/>
          <p:nvPr/>
        </p:nvSpPr>
        <p:spPr>
          <a:xfrm>
            <a:off x="5662163" y="3702583"/>
            <a:ext cx="828000" cy="388800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DvMorp</a:t>
            </a:r>
            <a:r>
              <a:rPr lang="en-GB" sz="1000" b="1" dirty="0">
                <a:solidFill>
                  <a:schemeClr val="tx1"/>
                </a:solidFill>
              </a:rPr>
              <a:t> &gt; 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5729AA-F221-4839-7B64-90B96C528F59}"/>
              </a:ext>
            </a:extLst>
          </p:cNvPr>
          <p:cNvCxnSpPr>
            <a:cxnSpLocks/>
            <a:stCxn id="107" idx="3"/>
            <a:endCxn id="8" idx="1"/>
          </p:cNvCxnSpPr>
          <p:nvPr/>
        </p:nvCxnSpPr>
        <p:spPr>
          <a:xfrm>
            <a:off x="3347458" y="1828767"/>
            <a:ext cx="744877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4660B5-1887-0EC5-D5FE-D2E89E3BBA0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920335" y="1828767"/>
            <a:ext cx="74487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F71404-6293-669A-F59F-9AA4485E1E45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493212" y="1828767"/>
            <a:ext cx="744877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04FDED-1A13-669A-03E7-8A49DDF57AB7}"/>
              </a:ext>
            </a:extLst>
          </p:cNvPr>
          <p:cNvCxnSpPr>
            <a:cxnSpLocks/>
          </p:cNvCxnSpPr>
          <p:nvPr/>
        </p:nvCxnSpPr>
        <p:spPr>
          <a:xfrm flipV="1">
            <a:off x="6858097" y="1948586"/>
            <a:ext cx="0" cy="284831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9E1511-1E31-B96C-19F9-D154DB962257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>
            <a:off x="4506335" y="2128849"/>
            <a:ext cx="0" cy="5665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1D76E3-61D7-053E-7E54-BA46680ECAC8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 flipH="1">
            <a:off x="6076163" y="2128849"/>
            <a:ext cx="3049" cy="4583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AAD3F5-6D0C-591F-6265-38E476444161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6076163" y="3187341"/>
            <a:ext cx="0" cy="5152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A01032-7E94-7A64-071E-2F6FB0232CB2}"/>
              </a:ext>
            </a:extLst>
          </p:cNvPr>
          <p:cNvCxnSpPr>
            <a:cxnSpLocks/>
            <a:stCxn id="7" idx="2"/>
            <a:endCxn id="54" idx="0"/>
          </p:cNvCxnSpPr>
          <p:nvPr/>
        </p:nvCxnSpPr>
        <p:spPr>
          <a:xfrm>
            <a:off x="7645989" y="3215916"/>
            <a:ext cx="1" cy="506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C67CDFE-7886-7C5F-4C17-EFC16ED0E0E6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6531563" y="4819464"/>
            <a:ext cx="35383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0B17085-3388-FE1D-8858-4C13A8D8E0A8}"/>
              </a:ext>
            </a:extLst>
          </p:cNvPr>
          <p:cNvCxnSpPr>
            <a:cxnSpLocks/>
            <a:stCxn id="7" idx="3"/>
            <a:endCxn id="4" idx="2"/>
          </p:cNvCxnSpPr>
          <p:nvPr/>
        </p:nvCxnSpPr>
        <p:spPr>
          <a:xfrm>
            <a:off x="8295567" y="2887259"/>
            <a:ext cx="64139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6813589-7BBC-DDED-F270-182818BEE55C}"/>
              </a:ext>
            </a:extLst>
          </p:cNvPr>
          <p:cNvSpPr/>
          <p:nvPr/>
        </p:nvSpPr>
        <p:spPr>
          <a:xfrm>
            <a:off x="5620763" y="4603464"/>
            <a:ext cx="910800" cy="4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B200 = B200 + </a:t>
            </a:r>
            <a:r>
              <a:rPr lang="en-GB" sz="1000" b="1" dirty="0" err="1">
                <a:solidFill>
                  <a:schemeClr val="tx1"/>
                </a:solidFill>
              </a:rPr>
              <a:t>DvMorp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6BD9D4-A85E-55AF-4C5C-824860BD7EB9}"/>
              </a:ext>
            </a:extLst>
          </p:cNvPr>
          <p:cNvCxnSpPr>
            <a:cxnSpLocks/>
          </p:cNvCxnSpPr>
          <p:nvPr/>
        </p:nvCxnSpPr>
        <p:spPr>
          <a:xfrm flipH="1" flipV="1">
            <a:off x="5350028" y="1962234"/>
            <a:ext cx="0" cy="191248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8410D0-CE07-4958-8F55-8351A8FA167C}"/>
              </a:ext>
            </a:extLst>
          </p:cNvPr>
          <p:cNvCxnSpPr>
            <a:cxnSpLocks/>
            <a:stCxn id="11" idx="2"/>
            <a:endCxn id="25" idx="0"/>
          </p:cNvCxnSpPr>
          <p:nvPr/>
        </p:nvCxnSpPr>
        <p:spPr>
          <a:xfrm>
            <a:off x="6076163" y="4091383"/>
            <a:ext cx="0" cy="5120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C095FF-FE70-978B-7C37-E01CEF24C390}"/>
              </a:ext>
            </a:extLst>
          </p:cNvPr>
          <p:cNvCxnSpPr>
            <a:cxnSpLocks/>
            <a:stCxn id="5" idx="2"/>
            <a:endCxn id="32" idx="0"/>
          </p:cNvCxnSpPr>
          <p:nvPr/>
        </p:nvCxnSpPr>
        <p:spPr>
          <a:xfrm>
            <a:off x="4506335" y="3077904"/>
            <a:ext cx="3654" cy="6246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EB6552D-F753-1D63-032B-177696F53CB2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5043538" y="3893816"/>
            <a:ext cx="32782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AF54AB7-AA41-5D57-590F-3417B1AEA142}"/>
              </a:ext>
            </a:extLst>
          </p:cNvPr>
          <p:cNvSpPr/>
          <p:nvPr/>
        </p:nvSpPr>
        <p:spPr>
          <a:xfrm>
            <a:off x="3976439" y="3702583"/>
            <a:ext cx="1067099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B200 = B200 + </a:t>
            </a:r>
            <a:r>
              <a:rPr lang="en-GB" sz="1000" b="1" dirty="0" err="1">
                <a:solidFill>
                  <a:schemeClr val="tx1"/>
                </a:solidFill>
              </a:rPr>
              <a:t>DvMort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5E1064-75E3-2002-460C-A6702094619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920335" y="2886671"/>
            <a:ext cx="741828" cy="588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FD17BD5-DEB1-6597-3C11-14F400DBBA8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490163" y="2887259"/>
            <a:ext cx="506248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241660B-23E4-D0F6-8E68-40BB838CD350}"/>
              </a:ext>
            </a:extLst>
          </p:cNvPr>
          <p:cNvSpPr/>
          <p:nvPr/>
        </p:nvSpPr>
        <p:spPr>
          <a:xfrm>
            <a:off x="196666" y="1590751"/>
            <a:ext cx="828000" cy="476033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FB2354-EA85-A015-07A7-ECE5C1E342D6}"/>
              </a:ext>
            </a:extLst>
          </p:cNvPr>
          <p:cNvSpPr/>
          <p:nvPr/>
        </p:nvSpPr>
        <p:spPr>
          <a:xfrm>
            <a:off x="814464" y="4790547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93DF4B3-F65C-4AB7-4508-1EC732F8C31D}"/>
              </a:ext>
            </a:extLst>
          </p:cNvPr>
          <p:cNvCxnSpPr>
            <a:cxnSpLocks/>
          </p:cNvCxnSpPr>
          <p:nvPr/>
        </p:nvCxnSpPr>
        <p:spPr>
          <a:xfrm>
            <a:off x="1108238" y="5369667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605B4F1-51C6-A113-B547-E549A2486E32}"/>
              </a:ext>
            </a:extLst>
          </p:cNvPr>
          <p:cNvCxnSpPr>
            <a:cxnSpLocks/>
          </p:cNvCxnSpPr>
          <p:nvPr/>
        </p:nvCxnSpPr>
        <p:spPr>
          <a:xfrm>
            <a:off x="1108238" y="5895447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CEA2098-C0D2-730B-156B-CFFC2E43B734}"/>
              </a:ext>
            </a:extLst>
          </p:cNvPr>
          <p:cNvSpPr txBox="1"/>
          <p:nvPr/>
        </p:nvSpPr>
        <p:spPr>
          <a:xfrm>
            <a:off x="1234644" y="4977475"/>
            <a:ext cx="425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4CBEA5-F306-1484-B3A5-5D2F672402D9}"/>
              </a:ext>
            </a:extLst>
          </p:cNvPr>
          <p:cNvSpPr txBox="1"/>
          <p:nvPr/>
        </p:nvSpPr>
        <p:spPr>
          <a:xfrm>
            <a:off x="1249616" y="5503103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E128679-248C-F065-5B4C-B16265F6084C}"/>
              </a:ext>
            </a:extLst>
          </p:cNvPr>
          <p:cNvSpPr/>
          <p:nvPr/>
        </p:nvSpPr>
        <p:spPr>
          <a:xfrm>
            <a:off x="7151906" y="3722473"/>
            <a:ext cx="988167" cy="342697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DvStri</a:t>
            </a:r>
            <a:r>
              <a:rPr lang="en-GB" sz="10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E958079-4ED7-285E-AB23-C453C4EDB873}"/>
              </a:ext>
            </a:extLst>
          </p:cNvPr>
          <p:cNvSpPr/>
          <p:nvPr/>
        </p:nvSpPr>
        <p:spPr>
          <a:xfrm>
            <a:off x="7151906" y="4528674"/>
            <a:ext cx="988167" cy="6001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B200 = B200 + </a:t>
            </a:r>
            <a:r>
              <a:rPr lang="en-GB" sz="1000" b="1" dirty="0" err="1">
                <a:solidFill>
                  <a:schemeClr val="tx1"/>
                </a:solidFill>
              </a:rPr>
              <a:t>DvStri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467F55B-BBB7-12D9-7FAC-339E1581D411}"/>
              </a:ext>
            </a:extLst>
          </p:cNvPr>
          <p:cNvCxnSpPr>
            <a:cxnSpLocks/>
            <a:stCxn id="54" idx="2"/>
            <a:endCxn id="57" idx="0"/>
          </p:cNvCxnSpPr>
          <p:nvPr/>
        </p:nvCxnSpPr>
        <p:spPr>
          <a:xfrm>
            <a:off x="7645990" y="4065170"/>
            <a:ext cx="0" cy="4635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F0E15B7-E138-A96D-2966-97BE5B382016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flipH="1">
            <a:off x="7645989" y="2128849"/>
            <a:ext cx="6100" cy="4297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0E56507F-0079-BC06-86EA-412F69D4537F}"/>
              </a:ext>
            </a:extLst>
          </p:cNvPr>
          <p:cNvSpPr/>
          <p:nvPr/>
        </p:nvSpPr>
        <p:spPr>
          <a:xfrm>
            <a:off x="8936964" y="3605816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8301BCC-5979-4D49-9854-30360C45D833}"/>
              </a:ext>
            </a:extLst>
          </p:cNvPr>
          <p:cNvCxnSpPr>
            <a:cxnSpLocks/>
            <a:stCxn id="54" idx="3"/>
            <a:endCxn id="73" idx="2"/>
          </p:cNvCxnSpPr>
          <p:nvPr/>
        </p:nvCxnSpPr>
        <p:spPr>
          <a:xfrm flipV="1">
            <a:off x="8140073" y="3893816"/>
            <a:ext cx="796891" cy="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>
            <a:extLst>
              <a:ext uri="{FF2B5EF4-FFF2-40B4-BE49-F238E27FC236}">
                <a16:creationId xmlns:a16="http://schemas.microsoft.com/office/drawing/2014/main" id="{DB8E5C32-9DF8-09E0-1FA5-D57E5E7A04B6}"/>
              </a:ext>
            </a:extLst>
          </p:cNvPr>
          <p:cNvSpPr/>
          <p:nvPr/>
        </p:nvSpPr>
        <p:spPr>
          <a:xfrm>
            <a:off x="8936964" y="4540755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DB5F01B-E6D5-D9D9-CB31-6D729E82B926}"/>
              </a:ext>
            </a:extLst>
          </p:cNvPr>
          <p:cNvCxnSpPr>
            <a:cxnSpLocks/>
            <a:stCxn id="57" idx="3"/>
            <a:endCxn id="75" idx="2"/>
          </p:cNvCxnSpPr>
          <p:nvPr/>
        </p:nvCxnSpPr>
        <p:spPr>
          <a:xfrm flipV="1">
            <a:off x="8140073" y="4828755"/>
            <a:ext cx="796891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7F38A3C1-2EAD-C808-76CE-993EF0A76AC7}"/>
              </a:ext>
            </a:extLst>
          </p:cNvPr>
          <p:cNvSpPr/>
          <p:nvPr/>
        </p:nvSpPr>
        <p:spPr>
          <a:xfrm>
            <a:off x="8810964" y="1634367"/>
            <a:ext cx="8280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B200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ED17C36-6749-B271-AA1A-F88721362EFD}"/>
              </a:ext>
            </a:extLst>
          </p:cNvPr>
          <p:cNvCxnSpPr>
            <a:cxnSpLocks/>
            <a:stCxn id="10" idx="3"/>
            <a:endCxn id="79" idx="1"/>
          </p:cNvCxnSpPr>
          <p:nvPr/>
        </p:nvCxnSpPr>
        <p:spPr>
          <a:xfrm flipV="1">
            <a:off x="8066089" y="1828767"/>
            <a:ext cx="744875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666B8C3-8D39-6B2E-3A40-29B9CA36832F}"/>
              </a:ext>
            </a:extLst>
          </p:cNvPr>
          <p:cNvCxnSpPr>
            <a:cxnSpLocks/>
            <a:stCxn id="11" idx="3"/>
            <a:endCxn id="54" idx="1"/>
          </p:cNvCxnSpPr>
          <p:nvPr/>
        </p:nvCxnSpPr>
        <p:spPr>
          <a:xfrm flipV="1">
            <a:off x="6490163" y="3893822"/>
            <a:ext cx="661743" cy="31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FE7CBCC-73C2-35E2-48BB-17575FBBE928}"/>
              </a:ext>
            </a:extLst>
          </p:cNvPr>
          <p:cNvSpPr/>
          <p:nvPr/>
        </p:nvSpPr>
        <p:spPr>
          <a:xfrm>
            <a:off x="2519458" y="2695438"/>
            <a:ext cx="828000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B200 = </a:t>
            </a:r>
            <a:r>
              <a:rPr lang="en-GB" sz="1100" b="1" dirty="0" err="1">
                <a:solidFill>
                  <a:schemeClr val="tx1"/>
                </a:solidFill>
              </a:rPr>
              <a:t>DvMort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BB2EB03-401D-1DCB-6990-52FD06E2320A}"/>
              </a:ext>
            </a:extLst>
          </p:cNvPr>
          <p:cNvSpPr/>
          <p:nvPr/>
        </p:nvSpPr>
        <p:spPr>
          <a:xfrm>
            <a:off x="2519458" y="1528685"/>
            <a:ext cx="828000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= REPAY = REPAY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0BC2459-6253-F0D8-6C67-E03E052B6CD9}"/>
              </a:ext>
            </a:extLst>
          </p:cNvPr>
          <p:cNvCxnSpPr>
            <a:cxnSpLocks/>
            <a:stCxn id="107" idx="2"/>
            <a:endCxn id="106" idx="0"/>
          </p:cNvCxnSpPr>
          <p:nvPr/>
        </p:nvCxnSpPr>
        <p:spPr>
          <a:xfrm>
            <a:off x="2933458" y="2128849"/>
            <a:ext cx="0" cy="5665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27BEAEE-22AC-DF3E-EEFB-299F8055BBC8}"/>
              </a:ext>
            </a:extLst>
          </p:cNvPr>
          <p:cNvSpPr/>
          <p:nvPr/>
        </p:nvSpPr>
        <p:spPr>
          <a:xfrm>
            <a:off x="1312342" y="1637534"/>
            <a:ext cx="828000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B200 = 0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D085F243-6C49-F1DA-EB19-9288FF52C1BC}"/>
              </a:ext>
            </a:extLst>
          </p:cNvPr>
          <p:cNvCxnSpPr>
            <a:cxnSpLocks/>
            <a:stCxn id="110" idx="3"/>
            <a:endCxn id="107" idx="1"/>
          </p:cNvCxnSpPr>
          <p:nvPr/>
        </p:nvCxnSpPr>
        <p:spPr>
          <a:xfrm>
            <a:off x="2140342" y="1828767"/>
            <a:ext cx="379116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1A321BE5-5618-4FB0-5DC1-9C9D9E86F260}"/>
              </a:ext>
            </a:extLst>
          </p:cNvPr>
          <p:cNvCxnSpPr>
            <a:cxnSpLocks/>
            <a:stCxn id="37" idx="3"/>
            <a:endCxn id="110" idx="1"/>
          </p:cNvCxnSpPr>
          <p:nvPr/>
        </p:nvCxnSpPr>
        <p:spPr>
          <a:xfrm flipV="1">
            <a:off x="1024666" y="1828767"/>
            <a:ext cx="287676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F5C41602-D297-BA3F-6B67-04FE442F443A}"/>
              </a:ext>
            </a:extLst>
          </p:cNvPr>
          <p:cNvCxnSpPr>
            <a:cxnSpLocks/>
            <a:stCxn id="106" idx="3"/>
          </p:cNvCxnSpPr>
          <p:nvPr/>
        </p:nvCxnSpPr>
        <p:spPr>
          <a:xfrm>
            <a:off x="3347458" y="2886671"/>
            <a:ext cx="5161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EE7860DE-7235-C955-B28E-05E44A3D9C3B}"/>
              </a:ext>
            </a:extLst>
          </p:cNvPr>
          <p:cNvCxnSpPr>
            <a:cxnSpLocks/>
          </p:cNvCxnSpPr>
          <p:nvPr/>
        </p:nvCxnSpPr>
        <p:spPr>
          <a:xfrm flipH="1" flipV="1">
            <a:off x="3883334" y="1948586"/>
            <a:ext cx="0" cy="93808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24C7C8E8-6D40-F447-EF5F-A0DAF0D1D667}"/>
              </a:ext>
            </a:extLst>
          </p:cNvPr>
          <p:cNvSpPr txBox="1"/>
          <p:nvPr/>
        </p:nvSpPr>
        <p:spPr>
          <a:xfrm>
            <a:off x="8616265" y="5280176"/>
            <a:ext cx="12442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FLOW CHART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CONTINUED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ON NEXT PAGE</a:t>
            </a:r>
          </a:p>
        </p:txBody>
      </p:sp>
    </p:spTree>
    <p:extLst>
      <p:ext uri="{BB962C8B-B14F-4D97-AF65-F5344CB8AC3E}">
        <p14:creationId xmlns:p14="http://schemas.microsoft.com/office/powerpoint/2010/main" val="2216163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3F6C1-94DF-3943-C971-424E2E05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8016-455F-63EF-DB49-6BEF21F2C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B200 – Mortgage interest/principal (last payment)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CFCB5F-E48D-D395-7B28-8584547D144A}"/>
              </a:ext>
            </a:extLst>
          </p:cNvPr>
          <p:cNvSpPr/>
          <p:nvPr/>
        </p:nvSpPr>
        <p:spPr>
          <a:xfrm>
            <a:off x="5019169" y="2827056"/>
            <a:ext cx="1613538" cy="9665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>
                <a:solidFill>
                  <a:schemeClr val="tx1"/>
                </a:solidFill>
              </a:rPr>
              <a:t>B200 = B200 – </a:t>
            </a:r>
          </a:p>
          <a:p>
            <a:pPr algn="ctr"/>
            <a:r>
              <a:rPr lang="es-ES" sz="1100" b="1" dirty="0">
                <a:solidFill>
                  <a:schemeClr val="tx1"/>
                </a:solidFill>
              </a:rPr>
              <a:t>((PersiVal*0.40*3.50/5200) – </a:t>
            </a:r>
          </a:p>
          <a:p>
            <a:pPr algn="ctr"/>
            <a:r>
              <a:rPr lang="es-ES" sz="1100" b="1" dirty="0">
                <a:solidFill>
                  <a:schemeClr val="tx1"/>
                </a:solidFill>
              </a:rPr>
              <a:t>(PersiVal*0.40/5200))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2EED91-C34B-45C3-E184-803DE458CD59}"/>
              </a:ext>
            </a:extLst>
          </p:cNvPr>
          <p:cNvSpPr/>
          <p:nvPr/>
        </p:nvSpPr>
        <p:spPr>
          <a:xfrm>
            <a:off x="6980624" y="2827056"/>
            <a:ext cx="1613538" cy="96657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B200 = B200 – 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((</a:t>
            </a:r>
            <a:r>
              <a:rPr lang="en-GB" sz="1100" b="1" dirty="0" err="1">
                <a:solidFill>
                  <a:schemeClr val="tx1"/>
                </a:solidFill>
              </a:rPr>
              <a:t>StriVal</a:t>
            </a:r>
            <a:r>
              <a:rPr lang="en-GB" sz="1100" b="1" dirty="0">
                <a:solidFill>
                  <a:schemeClr val="tx1"/>
                </a:solidFill>
              </a:rPr>
              <a:t>*0.20/5200) – 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(</a:t>
            </a:r>
            <a:r>
              <a:rPr lang="en-GB" sz="1100" b="1" dirty="0" err="1">
                <a:solidFill>
                  <a:schemeClr val="tx1"/>
                </a:solidFill>
              </a:rPr>
              <a:t>StriVal</a:t>
            </a:r>
            <a:r>
              <a:rPr lang="en-GB" sz="1100" b="1" dirty="0">
                <a:solidFill>
                  <a:schemeClr val="tx1"/>
                </a:solidFill>
              </a:rPr>
              <a:t>*((0.20/5200)/3.5)))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D5D5AE-0C07-20D0-184E-1EE0268ED670}"/>
              </a:ext>
            </a:extLst>
          </p:cNvPr>
          <p:cNvSpPr/>
          <p:nvPr/>
        </p:nvSpPr>
        <p:spPr>
          <a:xfrm>
            <a:off x="5019169" y="1185515"/>
            <a:ext cx="1613538" cy="12865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YES IN </a:t>
            </a:r>
            <a:r>
              <a:rPr lang="en-GB" sz="1000" b="1" dirty="0" err="1">
                <a:solidFill>
                  <a:schemeClr val="tx1"/>
                </a:solidFill>
              </a:rPr>
              <a:t>StrInc</a:t>
            </a:r>
            <a:endParaRPr lang="en-GB" sz="1000" b="1" dirty="0">
              <a:solidFill>
                <a:schemeClr val="tx1"/>
              </a:solidFill>
            </a:endParaRP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AND COMBO IN </a:t>
            </a:r>
            <a:r>
              <a:rPr lang="en-GB" sz="1000" b="1" dirty="0" err="1">
                <a:solidFill>
                  <a:schemeClr val="tx1"/>
                </a:solidFill>
              </a:rPr>
              <a:t>StriType</a:t>
            </a:r>
            <a:endParaRPr lang="en-GB" sz="1000" b="1" dirty="0">
              <a:solidFill>
                <a:schemeClr val="tx1"/>
              </a:solidFill>
            </a:endParaRP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AND </a:t>
            </a:r>
            <a:r>
              <a:rPr lang="en-GB" sz="1000" b="1" dirty="0" err="1">
                <a:solidFill>
                  <a:schemeClr val="tx1"/>
                </a:solidFill>
              </a:rPr>
              <a:t>Striprem</a:t>
            </a:r>
            <a:r>
              <a:rPr lang="en-GB" sz="1000" b="1" dirty="0">
                <a:solidFill>
                  <a:schemeClr val="tx1"/>
                </a:solidFill>
              </a:rPr>
              <a:t> = DONTKNOW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AND 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 = EMPTY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PersiVal &gt; 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3CB968-F68C-0E23-82F7-B16428A2FCCA}"/>
              </a:ext>
            </a:extLst>
          </p:cNvPr>
          <p:cNvSpPr/>
          <p:nvPr/>
        </p:nvSpPr>
        <p:spPr>
          <a:xfrm>
            <a:off x="6980624" y="1185515"/>
            <a:ext cx="1613538" cy="12865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YES IN </a:t>
            </a:r>
            <a:r>
              <a:rPr lang="en-GB" sz="1000" b="1" dirty="0" err="1">
                <a:solidFill>
                  <a:schemeClr val="tx1"/>
                </a:solidFill>
              </a:rPr>
              <a:t>StrInc</a:t>
            </a:r>
            <a:endParaRPr lang="en-GB" sz="1000" b="1" dirty="0">
              <a:solidFill>
                <a:schemeClr val="tx1"/>
              </a:solidFill>
            </a:endParaRP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AND COMBO IN </a:t>
            </a:r>
            <a:r>
              <a:rPr lang="en-GB" sz="1000" b="1" dirty="0" err="1">
                <a:solidFill>
                  <a:schemeClr val="tx1"/>
                </a:solidFill>
              </a:rPr>
              <a:t>StriType</a:t>
            </a:r>
            <a:endParaRPr lang="en-GB" sz="1000" b="1" dirty="0">
              <a:solidFill>
                <a:schemeClr val="tx1"/>
              </a:solidFill>
            </a:endParaRP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AND </a:t>
            </a:r>
            <a:r>
              <a:rPr lang="en-GB" sz="1000" b="1" dirty="0" err="1">
                <a:solidFill>
                  <a:schemeClr val="tx1"/>
                </a:solidFill>
              </a:rPr>
              <a:t>Striprem</a:t>
            </a:r>
            <a:r>
              <a:rPr lang="en-GB" sz="1000" b="1" dirty="0">
                <a:solidFill>
                  <a:schemeClr val="tx1"/>
                </a:solidFill>
              </a:rPr>
              <a:t> = DONTKNOW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AND 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 &gt; 0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PersiVal = EMPTY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02B4A4-7BB0-73C0-636D-D5CE984932B3}"/>
              </a:ext>
            </a:extLst>
          </p:cNvPr>
          <p:cNvSpPr/>
          <p:nvPr/>
        </p:nvSpPr>
        <p:spPr>
          <a:xfrm>
            <a:off x="1088773" y="2789299"/>
            <a:ext cx="1613538" cy="9665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B200 = B200 – (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*0.20/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5200)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B0B98E-8DB8-B48C-E641-104C67E991B0}"/>
              </a:ext>
            </a:extLst>
          </p:cNvPr>
          <p:cNvCxnSpPr>
            <a:cxnSpLocks/>
            <a:stCxn id="107" idx="3"/>
            <a:endCxn id="8" idx="1"/>
          </p:cNvCxnSpPr>
          <p:nvPr/>
        </p:nvCxnSpPr>
        <p:spPr>
          <a:xfrm>
            <a:off x="4671252" y="1828768"/>
            <a:ext cx="34791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58DC35-79EE-9F11-2916-09BE27139DAB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632707" y="1828768"/>
            <a:ext cx="34791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CE2F299-A3DF-0680-EE58-9A869BF4DE1B}"/>
              </a:ext>
            </a:extLst>
          </p:cNvPr>
          <p:cNvCxnSpPr>
            <a:cxnSpLocks/>
            <a:stCxn id="9" idx="3"/>
            <a:endCxn id="79" idx="1"/>
          </p:cNvCxnSpPr>
          <p:nvPr/>
        </p:nvCxnSpPr>
        <p:spPr>
          <a:xfrm flipV="1">
            <a:off x="8594162" y="1828767"/>
            <a:ext cx="271394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D8CEB84-E25F-DA57-DA10-DF6EC400059F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>
            <a:off x="5825938" y="2472020"/>
            <a:ext cx="0" cy="355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0AFF7F-29A2-B693-8F55-52CD5D088B47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7787393" y="2472020"/>
            <a:ext cx="0" cy="355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DDF0C4-5C45-E2CE-F964-B7E3E0F2333B}"/>
              </a:ext>
            </a:extLst>
          </p:cNvPr>
          <p:cNvCxnSpPr>
            <a:cxnSpLocks/>
            <a:stCxn id="110" idx="2"/>
            <a:endCxn id="11" idx="0"/>
          </p:cNvCxnSpPr>
          <p:nvPr/>
        </p:nvCxnSpPr>
        <p:spPr>
          <a:xfrm>
            <a:off x="1895542" y="2472020"/>
            <a:ext cx="0" cy="317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58BF6E1-5481-1E9F-AF8A-3C7D06CA2AB2}"/>
              </a:ext>
            </a:extLst>
          </p:cNvPr>
          <p:cNvSpPr/>
          <p:nvPr/>
        </p:nvSpPr>
        <p:spPr>
          <a:xfrm>
            <a:off x="814464" y="4790547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D1ED3DE-CD00-5A46-561F-65B6E765B754}"/>
              </a:ext>
            </a:extLst>
          </p:cNvPr>
          <p:cNvCxnSpPr>
            <a:cxnSpLocks/>
          </p:cNvCxnSpPr>
          <p:nvPr/>
        </p:nvCxnSpPr>
        <p:spPr>
          <a:xfrm>
            <a:off x="1108238" y="5369667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525EB3E-B35B-4449-3AE0-0BA0FAB16F87}"/>
              </a:ext>
            </a:extLst>
          </p:cNvPr>
          <p:cNvCxnSpPr>
            <a:cxnSpLocks/>
          </p:cNvCxnSpPr>
          <p:nvPr/>
        </p:nvCxnSpPr>
        <p:spPr>
          <a:xfrm>
            <a:off x="1108238" y="5895447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6583E69-576E-808A-1AD9-0B9D3B12904C}"/>
              </a:ext>
            </a:extLst>
          </p:cNvPr>
          <p:cNvSpPr txBox="1"/>
          <p:nvPr/>
        </p:nvSpPr>
        <p:spPr>
          <a:xfrm>
            <a:off x="1234644" y="4977475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1172E8-C7BF-ED01-CA6C-966E28E55487}"/>
              </a:ext>
            </a:extLst>
          </p:cNvPr>
          <p:cNvSpPr txBox="1"/>
          <p:nvPr/>
        </p:nvSpPr>
        <p:spPr>
          <a:xfrm>
            <a:off x="1249616" y="5503103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1CDC93A-75F9-3772-668E-5B79302060C1}"/>
              </a:ext>
            </a:extLst>
          </p:cNvPr>
          <p:cNvSpPr/>
          <p:nvPr/>
        </p:nvSpPr>
        <p:spPr>
          <a:xfrm>
            <a:off x="8865556" y="1634367"/>
            <a:ext cx="8280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B200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637713C-DD41-DBEB-FB5D-6306EE7DCB36}"/>
              </a:ext>
            </a:extLst>
          </p:cNvPr>
          <p:cNvSpPr/>
          <p:nvPr/>
        </p:nvSpPr>
        <p:spPr>
          <a:xfrm>
            <a:off x="3057714" y="2789300"/>
            <a:ext cx="1613538" cy="9665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b="1" dirty="0">
                <a:solidFill>
                  <a:schemeClr val="tx1"/>
                </a:solidFill>
              </a:rPr>
              <a:t>B200 = B200 – </a:t>
            </a:r>
          </a:p>
          <a:p>
            <a:pPr algn="ctr"/>
            <a:r>
              <a:rPr lang="sv-SE" sz="1100" b="1" dirty="0">
                <a:solidFill>
                  <a:schemeClr val="tx1"/>
                </a:solidFill>
              </a:rPr>
              <a:t>(StriVal*0.20/5200) – </a:t>
            </a:r>
          </a:p>
          <a:p>
            <a:pPr algn="ctr"/>
            <a:r>
              <a:rPr lang="sv-SE" sz="1100" b="1" dirty="0">
                <a:solidFill>
                  <a:schemeClr val="tx1"/>
                </a:solidFill>
              </a:rPr>
              <a:t>(PersiVal*0.40/5200)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496DB95-A54F-3570-0C34-0C24EBB2ADFB}"/>
              </a:ext>
            </a:extLst>
          </p:cNvPr>
          <p:cNvSpPr/>
          <p:nvPr/>
        </p:nvSpPr>
        <p:spPr>
          <a:xfrm>
            <a:off x="3057714" y="1185515"/>
            <a:ext cx="1613538" cy="12865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YES IN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StrInc</a:t>
            </a:r>
            <a:endParaRPr lang="en-GB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AND COMBO IN </a:t>
            </a:r>
          </a:p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StriType</a:t>
            </a:r>
            <a:endParaRPr lang="en-GB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AND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Striprem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DONTKNOW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AND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StriVal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&gt; 0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AND PersiVal &gt; 0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FFAB19C-A288-AC91-7019-59A96415FC4A}"/>
              </a:ext>
            </a:extLst>
          </p:cNvPr>
          <p:cNvCxnSpPr>
            <a:cxnSpLocks/>
            <a:stCxn id="107" idx="2"/>
            <a:endCxn id="106" idx="0"/>
          </p:cNvCxnSpPr>
          <p:nvPr/>
        </p:nvCxnSpPr>
        <p:spPr>
          <a:xfrm>
            <a:off x="3864483" y="2472020"/>
            <a:ext cx="0" cy="3172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DFA7B96-1D0F-0B49-00E2-FCD994BC5CC6}"/>
              </a:ext>
            </a:extLst>
          </p:cNvPr>
          <p:cNvSpPr/>
          <p:nvPr/>
        </p:nvSpPr>
        <p:spPr>
          <a:xfrm>
            <a:off x="1088773" y="1195780"/>
            <a:ext cx="1613538" cy="12762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YES IN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StrInc</a:t>
            </a:r>
            <a:endParaRPr lang="en-GB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AND STRONLY IN </a:t>
            </a:r>
          </a:p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StriType</a:t>
            </a:r>
            <a:endParaRPr lang="en-GB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AND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Striprem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DONTKNOW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AND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StriVal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&gt; 0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277A34B-6A63-4740-D91E-EBDAFAAF3946}"/>
              </a:ext>
            </a:extLst>
          </p:cNvPr>
          <p:cNvCxnSpPr>
            <a:cxnSpLocks/>
            <a:stCxn id="110" idx="3"/>
            <a:endCxn id="107" idx="1"/>
          </p:cNvCxnSpPr>
          <p:nvPr/>
        </p:nvCxnSpPr>
        <p:spPr>
          <a:xfrm flipV="1">
            <a:off x="2702311" y="1828768"/>
            <a:ext cx="355403" cy="513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13F15D41-0FB2-325D-BBC0-909E046F4765}"/>
              </a:ext>
            </a:extLst>
          </p:cNvPr>
          <p:cNvCxnSpPr>
            <a:cxnSpLocks/>
            <a:stCxn id="3" idx="6"/>
            <a:endCxn id="110" idx="1"/>
          </p:cNvCxnSpPr>
          <p:nvPr/>
        </p:nvCxnSpPr>
        <p:spPr>
          <a:xfrm>
            <a:off x="880628" y="1828767"/>
            <a:ext cx="208145" cy="5133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F2F059A9-1E24-BB2D-4B23-31929C382416}"/>
              </a:ext>
            </a:extLst>
          </p:cNvPr>
          <p:cNvSpPr/>
          <p:nvPr/>
        </p:nvSpPr>
        <p:spPr>
          <a:xfrm>
            <a:off x="304628" y="1540767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8037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883E-C29C-47CB-54E7-2D9477D0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9611-0722-827E-6016-FFBCEC548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B200 – Mortgage interest/principal (last payment)</a:t>
            </a:r>
            <a:endParaRPr lang="en-GB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99DC1C-CDB1-203B-7FA0-AEF882367C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5201" y="1107220"/>
            <a:ext cx="8935598" cy="5339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KEY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DvMorp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Derived from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MortProt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to give a weekly amount –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MortProt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– Mortgage: (Apart from any endowment policies they have mentioned). Does the respondent have a mortgage protection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policy to repay this mortgage in the event of sickness/accident, redundancy or death?)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DvMort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Derived from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MortPay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to give a weekly amount –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MortPay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– Mortgage: How much was the respondents last payment on this mortgage or loan?)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DvStri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Derived from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StriPrem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to give a weekly amount –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StriPrem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– Structural Insurance: How much was the last premium?)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DvWho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Derived from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WhoAmt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to give a weekly amount – 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WhoAmt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– Mortgage: How much did the respondent pay last time?)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InCmp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Is this payment included in the amount of [£amount] the respondent mentioned earlier?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InicNint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Is this payment included in the amount the respondent mentioned earlier [£amount]?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MortType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What type of mortgage is this?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Endow - An endowment mortgage where mortgage payments cover interest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Repay - A repayment mortgage where mortgage payments cover interest and part of the original loan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Pension - A pension mortgage where mortgage payments cover interest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UTISA - A Unit Trust or ISA mortgage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Endrep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BOTH an endowment (or other interest only) AND a repayment mortgage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Intlink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An interest only mortgage with MORE than one linked investment (e.g. pension and unit trust, endowment and ISA)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Intnolink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An interest only mortgage with NO linked investment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Equity - An equity release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mortage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Other - Another type (Please specify)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Persival - What is the insured value of the furniture and contents and/or personal possessions?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StrInc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Was this insurance premium included in the respondents last mortgage payment?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Striprem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How much was the last premium?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StriType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Are the payments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StrOnly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structure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Combo - structure combined with furniture and contents and/or personal possessions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PerOnly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furniture and contents and/or personal possessions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Strival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What is the insured value of the structure?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WhoInc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- Was this amount included in the mortgage repayment the respondent mentioned earlier?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05844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9043-ED7C-E06C-7B22-C9C13D01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A337-2CDE-6426-AC3B-1558B9361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B203 Mixed mortgage (last payment)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7346E32-1134-ECB4-C236-222EF165CB9B}"/>
              </a:ext>
            </a:extLst>
          </p:cNvPr>
          <p:cNvSpPr/>
          <p:nvPr/>
        </p:nvSpPr>
        <p:spPr>
          <a:xfrm>
            <a:off x="8880411" y="2741769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490532-28E0-75E3-7665-CA3368107719}"/>
              </a:ext>
            </a:extLst>
          </p:cNvPr>
          <p:cNvSpPr/>
          <p:nvPr/>
        </p:nvSpPr>
        <p:spPr>
          <a:xfrm>
            <a:off x="3900747" y="3882792"/>
            <a:ext cx="892800" cy="388800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DvWho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60DB88-44B6-863D-C333-832007FE5652}"/>
              </a:ext>
            </a:extLst>
          </p:cNvPr>
          <p:cNvSpPr/>
          <p:nvPr/>
        </p:nvSpPr>
        <p:spPr>
          <a:xfrm>
            <a:off x="5483359" y="3890104"/>
            <a:ext cx="894029" cy="388800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DvMorp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A302F-D0FD-3578-BBE9-CF4D358D6160}"/>
              </a:ext>
            </a:extLst>
          </p:cNvPr>
          <p:cNvSpPr/>
          <p:nvPr/>
        </p:nvSpPr>
        <p:spPr>
          <a:xfrm>
            <a:off x="7169989" y="3917400"/>
            <a:ext cx="892800" cy="342696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DvStri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6E4E4A-9CEA-5FAB-400B-BEF811695811}"/>
              </a:ext>
            </a:extLst>
          </p:cNvPr>
          <p:cNvSpPr/>
          <p:nvPr/>
        </p:nvSpPr>
        <p:spPr>
          <a:xfrm>
            <a:off x="3778434" y="2729687"/>
            <a:ext cx="1137775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EndRep</a:t>
            </a:r>
            <a:r>
              <a:rPr lang="en-GB" sz="1000" b="1" dirty="0">
                <a:solidFill>
                  <a:schemeClr val="tx1"/>
                </a:solidFill>
              </a:rPr>
              <a:t>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AND NO IN </a:t>
            </a:r>
            <a:r>
              <a:rPr lang="en-GB" sz="1000" b="1" dirty="0" err="1">
                <a:solidFill>
                  <a:schemeClr val="tx1"/>
                </a:solidFill>
              </a:rPr>
              <a:t>WhoInc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849BE8-51C4-2D4C-BDCA-01B7BD5BFDB8}"/>
              </a:ext>
            </a:extLst>
          </p:cNvPr>
          <p:cNvSpPr/>
          <p:nvPr/>
        </p:nvSpPr>
        <p:spPr>
          <a:xfrm>
            <a:off x="5357506" y="2729687"/>
            <a:ext cx="1135706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EndRep</a:t>
            </a:r>
            <a:r>
              <a:rPr lang="en-GB" sz="1000" b="1" dirty="0">
                <a:solidFill>
                  <a:schemeClr val="tx1"/>
                </a:solidFill>
              </a:rPr>
              <a:t>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AND YES IN </a:t>
            </a:r>
            <a:r>
              <a:rPr lang="en-GB" sz="1000" b="1" dirty="0" err="1">
                <a:solidFill>
                  <a:schemeClr val="tx1"/>
                </a:solidFill>
              </a:rPr>
              <a:t>InCmp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FB649A-4077-B2CC-679E-1658FC4701B0}"/>
              </a:ext>
            </a:extLst>
          </p:cNvPr>
          <p:cNvSpPr/>
          <p:nvPr/>
        </p:nvSpPr>
        <p:spPr>
          <a:xfrm>
            <a:off x="6965930" y="2729688"/>
            <a:ext cx="1299151" cy="6001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= </a:t>
            </a:r>
            <a:r>
              <a:rPr lang="en-GB" sz="1000" b="1" dirty="0" err="1">
                <a:solidFill>
                  <a:schemeClr val="tx1"/>
                </a:solidFill>
              </a:rPr>
              <a:t>EndRep</a:t>
            </a:r>
            <a:r>
              <a:rPr lang="en-GB" sz="1000" b="1" dirty="0">
                <a:solidFill>
                  <a:schemeClr val="tx1"/>
                </a:solidFill>
              </a:rPr>
              <a:t>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AND </a:t>
            </a:r>
            <a:r>
              <a:rPr lang="en-GB" sz="1000" b="1" dirty="0" err="1">
                <a:solidFill>
                  <a:schemeClr val="tx1"/>
                </a:solidFill>
              </a:rPr>
              <a:t>Striprem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C75331-A845-FCBE-A70E-57D3BE8CBF4E}"/>
              </a:ext>
            </a:extLst>
          </p:cNvPr>
          <p:cNvSpPr/>
          <p:nvPr/>
        </p:nvSpPr>
        <p:spPr>
          <a:xfrm>
            <a:off x="5404089" y="4937525"/>
            <a:ext cx="1065600" cy="3548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B203 = B203 + </a:t>
            </a:r>
            <a:r>
              <a:rPr lang="en-GB" sz="1000" b="1" dirty="0" err="1">
                <a:solidFill>
                  <a:schemeClr val="tx1"/>
                </a:solidFill>
              </a:rPr>
              <a:t>DvMorp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9415A7-41C8-0EA5-F763-BDFD503A269F}"/>
              </a:ext>
            </a:extLst>
          </p:cNvPr>
          <p:cNvCxnSpPr>
            <a:cxnSpLocks/>
            <a:stCxn id="107" idx="3"/>
            <a:endCxn id="8" idx="1"/>
          </p:cNvCxnSpPr>
          <p:nvPr/>
        </p:nvCxnSpPr>
        <p:spPr>
          <a:xfrm>
            <a:off x="3347458" y="3029769"/>
            <a:ext cx="430976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5A0218-87E3-1A71-791D-06F1E9A9CC3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916209" y="3029769"/>
            <a:ext cx="44129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808ED3B-0EBE-EAC8-034A-B32E0FBA68E5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493212" y="3029769"/>
            <a:ext cx="472718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E6383F-4F71-DB82-7A9A-0E01775AFECC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 flipH="1">
            <a:off x="4347147" y="3329851"/>
            <a:ext cx="175" cy="5529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DF56D2-9145-9D6A-FDC9-ED047DAE83F7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5925359" y="3329851"/>
            <a:ext cx="5015" cy="5602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72158A-587C-C27D-6DCD-A5A36C09B770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5930374" y="4278904"/>
            <a:ext cx="6515" cy="6586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B1FA86-AEFB-E1C3-40BF-614B59F159D2}"/>
              </a:ext>
            </a:extLst>
          </p:cNvPr>
          <p:cNvCxnSpPr>
            <a:cxnSpLocks/>
            <a:stCxn id="7" idx="2"/>
            <a:endCxn id="54" idx="0"/>
          </p:cNvCxnSpPr>
          <p:nvPr/>
        </p:nvCxnSpPr>
        <p:spPr>
          <a:xfrm flipH="1">
            <a:off x="7615510" y="4260096"/>
            <a:ext cx="879" cy="6633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410D13-0D18-94D0-C602-109D35FB5131}"/>
              </a:ext>
            </a:extLst>
          </p:cNvPr>
          <p:cNvCxnSpPr>
            <a:cxnSpLocks/>
            <a:stCxn id="10" idx="3"/>
            <a:endCxn id="4" idx="2"/>
          </p:cNvCxnSpPr>
          <p:nvPr/>
        </p:nvCxnSpPr>
        <p:spPr>
          <a:xfrm flipV="1">
            <a:off x="8265081" y="3029769"/>
            <a:ext cx="615330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4F030C-5804-9FA8-EDE9-0BE18A06F567}"/>
              </a:ext>
            </a:extLst>
          </p:cNvPr>
          <p:cNvCxnSpPr>
            <a:cxnSpLocks/>
          </p:cNvCxnSpPr>
          <p:nvPr/>
        </p:nvCxnSpPr>
        <p:spPr>
          <a:xfrm flipH="1" flipV="1">
            <a:off x="5186256" y="3163236"/>
            <a:ext cx="0" cy="191248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162DD7B-4395-CCDF-08C0-8BCDB0072D70}"/>
              </a:ext>
            </a:extLst>
          </p:cNvPr>
          <p:cNvCxnSpPr>
            <a:cxnSpLocks/>
            <a:stCxn id="5" idx="2"/>
            <a:endCxn id="32" idx="0"/>
          </p:cNvCxnSpPr>
          <p:nvPr/>
        </p:nvCxnSpPr>
        <p:spPr>
          <a:xfrm flipH="1">
            <a:off x="4346217" y="4271592"/>
            <a:ext cx="930" cy="6319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5F77EEF-66BB-3553-3B81-FAF6CAA1A864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4879766" y="5094818"/>
            <a:ext cx="32782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E8F47F3-367A-29D3-1E8E-6673BCCF6E8E}"/>
              </a:ext>
            </a:extLst>
          </p:cNvPr>
          <p:cNvSpPr/>
          <p:nvPr/>
        </p:nvSpPr>
        <p:spPr>
          <a:xfrm>
            <a:off x="3812667" y="4903585"/>
            <a:ext cx="1067099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B203 = B203 + </a:t>
            </a:r>
            <a:r>
              <a:rPr lang="en-GB" sz="1000" b="1" dirty="0" err="1">
                <a:solidFill>
                  <a:schemeClr val="tx1"/>
                </a:solidFill>
              </a:rPr>
              <a:t>DvWho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E3BE384-EC2D-3253-101F-AFFB7C35DA0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793547" y="4077192"/>
            <a:ext cx="689812" cy="731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E70821F-F567-FE16-3CD9-C262BD721E63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377388" y="4084504"/>
            <a:ext cx="792601" cy="424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67AEF9B-4433-3685-3567-06A5CC94973E}"/>
              </a:ext>
            </a:extLst>
          </p:cNvPr>
          <p:cNvSpPr/>
          <p:nvPr/>
        </p:nvSpPr>
        <p:spPr>
          <a:xfrm>
            <a:off x="196666" y="2791753"/>
            <a:ext cx="828000" cy="476033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69CF5E-C34A-3245-DBB3-3745653F5ECB}"/>
              </a:ext>
            </a:extLst>
          </p:cNvPr>
          <p:cNvSpPr/>
          <p:nvPr/>
        </p:nvSpPr>
        <p:spPr>
          <a:xfrm>
            <a:off x="196666" y="5286051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222BDED-9CF2-F338-3404-EB0DB3BD05EC}"/>
              </a:ext>
            </a:extLst>
          </p:cNvPr>
          <p:cNvCxnSpPr>
            <a:cxnSpLocks/>
          </p:cNvCxnSpPr>
          <p:nvPr/>
        </p:nvCxnSpPr>
        <p:spPr>
          <a:xfrm>
            <a:off x="490440" y="5865171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DF8B334-A252-77D9-E16E-51253FC2296D}"/>
              </a:ext>
            </a:extLst>
          </p:cNvPr>
          <p:cNvCxnSpPr>
            <a:cxnSpLocks/>
          </p:cNvCxnSpPr>
          <p:nvPr/>
        </p:nvCxnSpPr>
        <p:spPr>
          <a:xfrm>
            <a:off x="490440" y="6390951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8203942-4736-72A6-9343-E74D120B6990}"/>
              </a:ext>
            </a:extLst>
          </p:cNvPr>
          <p:cNvSpPr txBox="1"/>
          <p:nvPr/>
        </p:nvSpPr>
        <p:spPr>
          <a:xfrm>
            <a:off x="616846" y="5472979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847273-612A-C138-A779-DC2787AB8C76}"/>
              </a:ext>
            </a:extLst>
          </p:cNvPr>
          <p:cNvSpPr txBox="1"/>
          <p:nvPr/>
        </p:nvSpPr>
        <p:spPr>
          <a:xfrm>
            <a:off x="631818" y="5998607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520C42D-5B64-33B7-471C-11641C5885D9}"/>
              </a:ext>
            </a:extLst>
          </p:cNvPr>
          <p:cNvSpPr/>
          <p:nvPr/>
        </p:nvSpPr>
        <p:spPr>
          <a:xfrm>
            <a:off x="7121426" y="4923475"/>
            <a:ext cx="988167" cy="3426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B203 = B203 + </a:t>
            </a:r>
            <a:r>
              <a:rPr lang="en-GB" sz="1000" b="1" dirty="0" err="1">
                <a:solidFill>
                  <a:schemeClr val="tx1"/>
                </a:solidFill>
              </a:rPr>
              <a:t>DvStri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992D60B-2D15-6DA6-06E2-2FEF43AC1CD3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>
            <a:off x="7615506" y="3329851"/>
            <a:ext cx="883" cy="5875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B0DB1779-3E4C-31CC-3701-E4D017A50C18}"/>
              </a:ext>
            </a:extLst>
          </p:cNvPr>
          <p:cNvSpPr/>
          <p:nvPr/>
        </p:nvSpPr>
        <p:spPr>
          <a:xfrm>
            <a:off x="8642089" y="3896440"/>
            <a:ext cx="8280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B203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D7452FE-ED68-62A8-548C-6029372FC2CB}"/>
              </a:ext>
            </a:extLst>
          </p:cNvPr>
          <p:cNvCxnSpPr>
            <a:cxnSpLocks/>
            <a:stCxn id="7" idx="3"/>
            <a:endCxn id="79" idx="1"/>
          </p:cNvCxnSpPr>
          <p:nvPr/>
        </p:nvCxnSpPr>
        <p:spPr>
          <a:xfrm>
            <a:off x="8062789" y="4088748"/>
            <a:ext cx="579300" cy="209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C39218A-9D1C-E2B1-3B3D-EB2F5C001C0D}"/>
              </a:ext>
            </a:extLst>
          </p:cNvPr>
          <p:cNvSpPr/>
          <p:nvPr/>
        </p:nvSpPr>
        <p:spPr>
          <a:xfrm>
            <a:off x="2492162" y="3896440"/>
            <a:ext cx="8928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B203 = </a:t>
            </a:r>
            <a:r>
              <a:rPr lang="en-GB" sz="1100" b="1" dirty="0" err="1">
                <a:solidFill>
                  <a:schemeClr val="tx1"/>
                </a:solidFill>
              </a:rPr>
              <a:t>DvMort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E45B27E-F196-F39C-D475-53D66A9466A4}"/>
              </a:ext>
            </a:extLst>
          </p:cNvPr>
          <p:cNvSpPr/>
          <p:nvPr/>
        </p:nvSpPr>
        <p:spPr>
          <a:xfrm>
            <a:off x="2519458" y="2729687"/>
            <a:ext cx="828000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EndRep</a:t>
            </a:r>
            <a:r>
              <a:rPr lang="en-GB" sz="1000" b="1" dirty="0">
                <a:solidFill>
                  <a:schemeClr val="tx1"/>
                </a:solidFill>
              </a:rPr>
              <a:t>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68844AA-DCC6-8547-0775-75D9896377F1}"/>
              </a:ext>
            </a:extLst>
          </p:cNvPr>
          <p:cNvCxnSpPr>
            <a:cxnSpLocks/>
            <a:stCxn id="107" idx="2"/>
            <a:endCxn id="106" idx="0"/>
          </p:cNvCxnSpPr>
          <p:nvPr/>
        </p:nvCxnSpPr>
        <p:spPr>
          <a:xfrm>
            <a:off x="2933458" y="3329851"/>
            <a:ext cx="5104" cy="5665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E7C4CBD-E452-527C-B672-A98F84CAE1A8}"/>
              </a:ext>
            </a:extLst>
          </p:cNvPr>
          <p:cNvSpPr/>
          <p:nvPr/>
        </p:nvSpPr>
        <p:spPr>
          <a:xfrm>
            <a:off x="1312342" y="2838536"/>
            <a:ext cx="828000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B203 = 0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D835183D-774B-93AE-4433-550D9075587E}"/>
              </a:ext>
            </a:extLst>
          </p:cNvPr>
          <p:cNvCxnSpPr>
            <a:cxnSpLocks/>
            <a:stCxn id="110" idx="3"/>
            <a:endCxn id="107" idx="1"/>
          </p:cNvCxnSpPr>
          <p:nvPr/>
        </p:nvCxnSpPr>
        <p:spPr>
          <a:xfrm>
            <a:off x="2140342" y="3029769"/>
            <a:ext cx="379116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4351105D-7023-AADA-9AE1-91C302F663A6}"/>
              </a:ext>
            </a:extLst>
          </p:cNvPr>
          <p:cNvCxnSpPr>
            <a:cxnSpLocks/>
            <a:stCxn id="37" idx="3"/>
            <a:endCxn id="110" idx="1"/>
          </p:cNvCxnSpPr>
          <p:nvPr/>
        </p:nvCxnSpPr>
        <p:spPr>
          <a:xfrm flipV="1">
            <a:off x="1024666" y="3029769"/>
            <a:ext cx="287676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6E33EC46-F801-7980-7285-DBD96C65A8BE}"/>
              </a:ext>
            </a:extLst>
          </p:cNvPr>
          <p:cNvCxnSpPr>
            <a:cxnSpLocks/>
            <a:stCxn id="106" idx="3"/>
          </p:cNvCxnSpPr>
          <p:nvPr/>
        </p:nvCxnSpPr>
        <p:spPr>
          <a:xfrm flipV="1">
            <a:off x="3384962" y="4087673"/>
            <a:ext cx="170825" cy="316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FB8595CA-7592-0220-CCDF-95E834BE8E5A}"/>
              </a:ext>
            </a:extLst>
          </p:cNvPr>
          <p:cNvCxnSpPr>
            <a:cxnSpLocks/>
          </p:cNvCxnSpPr>
          <p:nvPr/>
        </p:nvCxnSpPr>
        <p:spPr>
          <a:xfrm flipH="1" flipV="1">
            <a:off x="3555787" y="3149588"/>
            <a:ext cx="0" cy="93808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CA6C5E16-053C-36CF-4FA8-10DCEC8D1542}"/>
              </a:ext>
            </a:extLst>
          </p:cNvPr>
          <p:cNvSpPr txBox="1"/>
          <p:nvPr/>
        </p:nvSpPr>
        <p:spPr>
          <a:xfrm>
            <a:off x="8528445" y="1989477"/>
            <a:ext cx="12442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FLOW CHART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CONTINUED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ON NEXT PAGE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56BD2F8-7A32-853A-4F41-E4D835B2C162}"/>
              </a:ext>
            </a:extLst>
          </p:cNvPr>
          <p:cNvCxnSpPr>
            <a:cxnSpLocks/>
          </p:cNvCxnSpPr>
          <p:nvPr/>
        </p:nvCxnSpPr>
        <p:spPr>
          <a:xfrm flipH="1" flipV="1">
            <a:off x="6828210" y="3163236"/>
            <a:ext cx="0" cy="191248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E43A4-33A9-B411-80F4-D4446BD6533D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469689" y="5111198"/>
            <a:ext cx="35852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127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EC6B9-46F5-078D-4BA6-BEC491B66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89D6-FF54-2F82-668C-CC6631A67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B203 Mixed mortgage (last payment)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57C45B-A8F5-B97F-7BD2-66068ACEA170}"/>
              </a:ext>
            </a:extLst>
          </p:cNvPr>
          <p:cNvSpPr/>
          <p:nvPr/>
        </p:nvSpPr>
        <p:spPr>
          <a:xfrm>
            <a:off x="5019169" y="2827056"/>
            <a:ext cx="1613538" cy="9665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>
                <a:solidFill>
                  <a:schemeClr val="tx1"/>
                </a:solidFill>
              </a:rPr>
              <a:t>B203 = B203 – </a:t>
            </a:r>
          </a:p>
          <a:p>
            <a:pPr algn="ctr"/>
            <a:r>
              <a:rPr lang="es-ES" sz="1100" b="1" dirty="0">
                <a:solidFill>
                  <a:schemeClr val="tx1"/>
                </a:solidFill>
              </a:rPr>
              <a:t>((PersiVal*0.40*3.50/5200) – (PersiVal*0.40/5200))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CE461A-5D22-E7A1-110F-5CA8175570D4}"/>
              </a:ext>
            </a:extLst>
          </p:cNvPr>
          <p:cNvSpPr/>
          <p:nvPr/>
        </p:nvSpPr>
        <p:spPr>
          <a:xfrm>
            <a:off x="6980624" y="2827056"/>
            <a:ext cx="1613538" cy="96657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B203 = B203 – 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((</a:t>
            </a:r>
            <a:r>
              <a:rPr lang="en-GB" sz="1100" b="1" dirty="0" err="1">
                <a:solidFill>
                  <a:schemeClr val="tx1"/>
                </a:solidFill>
              </a:rPr>
              <a:t>StriVal</a:t>
            </a:r>
            <a:r>
              <a:rPr lang="en-GB" sz="1100" b="1" dirty="0">
                <a:solidFill>
                  <a:schemeClr val="tx1"/>
                </a:solidFill>
              </a:rPr>
              <a:t>*0.20/5200) – 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(</a:t>
            </a:r>
            <a:r>
              <a:rPr lang="en-GB" sz="1100" b="1" dirty="0" err="1">
                <a:solidFill>
                  <a:schemeClr val="tx1"/>
                </a:solidFill>
              </a:rPr>
              <a:t>StriVal</a:t>
            </a:r>
            <a:r>
              <a:rPr lang="en-GB" sz="1100" b="1" dirty="0">
                <a:solidFill>
                  <a:schemeClr val="tx1"/>
                </a:solidFill>
              </a:rPr>
              <a:t>*((0.20/5200)/3.5)))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A57A55-3BE0-FC70-F251-1283990B9612}"/>
              </a:ext>
            </a:extLst>
          </p:cNvPr>
          <p:cNvSpPr/>
          <p:nvPr/>
        </p:nvSpPr>
        <p:spPr>
          <a:xfrm>
            <a:off x="5019169" y="1185515"/>
            <a:ext cx="1613538" cy="12865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YES IN </a:t>
            </a:r>
            <a:r>
              <a:rPr lang="en-GB" sz="1000" b="1" dirty="0" err="1">
                <a:solidFill>
                  <a:schemeClr val="tx1"/>
                </a:solidFill>
              </a:rPr>
              <a:t>StrInc</a:t>
            </a:r>
            <a:endParaRPr lang="en-GB" sz="1000" b="1" dirty="0">
              <a:solidFill>
                <a:schemeClr val="tx1"/>
              </a:solidFill>
            </a:endParaRP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AND COMBO IN </a:t>
            </a:r>
            <a:r>
              <a:rPr lang="en-GB" sz="1000" b="1" dirty="0" err="1">
                <a:solidFill>
                  <a:schemeClr val="tx1"/>
                </a:solidFill>
              </a:rPr>
              <a:t>StriType</a:t>
            </a:r>
            <a:endParaRPr lang="en-GB" sz="1000" b="1" dirty="0">
              <a:solidFill>
                <a:schemeClr val="tx1"/>
              </a:solidFill>
            </a:endParaRP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AND </a:t>
            </a:r>
            <a:r>
              <a:rPr lang="en-GB" sz="1000" b="1" dirty="0" err="1">
                <a:solidFill>
                  <a:schemeClr val="tx1"/>
                </a:solidFill>
              </a:rPr>
              <a:t>Striprem</a:t>
            </a:r>
            <a:r>
              <a:rPr lang="en-GB" sz="1000" b="1" dirty="0">
                <a:solidFill>
                  <a:schemeClr val="tx1"/>
                </a:solidFill>
              </a:rPr>
              <a:t> = DONTKNOW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AND 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 = EMPTY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PersiVal &gt; 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B92569-2351-EE6D-A159-C3559ADF0F3C}"/>
              </a:ext>
            </a:extLst>
          </p:cNvPr>
          <p:cNvSpPr/>
          <p:nvPr/>
        </p:nvSpPr>
        <p:spPr>
          <a:xfrm>
            <a:off x="6980624" y="1185515"/>
            <a:ext cx="1613538" cy="12865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YES IN </a:t>
            </a:r>
            <a:r>
              <a:rPr lang="en-GB" sz="1000" b="1" dirty="0" err="1">
                <a:solidFill>
                  <a:schemeClr val="tx1"/>
                </a:solidFill>
              </a:rPr>
              <a:t>StrInc</a:t>
            </a:r>
            <a:endParaRPr lang="en-GB" sz="1000" b="1" dirty="0">
              <a:solidFill>
                <a:schemeClr val="tx1"/>
              </a:solidFill>
            </a:endParaRP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AND COMBO IN </a:t>
            </a:r>
            <a:r>
              <a:rPr lang="en-GB" sz="1000" b="1" dirty="0" err="1">
                <a:solidFill>
                  <a:schemeClr val="tx1"/>
                </a:solidFill>
              </a:rPr>
              <a:t>StriType</a:t>
            </a:r>
            <a:endParaRPr lang="en-GB" sz="1000" b="1" dirty="0">
              <a:solidFill>
                <a:schemeClr val="tx1"/>
              </a:solidFill>
            </a:endParaRP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AND </a:t>
            </a:r>
            <a:r>
              <a:rPr lang="en-GB" sz="1000" b="1" dirty="0" err="1">
                <a:solidFill>
                  <a:schemeClr val="tx1"/>
                </a:solidFill>
              </a:rPr>
              <a:t>Striprem</a:t>
            </a:r>
            <a:r>
              <a:rPr lang="en-GB" sz="1000" b="1" dirty="0">
                <a:solidFill>
                  <a:schemeClr val="tx1"/>
                </a:solidFill>
              </a:rPr>
              <a:t> = DONTKNOW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AND 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 &gt; 0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PersiVal = EMPTY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41C471-C529-3E2E-1EF9-D0612102B74C}"/>
              </a:ext>
            </a:extLst>
          </p:cNvPr>
          <p:cNvSpPr/>
          <p:nvPr/>
        </p:nvSpPr>
        <p:spPr>
          <a:xfrm>
            <a:off x="1088773" y="2789299"/>
            <a:ext cx="1613538" cy="9665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B203 = B203 – </a:t>
            </a:r>
          </a:p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*0.20/5200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2AF5AA-706B-5529-0F1C-F0B3BE6661F4}"/>
              </a:ext>
            </a:extLst>
          </p:cNvPr>
          <p:cNvCxnSpPr>
            <a:cxnSpLocks/>
            <a:stCxn id="107" idx="3"/>
            <a:endCxn id="8" idx="1"/>
          </p:cNvCxnSpPr>
          <p:nvPr/>
        </p:nvCxnSpPr>
        <p:spPr>
          <a:xfrm>
            <a:off x="4671252" y="1828768"/>
            <a:ext cx="34791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6DA25C-33C5-B5DC-AA44-CBF64623B8FB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632707" y="1828768"/>
            <a:ext cx="34791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11485F-2B2C-0398-174D-2A7B13447606}"/>
              </a:ext>
            </a:extLst>
          </p:cNvPr>
          <p:cNvCxnSpPr>
            <a:cxnSpLocks/>
            <a:stCxn id="9" idx="3"/>
            <a:endCxn id="79" idx="1"/>
          </p:cNvCxnSpPr>
          <p:nvPr/>
        </p:nvCxnSpPr>
        <p:spPr>
          <a:xfrm flipV="1">
            <a:off x="8594162" y="1828767"/>
            <a:ext cx="271394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C4CB648-C1B4-A9DB-E50E-CF475FF1B3EC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>
            <a:off x="5825938" y="2472020"/>
            <a:ext cx="0" cy="355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794165-D322-5DE2-841B-E18012A6AC63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7787393" y="2472020"/>
            <a:ext cx="0" cy="3550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36633A-155A-7037-93FF-B55C0EF60C08}"/>
              </a:ext>
            </a:extLst>
          </p:cNvPr>
          <p:cNvCxnSpPr>
            <a:cxnSpLocks/>
            <a:stCxn id="110" idx="2"/>
            <a:endCxn id="11" idx="0"/>
          </p:cNvCxnSpPr>
          <p:nvPr/>
        </p:nvCxnSpPr>
        <p:spPr>
          <a:xfrm>
            <a:off x="1895542" y="2472020"/>
            <a:ext cx="0" cy="317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DE17D26-AA33-0F4C-9E8D-A8E128F02D52}"/>
              </a:ext>
            </a:extLst>
          </p:cNvPr>
          <p:cNvSpPr/>
          <p:nvPr/>
        </p:nvSpPr>
        <p:spPr>
          <a:xfrm>
            <a:off x="814464" y="4790547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74825F-0CF6-1B25-F296-5378680C42A7}"/>
              </a:ext>
            </a:extLst>
          </p:cNvPr>
          <p:cNvCxnSpPr>
            <a:cxnSpLocks/>
          </p:cNvCxnSpPr>
          <p:nvPr/>
        </p:nvCxnSpPr>
        <p:spPr>
          <a:xfrm>
            <a:off x="1108238" y="5369667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FE1E69B-718A-37D1-6890-34EE14DBC74F}"/>
              </a:ext>
            </a:extLst>
          </p:cNvPr>
          <p:cNvCxnSpPr>
            <a:cxnSpLocks/>
          </p:cNvCxnSpPr>
          <p:nvPr/>
        </p:nvCxnSpPr>
        <p:spPr>
          <a:xfrm>
            <a:off x="1108238" y="5895447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EA5629C-477C-B735-3CCD-1A780086E3DD}"/>
              </a:ext>
            </a:extLst>
          </p:cNvPr>
          <p:cNvSpPr txBox="1"/>
          <p:nvPr/>
        </p:nvSpPr>
        <p:spPr>
          <a:xfrm>
            <a:off x="1234644" y="4977475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E7FA4A-998A-7CC4-CA40-6DF87E866252}"/>
              </a:ext>
            </a:extLst>
          </p:cNvPr>
          <p:cNvSpPr txBox="1"/>
          <p:nvPr/>
        </p:nvSpPr>
        <p:spPr>
          <a:xfrm>
            <a:off x="1249616" y="5503103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59ED2A8-3596-E557-D1BA-1E893B296EAC}"/>
              </a:ext>
            </a:extLst>
          </p:cNvPr>
          <p:cNvSpPr/>
          <p:nvPr/>
        </p:nvSpPr>
        <p:spPr>
          <a:xfrm>
            <a:off x="8865556" y="1634367"/>
            <a:ext cx="8280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B203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638A200-92DE-C885-02B9-95E9DC2E5DC1}"/>
              </a:ext>
            </a:extLst>
          </p:cNvPr>
          <p:cNvSpPr/>
          <p:nvPr/>
        </p:nvSpPr>
        <p:spPr>
          <a:xfrm>
            <a:off x="3057714" y="2789300"/>
            <a:ext cx="1613538" cy="9665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b="1" dirty="0">
                <a:solidFill>
                  <a:schemeClr val="tx1"/>
                </a:solidFill>
              </a:rPr>
              <a:t>B203 = B203 – </a:t>
            </a:r>
          </a:p>
          <a:p>
            <a:pPr algn="ctr"/>
            <a:r>
              <a:rPr lang="sv-SE" sz="1100" b="1" dirty="0">
                <a:solidFill>
                  <a:schemeClr val="tx1"/>
                </a:solidFill>
              </a:rPr>
              <a:t>((StriVal*0.20/5200) – </a:t>
            </a:r>
          </a:p>
          <a:p>
            <a:pPr algn="ctr"/>
            <a:r>
              <a:rPr lang="sv-SE" sz="1100" b="1" dirty="0">
                <a:solidFill>
                  <a:schemeClr val="tx1"/>
                </a:solidFill>
              </a:rPr>
              <a:t>(PersiVal*0.40/5200))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265368F-519E-0D6C-9BC1-FE64D6DE4219}"/>
              </a:ext>
            </a:extLst>
          </p:cNvPr>
          <p:cNvSpPr/>
          <p:nvPr/>
        </p:nvSpPr>
        <p:spPr>
          <a:xfrm>
            <a:off x="3057714" y="1185515"/>
            <a:ext cx="1613538" cy="12865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YES IN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StrInc</a:t>
            </a:r>
            <a:endParaRPr lang="en-GB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COMBO IN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StriType</a:t>
            </a:r>
            <a:endParaRPr lang="en-GB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Striprem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DONTKNOW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StriVal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&gt; 0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PersiVal &gt; 0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4AABE27-E0C3-399F-2D68-E9E7BC88C66F}"/>
              </a:ext>
            </a:extLst>
          </p:cNvPr>
          <p:cNvCxnSpPr>
            <a:cxnSpLocks/>
            <a:stCxn id="107" idx="2"/>
            <a:endCxn id="106" idx="0"/>
          </p:cNvCxnSpPr>
          <p:nvPr/>
        </p:nvCxnSpPr>
        <p:spPr>
          <a:xfrm>
            <a:off x="3864483" y="2472020"/>
            <a:ext cx="0" cy="3172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2CE90F4-6A9C-3882-9634-AAEA19446B1C}"/>
              </a:ext>
            </a:extLst>
          </p:cNvPr>
          <p:cNvSpPr/>
          <p:nvPr/>
        </p:nvSpPr>
        <p:spPr>
          <a:xfrm>
            <a:off x="1088773" y="1195780"/>
            <a:ext cx="1613538" cy="12762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YES IN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StrInc</a:t>
            </a:r>
            <a:endParaRPr lang="en-GB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STRONGLY IN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StriType</a:t>
            </a:r>
            <a:endParaRPr lang="en-GB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Striprem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DONTKNOW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StriVal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&gt; 0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FEBD065-8349-C261-02FC-3D6594C6DC98}"/>
              </a:ext>
            </a:extLst>
          </p:cNvPr>
          <p:cNvCxnSpPr>
            <a:cxnSpLocks/>
            <a:stCxn id="110" idx="3"/>
            <a:endCxn id="107" idx="1"/>
          </p:cNvCxnSpPr>
          <p:nvPr/>
        </p:nvCxnSpPr>
        <p:spPr>
          <a:xfrm flipV="1">
            <a:off x="2702311" y="1828768"/>
            <a:ext cx="355403" cy="513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113FBBC-4BD1-9D86-B045-61031AE0F179}"/>
              </a:ext>
            </a:extLst>
          </p:cNvPr>
          <p:cNvCxnSpPr>
            <a:cxnSpLocks/>
            <a:stCxn id="3" idx="6"/>
            <a:endCxn id="110" idx="1"/>
          </p:cNvCxnSpPr>
          <p:nvPr/>
        </p:nvCxnSpPr>
        <p:spPr>
          <a:xfrm>
            <a:off x="880628" y="1828767"/>
            <a:ext cx="208145" cy="5133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C9475B33-1C1B-E5D1-5D6B-E8BE865FCFD5}"/>
              </a:ext>
            </a:extLst>
          </p:cNvPr>
          <p:cNvSpPr/>
          <p:nvPr/>
        </p:nvSpPr>
        <p:spPr>
          <a:xfrm>
            <a:off x="304628" y="1540767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38853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BB543-B04F-3FF2-9093-8B198EBA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71AA1-67E9-A341-2AA1-F564FAAD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B203 Mixed mortgage (last payment)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87D97-D641-777C-183D-B6706980F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KEY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DvMorp</a:t>
            </a:r>
            <a:r>
              <a:rPr lang="en-GB" dirty="0"/>
              <a:t>  - Derived from </a:t>
            </a:r>
            <a:r>
              <a:rPr lang="en-GB" dirty="0" err="1"/>
              <a:t>MortProt</a:t>
            </a:r>
            <a:r>
              <a:rPr lang="en-GB" dirty="0"/>
              <a:t> to give a weekly amount – (</a:t>
            </a:r>
            <a:r>
              <a:rPr lang="en-GB" dirty="0" err="1"/>
              <a:t>MortProt</a:t>
            </a:r>
            <a:r>
              <a:rPr lang="en-GB" dirty="0"/>
              <a:t> – Mortgage: (Apart from any endowment policies they have mentioned).  Does the respondent have a mortgage protection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policy to repay this mortgage in the event of sickness/accident, redundancy or death?)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DvMort</a:t>
            </a:r>
            <a:r>
              <a:rPr lang="en-GB" dirty="0"/>
              <a:t>  - Derived from </a:t>
            </a:r>
            <a:r>
              <a:rPr lang="en-GB" dirty="0" err="1"/>
              <a:t>MortPay</a:t>
            </a:r>
            <a:r>
              <a:rPr lang="en-GB" dirty="0"/>
              <a:t> to give a weekly amount – (</a:t>
            </a:r>
            <a:r>
              <a:rPr lang="en-GB" dirty="0" err="1"/>
              <a:t>MortPay</a:t>
            </a:r>
            <a:r>
              <a:rPr lang="en-GB" dirty="0"/>
              <a:t> – Mortgage: How much was the respondents last payment on this mortgage or loan?)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DvStri</a:t>
            </a:r>
            <a:r>
              <a:rPr lang="en-GB" dirty="0"/>
              <a:t>  - Derived from </a:t>
            </a:r>
            <a:r>
              <a:rPr lang="en-GB" dirty="0" err="1"/>
              <a:t>StriPrem</a:t>
            </a:r>
            <a:r>
              <a:rPr lang="en-GB" dirty="0"/>
              <a:t> to give a weekly amount – (</a:t>
            </a:r>
            <a:r>
              <a:rPr lang="en-GB" dirty="0" err="1"/>
              <a:t>StriPrem</a:t>
            </a:r>
            <a:r>
              <a:rPr lang="en-GB" dirty="0"/>
              <a:t> – Structural Insurance: How much was the last premium?)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DvWho</a:t>
            </a:r>
            <a:r>
              <a:rPr lang="en-GB" dirty="0"/>
              <a:t>  - Derived from </a:t>
            </a:r>
            <a:r>
              <a:rPr lang="en-GB" dirty="0" err="1"/>
              <a:t>WhoAmt</a:t>
            </a:r>
            <a:r>
              <a:rPr lang="en-GB" dirty="0"/>
              <a:t> to give a weekly amount – (</a:t>
            </a:r>
            <a:r>
              <a:rPr lang="en-GB" dirty="0" err="1"/>
              <a:t>WhoAmt</a:t>
            </a:r>
            <a:r>
              <a:rPr lang="en-GB" dirty="0"/>
              <a:t> – Mortgage: How much did the respondent pay last time?)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InCmp</a:t>
            </a:r>
            <a:r>
              <a:rPr lang="en-GB" dirty="0"/>
              <a:t> - Is this payment included in the amount of [£amount]  the respondent mentioned earlier?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InicNint</a:t>
            </a:r>
            <a:r>
              <a:rPr lang="en-GB" dirty="0"/>
              <a:t> - Is this payment included in the amount the respondent mentioned earlier [£amount]?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MortType</a:t>
            </a:r>
            <a:r>
              <a:rPr lang="en-GB" dirty="0"/>
              <a:t>  - What type of mortgage is this?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Endow - An endowment mortgage where mortgage payments cover interest only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Repay - A repayment mortgage where mortgage payments cover interest and part of the original loan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Pension - A pension mortgage where mortgage payments cover interest only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UTISA - A Unit Trust or ISA mortgage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</a:t>
            </a:r>
            <a:r>
              <a:rPr lang="en-GB" dirty="0" err="1"/>
              <a:t>Endrep</a:t>
            </a:r>
            <a:r>
              <a:rPr lang="en-GB" dirty="0"/>
              <a:t> -  BOTH an endowment (or other interest only) AND a repayment mortgage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</a:t>
            </a:r>
            <a:r>
              <a:rPr lang="en-GB" dirty="0" err="1"/>
              <a:t>Intlink</a:t>
            </a:r>
            <a:r>
              <a:rPr lang="en-GB" dirty="0"/>
              <a:t> - An interest only mortgage with MORE than one linked investment (e.g. pension and unit trust, endowment and ISA)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</a:t>
            </a:r>
            <a:r>
              <a:rPr lang="en-GB" dirty="0" err="1"/>
              <a:t>Intnolink</a:t>
            </a:r>
            <a:r>
              <a:rPr lang="en-GB" dirty="0"/>
              <a:t> - An interest only mortgage with NO linked investment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Equity - An equity release </a:t>
            </a:r>
            <a:r>
              <a:rPr lang="en-GB" dirty="0" err="1"/>
              <a:t>mortage</a:t>
            </a: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Other - Another  type (Please specify)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Persival - What is the insured value of the furniture and contents and/or personal possessions?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StrInc</a:t>
            </a:r>
            <a:r>
              <a:rPr lang="en-GB" dirty="0"/>
              <a:t> - Was this insurance premium included in the respondents last mortgage payment?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Striprem</a:t>
            </a:r>
            <a:r>
              <a:rPr lang="en-GB" dirty="0"/>
              <a:t> - How much was the last premium?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StriType</a:t>
            </a:r>
            <a:r>
              <a:rPr lang="en-GB" dirty="0"/>
              <a:t> - Are the payments for: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</a:t>
            </a:r>
            <a:r>
              <a:rPr lang="en-GB" dirty="0" err="1"/>
              <a:t>StrOnly</a:t>
            </a:r>
            <a:r>
              <a:rPr lang="en-GB" dirty="0"/>
              <a:t> - structure only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Combo  - structure combined with furniture and contents and/or personal possessions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</a:t>
            </a:r>
            <a:r>
              <a:rPr lang="en-GB" dirty="0" err="1"/>
              <a:t>PerOnly</a:t>
            </a:r>
            <a:r>
              <a:rPr lang="en-GB" dirty="0"/>
              <a:t> - furniture and contents and/or personal possessions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Strival</a:t>
            </a:r>
            <a:r>
              <a:rPr lang="en-GB" dirty="0"/>
              <a:t>  - What is the insured value of the structure?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WhoInc</a:t>
            </a:r>
            <a:r>
              <a:rPr lang="en-GB" dirty="0"/>
              <a:t> - Was this amount included in the mortgage repayment the respondent mentioned earlier?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5688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243B4-89F3-D5AC-2229-42E15D77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700BC-E3B1-D66A-E5F0-4E261BE6C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B204 Other mortgage – last payment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45318B1-48C3-1C4C-8BDD-F94A732CA494}"/>
              </a:ext>
            </a:extLst>
          </p:cNvPr>
          <p:cNvSpPr/>
          <p:nvPr/>
        </p:nvSpPr>
        <p:spPr>
          <a:xfrm>
            <a:off x="8972408" y="2355914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E12D42-B86D-8EE9-F157-15A743EB0D6B}"/>
              </a:ext>
            </a:extLst>
          </p:cNvPr>
          <p:cNvSpPr/>
          <p:nvPr/>
        </p:nvSpPr>
        <p:spPr>
          <a:xfrm>
            <a:off x="3252230" y="3496937"/>
            <a:ext cx="892800" cy="388800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DvWho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D7B820-B836-8EC7-186F-8C3F661335CD}"/>
              </a:ext>
            </a:extLst>
          </p:cNvPr>
          <p:cNvSpPr/>
          <p:nvPr/>
        </p:nvSpPr>
        <p:spPr>
          <a:xfrm>
            <a:off x="4649134" y="3504249"/>
            <a:ext cx="894029" cy="388800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DvMen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EC5435-BB15-BCD5-D4F5-B050ABCD9C11}"/>
              </a:ext>
            </a:extLst>
          </p:cNvPr>
          <p:cNvSpPr/>
          <p:nvPr/>
        </p:nvSpPr>
        <p:spPr>
          <a:xfrm>
            <a:off x="7566657" y="3531545"/>
            <a:ext cx="892800" cy="342696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DvStri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6AC090-CB72-1FC0-3CAF-CA1544E6E9D3}"/>
              </a:ext>
            </a:extLst>
          </p:cNvPr>
          <p:cNvSpPr/>
          <p:nvPr/>
        </p:nvSpPr>
        <p:spPr>
          <a:xfrm>
            <a:off x="3129917" y="2343832"/>
            <a:ext cx="1137775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OTHER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AND NO IN </a:t>
            </a:r>
            <a:r>
              <a:rPr lang="en-GB" sz="1000" b="1" dirty="0" err="1">
                <a:solidFill>
                  <a:schemeClr val="tx1"/>
                </a:solidFill>
              </a:rPr>
              <a:t>WhoInc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E6A364-787E-530B-CF29-C6C3A1C4AE47}"/>
              </a:ext>
            </a:extLst>
          </p:cNvPr>
          <p:cNvSpPr/>
          <p:nvPr/>
        </p:nvSpPr>
        <p:spPr>
          <a:xfrm>
            <a:off x="4523281" y="2343832"/>
            <a:ext cx="1135706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OTHER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AND YES IN </a:t>
            </a:r>
            <a:r>
              <a:rPr lang="en-GB" sz="1000" b="1" dirty="0" err="1">
                <a:solidFill>
                  <a:schemeClr val="tx1"/>
                </a:solidFill>
              </a:rPr>
              <a:t>InciNint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B84953-4C39-14EB-3ADF-7F9ECE269863}"/>
              </a:ext>
            </a:extLst>
          </p:cNvPr>
          <p:cNvSpPr/>
          <p:nvPr/>
        </p:nvSpPr>
        <p:spPr>
          <a:xfrm>
            <a:off x="7362598" y="2343833"/>
            <a:ext cx="1299151" cy="6001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OTHER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AND Yes IN </a:t>
            </a:r>
            <a:r>
              <a:rPr lang="en-GB" sz="1000" b="1" dirty="0" err="1">
                <a:solidFill>
                  <a:schemeClr val="tx1"/>
                </a:solidFill>
              </a:rPr>
              <a:t>Strinc</a:t>
            </a:r>
            <a:r>
              <a:rPr lang="en-GB" sz="1000" b="1" dirty="0">
                <a:solidFill>
                  <a:schemeClr val="tx1"/>
                </a:solidFill>
              </a:rPr>
              <a:t> AND </a:t>
            </a:r>
            <a:r>
              <a:rPr lang="en-GB" sz="1000" b="1" dirty="0" err="1">
                <a:solidFill>
                  <a:schemeClr val="tx1"/>
                </a:solidFill>
              </a:rPr>
              <a:t>Striprem</a:t>
            </a:r>
            <a:r>
              <a:rPr lang="en-GB" sz="1000" b="1" dirty="0">
                <a:solidFill>
                  <a:schemeClr val="tx1"/>
                </a:solidFill>
              </a:rPr>
              <a:t> =RESPONSE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2A75D0-C2F3-15AB-0B95-8BECF91FF23B}"/>
              </a:ext>
            </a:extLst>
          </p:cNvPr>
          <p:cNvSpPr/>
          <p:nvPr/>
        </p:nvSpPr>
        <p:spPr>
          <a:xfrm>
            <a:off x="4569864" y="4551670"/>
            <a:ext cx="1065600" cy="3548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B204 = B204 + </a:t>
            </a:r>
            <a:r>
              <a:rPr lang="en-GB" sz="1000" b="1" dirty="0" err="1">
                <a:solidFill>
                  <a:schemeClr val="tx1"/>
                </a:solidFill>
              </a:rPr>
              <a:t>DvMen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F2856F-D193-3420-E161-55DD90AE7C20}"/>
              </a:ext>
            </a:extLst>
          </p:cNvPr>
          <p:cNvCxnSpPr>
            <a:cxnSpLocks/>
            <a:stCxn id="107" idx="3"/>
            <a:endCxn id="8" idx="1"/>
          </p:cNvCxnSpPr>
          <p:nvPr/>
        </p:nvCxnSpPr>
        <p:spPr>
          <a:xfrm>
            <a:off x="2869281" y="2643914"/>
            <a:ext cx="260636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F75E60-F8F9-BC23-3D9C-51F4B46814A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267692" y="2643914"/>
            <a:ext cx="255589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83B799-CECC-AA62-6122-04E86DB9D6F3}"/>
              </a:ext>
            </a:extLst>
          </p:cNvPr>
          <p:cNvCxnSpPr>
            <a:cxnSpLocks/>
            <a:stCxn id="9" idx="3"/>
            <a:endCxn id="23" idx="1"/>
          </p:cNvCxnSpPr>
          <p:nvPr/>
        </p:nvCxnSpPr>
        <p:spPr>
          <a:xfrm flipV="1">
            <a:off x="5658987" y="2639271"/>
            <a:ext cx="282259" cy="464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FD6B12-7034-4D57-74CA-B2A1A9F6D761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 flipH="1">
            <a:off x="3698630" y="2943996"/>
            <a:ext cx="175" cy="5529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DC8CEE-4119-AE39-F82E-A0AC24D2DB51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5091134" y="2943996"/>
            <a:ext cx="5015" cy="5602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7CCFB6-0A16-981D-7E54-4080DD3266C2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5096149" y="3893049"/>
            <a:ext cx="6515" cy="6586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510766-8DAD-3807-0103-C51E1D22706A}"/>
              </a:ext>
            </a:extLst>
          </p:cNvPr>
          <p:cNvCxnSpPr>
            <a:cxnSpLocks/>
            <a:stCxn id="7" idx="2"/>
            <a:endCxn id="54" idx="0"/>
          </p:cNvCxnSpPr>
          <p:nvPr/>
        </p:nvCxnSpPr>
        <p:spPr>
          <a:xfrm flipH="1">
            <a:off x="8012178" y="3874241"/>
            <a:ext cx="879" cy="6633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E94E95-3BF9-E625-57F4-0625DC8BAB32}"/>
              </a:ext>
            </a:extLst>
          </p:cNvPr>
          <p:cNvCxnSpPr>
            <a:cxnSpLocks/>
            <a:stCxn id="10" idx="3"/>
            <a:endCxn id="4" idx="2"/>
          </p:cNvCxnSpPr>
          <p:nvPr/>
        </p:nvCxnSpPr>
        <p:spPr>
          <a:xfrm flipV="1">
            <a:off x="8661749" y="2643914"/>
            <a:ext cx="310659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DF5E6D-FBF0-51E7-99FD-C621FE9B30F8}"/>
              </a:ext>
            </a:extLst>
          </p:cNvPr>
          <p:cNvCxnSpPr>
            <a:cxnSpLocks/>
          </p:cNvCxnSpPr>
          <p:nvPr/>
        </p:nvCxnSpPr>
        <p:spPr>
          <a:xfrm flipH="1" flipV="1">
            <a:off x="4446625" y="2777381"/>
            <a:ext cx="0" cy="191248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912FC72-6380-58F5-8923-169E38010883}"/>
              </a:ext>
            </a:extLst>
          </p:cNvPr>
          <p:cNvCxnSpPr>
            <a:cxnSpLocks/>
            <a:stCxn id="5" idx="2"/>
            <a:endCxn id="32" idx="0"/>
          </p:cNvCxnSpPr>
          <p:nvPr/>
        </p:nvCxnSpPr>
        <p:spPr>
          <a:xfrm flipH="1">
            <a:off x="3697700" y="3885737"/>
            <a:ext cx="930" cy="6319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690DD0-7CE0-C0FE-E4AA-C25B69E223E2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4231249" y="4708963"/>
            <a:ext cx="220456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C56E3CD-3084-DD39-5DF0-2E88A22A15EB}"/>
              </a:ext>
            </a:extLst>
          </p:cNvPr>
          <p:cNvSpPr/>
          <p:nvPr/>
        </p:nvSpPr>
        <p:spPr>
          <a:xfrm>
            <a:off x="3164150" y="4517730"/>
            <a:ext cx="1067099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B204 = B204 + </a:t>
            </a:r>
            <a:r>
              <a:rPr lang="en-GB" sz="1000" b="1" dirty="0" err="1">
                <a:solidFill>
                  <a:schemeClr val="tx1"/>
                </a:solidFill>
              </a:rPr>
              <a:t>DvWho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B891BA0-08CF-AFB7-B4F2-694A9D5AF4C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145030" y="3691337"/>
            <a:ext cx="504104" cy="731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0E2F3BF-4AF8-8EBA-6A27-D6E6BCE1C85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543163" y="3698649"/>
            <a:ext cx="2023494" cy="424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70C74A4-7C2F-395C-1E6C-A8CDAD0BAC53}"/>
              </a:ext>
            </a:extLst>
          </p:cNvPr>
          <p:cNvSpPr/>
          <p:nvPr/>
        </p:nvSpPr>
        <p:spPr>
          <a:xfrm>
            <a:off x="146230" y="2405898"/>
            <a:ext cx="622089" cy="476033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ECD6AEA-5952-4432-4D68-7E6B2E67DEE6}"/>
              </a:ext>
            </a:extLst>
          </p:cNvPr>
          <p:cNvSpPr/>
          <p:nvPr/>
        </p:nvSpPr>
        <p:spPr>
          <a:xfrm>
            <a:off x="228115" y="5129015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B4559E1-FCAE-B984-7EE9-D1017232F79C}"/>
              </a:ext>
            </a:extLst>
          </p:cNvPr>
          <p:cNvCxnSpPr>
            <a:cxnSpLocks/>
          </p:cNvCxnSpPr>
          <p:nvPr/>
        </p:nvCxnSpPr>
        <p:spPr>
          <a:xfrm>
            <a:off x="521889" y="5708135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2C7325D-E449-91FE-2729-F30B6EB0AA33}"/>
              </a:ext>
            </a:extLst>
          </p:cNvPr>
          <p:cNvCxnSpPr>
            <a:cxnSpLocks/>
          </p:cNvCxnSpPr>
          <p:nvPr/>
        </p:nvCxnSpPr>
        <p:spPr>
          <a:xfrm>
            <a:off x="521889" y="6233915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F9684DF-1939-35DE-80B1-E0125F082752}"/>
              </a:ext>
            </a:extLst>
          </p:cNvPr>
          <p:cNvSpPr txBox="1"/>
          <p:nvPr/>
        </p:nvSpPr>
        <p:spPr>
          <a:xfrm>
            <a:off x="648295" y="5315943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CB5C79-82BC-2958-9FDA-9411814FB4C5}"/>
              </a:ext>
            </a:extLst>
          </p:cNvPr>
          <p:cNvSpPr txBox="1"/>
          <p:nvPr/>
        </p:nvSpPr>
        <p:spPr>
          <a:xfrm>
            <a:off x="663267" y="5841571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B0F668-078A-D785-AF37-2CAF8B429D68}"/>
              </a:ext>
            </a:extLst>
          </p:cNvPr>
          <p:cNvSpPr/>
          <p:nvPr/>
        </p:nvSpPr>
        <p:spPr>
          <a:xfrm>
            <a:off x="7518094" y="4537620"/>
            <a:ext cx="988167" cy="3426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B204 = B204 - </a:t>
            </a:r>
            <a:r>
              <a:rPr lang="en-GB" sz="1000" b="1" dirty="0" err="1">
                <a:solidFill>
                  <a:schemeClr val="tx1"/>
                </a:solidFill>
              </a:rPr>
              <a:t>DvStri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BFFABD7-E3AB-2F5F-1045-63506E3FADBF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>
            <a:off x="8012174" y="2943996"/>
            <a:ext cx="883" cy="5875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694DA9F-B9D1-C415-D1F6-82ECA8CA2201}"/>
              </a:ext>
            </a:extLst>
          </p:cNvPr>
          <p:cNvCxnSpPr>
            <a:cxnSpLocks/>
            <a:stCxn id="7" idx="3"/>
            <a:endCxn id="48" idx="2"/>
          </p:cNvCxnSpPr>
          <p:nvPr/>
        </p:nvCxnSpPr>
        <p:spPr>
          <a:xfrm>
            <a:off x="8459457" y="3702893"/>
            <a:ext cx="509852" cy="1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CCB0D3E-4269-F661-0146-7AE497AC2090}"/>
              </a:ext>
            </a:extLst>
          </p:cNvPr>
          <p:cNvSpPr/>
          <p:nvPr/>
        </p:nvSpPr>
        <p:spPr>
          <a:xfrm>
            <a:off x="2013985" y="3510585"/>
            <a:ext cx="8928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B204 = 0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6FFDCE9-1232-4707-F8F7-75223B0E2C1E}"/>
              </a:ext>
            </a:extLst>
          </p:cNvPr>
          <p:cNvSpPr/>
          <p:nvPr/>
        </p:nvSpPr>
        <p:spPr>
          <a:xfrm>
            <a:off x="2041281" y="2343832"/>
            <a:ext cx="828000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OTHER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B9318C2-3732-06C1-AF25-885EBDBAF8AD}"/>
              </a:ext>
            </a:extLst>
          </p:cNvPr>
          <p:cNvCxnSpPr>
            <a:cxnSpLocks/>
            <a:stCxn id="107" idx="2"/>
            <a:endCxn id="106" idx="0"/>
          </p:cNvCxnSpPr>
          <p:nvPr/>
        </p:nvCxnSpPr>
        <p:spPr>
          <a:xfrm>
            <a:off x="2455281" y="2943996"/>
            <a:ext cx="5104" cy="56658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C52A066-4263-72E8-744E-C479B65FC2D3}"/>
              </a:ext>
            </a:extLst>
          </p:cNvPr>
          <p:cNvSpPr/>
          <p:nvPr/>
        </p:nvSpPr>
        <p:spPr>
          <a:xfrm>
            <a:off x="1030934" y="2452681"/>
            <a:ext cx="828000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B204 = 0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3E5FF48-044D-C1EE-1DFC-82D0E5C38B97}"/>
              </a:ext>
            </a:extLst>
          </p:cNvPr>
          <p:cNvCxnSpPr>
            <a:cxnSpLocks/>
            <a:stCxn id="110" idx="3"/>
            <a:endCxn id="107" idx="1"/>
          </p:cNvCxnSpPr>
          <p:nvPr/>
        </p:nvCxnSpPr>
        <p:spPr>
          <a:xfrm>
            <a:off x="1858934" y="2643914"/>
            <a:ext cx="182347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3A2A822-12A6-82BE-46E6-6BCC81F9AA27}"/>
              </a:ext>
            </a:extLst>
          </p:cNvPr>
          <p:cNvCxnSpPr>
            <a:cxnSpLocks/>
            <a:stCxn id="37" idx="3"/>
            <a:endCxn id="110" idx="1"/>
          </p:cNvCxnSpPr>
          <p:nvPr/>
        </p:nvCxnSpPr>
        <p:spPr>
          <a:xfrm flipV="1">
            <a:off x="768319" y="2643914"/>
            <a:ext cx="262615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752F294F-A1DC-8D30-7669-DA1DAC8A7B3E}"/>
              </a:ext>
            </a:extLst>
          </p:cNvPr>
          <p:cNvCxnSpPr>
            <a:cxnSpLocks/>
            <a:stCxn id="106" idx="3"/>
          </p:cNvCxnSpPr>
          <p:nvPr/>
        </p:nvCxnSpPr>
        <p:spPr>
          <a:xfrm flipV="1">
            <a:off x="2906785" y="3701818"/>
            <a:ext cx="170825" cy="316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9667783E-2EA3-0BC3-4984-E55A0ACA8E95}"/>
              </a:ext>
            </a:extLst>
          </p:cNvPr>
          <p:cNvCxnSpPr>
            <a:cxnSpLocks/>
          </p:cNvCxnSpPr>
          <p:nvPr/>
        </p:nvCxnSpPr>
        <p:spPr>
          <a:xfrm flipH="1" flipV="1">
            <a:off x="3077610" y="2763733"/>
            <a:ext cx="0" cy="93808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66710BD2-946A-6027-3BEA-EC6A0F0F8184}"/>
              </a:ext>
            </a:extLst>
          </p:cNvPr>
          <p:cNvSpPr txBox="1"/>
          <p:nvPr/>
        </p:nvSpPr>
        <p:spPr>
          <a:xfrm>
            <a:off x="8661749" y="1593629"/>
            <a:ext cx="12442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FLOW CHART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CONTINUED </a:t>
            </a:r>
            <a:b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ON NEXT PAGE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61D667E-C38B-665F-26C7-8A488D6A1C75}"/>
              </a:ext>
            </a:extLst>
          </p:cNvPr>
          <p:cNvCxnSpPr>
            <a:cxnSpLocks/>
          </p:cNvCxnSpPr>
          <p:nvPr/>
        </p:nvCxnSpPr>
        <p:spPr>
          <a:xfrm flipH="1" flipV="1">
            <a:off x="5847500" y="2801837"/>
            <a:ext cx="0" cy="191248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76631A-75B3-4618-6533-DBF670E81B04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635464" y="4725343"/>
            <a:ext cx="230577" cy="3757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B0C7A36-5D06-71F9-CD18-1603DE1A3E95}"/>
              </a:ext>
            </a:extLst>
          </p:cNvPr>
          <p:cNvSpPr/>
          <p:nvPr/>
        </p:nvSpPr>
        <p:spPr>
          <a:xfrm>
            <a:off x="6067099" y="3499606"/>
            <a:ext cx="894029" cy="388800"/>
          </a:xfrm>
          <a:prstGeom prst="rect">
            <a:avLst/>
          </a:prstGeom>
          <a:solidFill>
            <a:srgbClr val="A9AB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</a:rPr>
              <a:t>DvMorp</a:t>
            </a:r>
            <a:r>
              <a:rPr lang="en-GB" sz="1100" b="1" dirty="0">
                <a:solidFill>
                  <a:schemeClr val="tx1"/>
                </a:solidFill>
              </a:rPr>
              <a:t> &gt; 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8157EB-1606-B5A8-C209-690CEC5BBE6C}"/>
              </a:ext>
            </a:extLst>
          </p:cNvPr>
          <p:cNvSpPr/>
          <p:nvPr/>
        </p:nvSpPr>
        <p:spPr>
          <a:xfrm>
            <a:off x="5941246" y="2339189"/>
            <a:ext cx="1135706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OTHER IN </a:t>
            </a:r>
            <a:r>
              <a:rPr lang="en-GB" sz="1000" b="1" dirty="0" err="1">
                <a:solidFill>
                  <a:schemeClr val="tx1"/>
                </a:solidFill>
              </a:rPr>
              <a:t>MortType</a:t>
            </a:r>
            <a:r>
              <a:rPr lang="en-GB" sz="1000" b="1" dirty="0">
                <a:solidFill>
                  <a:schemeClr val="tx1"/>
                </a:solidFill>
              </a:rPr>
              <a:t> AND YES IN </a:t>
            </a:r>
            <a:r>
              <a:rPr lang="en-GB" sz="1000" b="1" dirty="0" err="1">
                <a:solidFill>
                  <a:schemeClr val="tx1"/>
                </a:solidFill>
              </a:rPr>
              <a:t>InCmp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D33E6C-9E68-8C3E-F8C8-66BB4EAEB174}"/>
              </a:ext>
            </a:extLst>
          </p:cNvPr>
          <p:cNvSpPr/>
          <p:nvPr/>
        </p:nvSpPr>
        <p:spPr>
          <a:xfrm>
            <a:off x="5987829" y="4547027"/>
            <a:ext cx="1065600" cy="35485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B204 = B204 - </a:t>
            </a:r>
            <a:r>
              <a:rPr lang="en-GB" sz="1000" b="1" dirty="0" err="1">
                <a:solidFill>
                  <a:schemeClr val="tx1"/>
                </a:solidFill>
              </a:rPr>
              <a:t>DvMpr</a:t>
            </a:r>
            <a:r>
              <a:rPr lang="en-GB" sz="1000" b="1" dirty="0">
                <a:solidFill>
                  <a:schemeClr val="tx1"/>
                </a:solidFill>
              </a:rPr>
              <a:t>[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5E03BC4-2893-FBEA-6932-76EF3DECFB84}"/>
              </a:ext>
            </a:extLst>
          </p:cNvPr>
          <p:cNvCxnSpPr>
            <a:cxnSpLocks/>
            <a:stCxn id="23" idx="2"/>
            <a:endCxn id="22" idx="0"/>
          </p:cNvCxnSpPr>
          <p:nvPr/>
        </p:nvCxnSpPr>
        <p:spPr>
          <a:xfrm>
            <a:off x="6509099" y="2939353"/>
            <a:ext cx="5015" cy="5602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5D83F26-FF65-A28F-46E5-37E0372500CA}"/>
              </a:ext>
            </a:extLst>
          </p:cNvPr>
          <p:cNvCxnSpPr>
            <a:cxnSpLocks/>
            <a:stCxn id="22" idx="2"/>
            <a:endCxn id="25" idx="0"/>
          </p:cNvCxnSpPr>
          <p:nvPr/>
        </p:nvCxnSpPr>
        <p:spPr>
          <a:xfrm>
            <a:off x="6514114" y="3888406"/>
            <a:ext cx="6515" cy="6586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B211FA5-5CD7-59E8-DD2A-99D9A5CEC069}"/>
              </a:ext>
            </a:extLst>
          </p:cNvPr>
          <p:cNvCxnSpPr>
            <a:cxnSpLocks/>
          </p:cNvCxnSpPr>
          <p:nvPr/>
        </p:nvCxnSpPr>
        <p:spPr>
          <a:xfrm flipH="1" flipV="1">
            <a:off x="7264050" y="2782898"/>
            <a:ext cx="0" cy="191248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B0DB22-747C-8399-442E-4000955EF9F5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7053429" y="4724457"/>
            <a:ext cx="224675" cy="88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675F6FE-9781-3D21-A5F9-DD79433665C6}"/>
              </a:ext>
            </a:extLst>
          </p:cNvPr>
          <p:cNvCxnSpPr>
            <a:cxnSpLocks/>
            <a:stCxn id="23" idx="3"/>
            <a:endCxn id="10" idx="1"/>
          </p:cNvCxnSpPr>
          <p:nvPr/>
        </p:nvCxnSpPr>
        <p:spPr>
          <a:xfrm>
            <a:off x="7076952" y="2639271"/>
            <a:ext cx="285646" cy="464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5E9ED298-8698-B3D0-CA68-324D84B72112}"/>
              </a:ext>
            </a:extLst>
          </p:cNvPr>
          <p:cNvSpPr/>
          <p:nvPr/>
        </p:nvSpPr>
        <p:spPr>
          <a:xfrm>
            <a:off x="8969309" y="3414912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817E0AC-B0AD-13D2-9677-85DE1569F33C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8506261" y="4708969"/>
            <a:ext cx="75104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F4C724D-11A3-BFB6-8F81-36EB75FB95FD}"/>
              </a:ext>
            </a:extLst>
          </p:cNvPr>
          <p:cNvCxnSpPr>
            <a:cxnSpLocks/>
            <a:endCxn id="48" idx="4"/>
          </p:cNvCxnSpPr>
          <p:nvPr/>
        </p:nvCxnSpPr>
        <p:spPr>
          <a:xfrm flipV="1">
            <a:off x="9257309" y="3990912"/>
            <a:ext cx="0" cy="71805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78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06865-EFDC-298F-24D8-AC771A771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09D7-D319-B517-D886-2EC55019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B204 Other mortgage – last payment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739031-9316-63FC-9FA2-756E806CE9CE}"/>
              </a:ext>
            </a:extLst>
          </p:cNvPr>
          <p:cNvSpPr/>
          <p:nvPr/>
        </p:nvSpPr>
        <p:spPr>
          <a:xfrm>
            <a:off x="4913591" y="3752452"/>
            <a:ext cx="1466853" cy="87869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>
                <a:solidFill>
                  <a:schemeClr val="tx1"/>
                </a:solidFill>
              </a:rPr>
              <a:t>B204 = B204 – </a:t>
            </a:r>
          </a:p>
          <a:p>
            <a:pPr algn="ctr"/>
            <a:r>
              <a:rPr lang="es-ES" sz="1100" b="1" dirty="0">
                <a:solidFill>
                  <a:schemeClr val="tx1"/>
                </a:solidFill>
              </a:rPr>
              <a:t>((PersiVal*0.40*3.50/5200) – (PersiVal*0.40/5200))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E4B0C0-12C1-BF38-5E45-7CE6F572598C}"/>
              </a:ext>
            </a:extLst>
          </p:cNvPr>
          <p:cNvSpPr/>
          <p:nvPr/>
        </p:nvSpPr>
        <p:spPr>
          <a:xfrm>
            <a:off x="6875046" y="3752451"/>
            <a:ext cx="1466853" cy="8787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B204 = B204 – 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((</a:t>
            </a:r>
            <a:r>
              <a:rPr lang="en-GB" sz="1100" b="1" dirty="0" err="1">
                <a:solidFill>
                  <a:schemeClr val="tx1"/>
                </a:solidFill>
              </a:rPr>
              <a:t>StriVal</a:t>
            </a:r>
            <a:r>
              <a:rPr lang="en-GB" sz="1100" b="1" dirty="0">
                <a:solidFill>
                  <a:schemeClr val="tx1"/>
                </a:solidFill>
              </a:rPr>
              <a:t>*0.20/5200) – 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(</a:t>
            </a:r>
            <a:r>
              <a:rPr lang="en-GB" sz="1100" b="1" dirty="0" err="1">
                <a:solidFill>
                  <a:schemeClr val="tx1"/>
                </a:solidFill>
              </a:rPr>
              <a:t>StriVal</a:t>
            </a:r>
            <a:r>
              <a:rPr lang="en-GB" sz="1100" b="1" dirty="0">
                <a:solidFill>
                  <a:schemeClr val="tx1"/>
                </a:solidFill>
              </a:rPr>
              <a:t>*((0.20/5200)/3.5)))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C4DE8B-AB11-7FE6-CC8A-969B07CFF02B}"/>
              </a:ext>
            </a:extLst>
          </p:cNvPr>
          <p:cNvSpPr/>
          <p:nvPr/>
        </p:nvSpPr>
        <p:spPr>
          <a:xfrm>
            <a:off x="4913591" y="2085854"/>
            <a:ext cx="1466853" cy="12865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YES IN </a:t>
            </a:r>
            <a:r>
              <a:rPr lang="en-GB" sz="1000" b="1" dirty="0" err="1">
                <a:solidFill>
                  <a:schemeClr val="tx1"/>
                </a:solidFill>
              </a:rPr>
              <a:t>StrInc</a:t>
            </a:r>
            <a:endParaRPr lang="en-GB" sz="1000" b="1" dirty="0">
              <a:solidFill>
                <a:schemeClr val="tx1"/>
              </a:solidFill>
            </a:endParaRP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+ COMBO IN </a:t>
            </a:r>
            <a:r>
              <a:rPr lang="en-GB" sz="1000" b="1" dirty="0" err="1">
                <a:solidFill>
                  <a:schemeClr val="tx1"/>
                </a:solidFill>
              </a:rPr>
              <a:t>StriType</a:t>
            </a:r>
            <a:endParaRPr lang="en-GB" sz="1000" b="1" dirty="0">
              <a:solidFill>
                <a:schemeClr val="tx1"/>
              </a:solidFill>
            </a:endParaRP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+ </a:t>
            </a:r>
            <a:r>
              <a:rPr lang="en-GB" sz="1000" b="1" dirty="0" err="1">
                <a:solidFill>
                  <a:schemeClr val="tx1"/>
                </a:solidFill>
              </a:rPr>
              <a:t>Striprem</a:t>
            </a:r>
            <a:r>
              <a:rPr lang="en-GB" sz="1000" b="1" dirty="0">
                <a:solidFill>
                  <a:schemeClr val="tx1"/>
                </a:solidFill>
              </a:rPr>
              <a:t> = DONTKNOW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+ 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 = EMPTY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+ PersiVal &gt; 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2D959F-2671-99F2-6792-37CD1402FA92}"/>
              </a:ext>
            </a:extLst>
          </p:cNvPr>
          <p:cNvSpPr/>
          <p:nvPr/>
        </p:nvSpPr>
        <p:spPr>
          <a:xfrm>
            <a:off x="6875046" y="2085854"/>
            <a:ext cx="1466853" cy="12865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YES IN </a:t>
            </a:r>
            <a:r>
              <a:rPr lang="en-GB" sz="1000" b="1" dirty="0" err="1">
                <a:solidFill>
                  <a:schemeClr val="tx1"/>
                </a:solidFill>
              </a:rPr>
              <a:t>StrInc</a:t>
            </a:r>
            <a:endParaRPr lang="en-GB" sz="1000" b="1" dirty="0">
              <a:solidFill>
                <a:schemeClr val="tx1"/>
              </a:solidFill>
            </a:endParaRP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+ COMBO IN </a:t>
            </a:r>
            <a:r>
              <a:rPr lang="en-GB" sz="1000" b="1" dirty="0" err="1">
                <a:solidFill>
                  <a:schemeClr val="tx1"/>
                </a:solidFill>
              </a:rPr>
              <a:t>StriType</a:t>
            </a:r>
            <a:endParaRPr lang="en-GB" sz="1000" b="1" dirty="0">
              <a:solidFill>
                <a:schemeClr val="tx1"/>
              </a:solidFill>
            </a:endParaRP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+ </a:t>
            </a:r>
            <a:r>
              <a:rPr lang="en-GB" sz="1000" b="1" dirty="0" err="1">
                <a:solidFill>
                  <a:schemeClr val="tx1"/>
                </a:solidFill>
              </a:rPr>
              <a:t>Striprem</a:t>
            </a:r>
            <a:r>
              <a:rPr lang="en-GB" sz="1000" b="1" dirty="0">
                <a:solidFill>
                  <a:schemeClr val="tx1"/>
                </a:solidFill>
              </a:rPr>
              <a:t> = DONTKNOW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+ </a:t>
            </a:r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 &gt; 0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+ PersiVal = EMPTY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3192D5-1274-F14B-CCF4-59AA8AD1C0F8}"/>
              </a:ext>
            </a:extLst>
          </p:cNvPr>
          <p:cNvSpPr/>
          <p:nvPr/>
        </p:nvSpPr>
        <p:spPr>
          <a:xfrm>
            <a:off x="983195" y="3752452"/>
            <a:ext cx="1466853" cy="87869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B204 = B204 – </a:t>
            </a:r>
          </a:p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StriVal</a:t>
            </a:r>
            <a:r>
              <a:rPr lang="en-GB" sz="1000" b="1" dirty="0">
                <a:solidFill>
                  <a:schemeClr val="tx1"/>
                </a:solidFill>
              </a:rPr>
              <a:t>*0.20/5200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49FFEC-1F15-8674-F546-F49A4753BA8A}"/>
              </a:ext>
            </a:extLst>
          </p:cNvPr>
          <p:cNvCxnSpPr>
            <a:cxnSpLocks/>
            <a:stCxn id="107" idx="3"/>
            <a:endCxn id="8" idx="1"/>
          </p:cNvCxnSpPr>
          <p:nvPr/>
        </p:nvCxnSpPr>
        <p:spPr>
          <a:xfrm>
            <a:off x="4418989" y="2729107"/>
            <a:ext cx="49460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9CBA32-4612-2A2D-0E85-8814B51D1307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380444" y="2729107"/>
            <a:ext cx="494602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DE21704-8735-C363-3A57-CBA6D34B3DEF}"/>
              </a:ext>
            </a:extLst>
          </p:cNvPr>
          <p:cNvCxnSpPr>
            <a:cxnSpLocks/>
            <a:stCxn id="9" idx="3"/>
            <a:endCxn id="79" idx="1"/>
          </p:cNvCxnSpPr>
          <p:nvPr/>
        </p:nvCxnSpPr>
        <p:spPr>
          <a:xfrm flipV="1">
            <a:off x="8341899" y="2729106"/>
            <a:ext cx="405696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07CA56-92EB-5DB0-EF13-119E377AF1CE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>
            <a:off x="5647018" y="3372359"/>
            <a:ext cx="0" cy="3800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7A1B71-8B51-393D-B91F-D7EE996FE89F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7608473" y="3372359"/>
            <a:ext cx="0" cy="3800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4E933A-CF31-5DC5-4210-409D148DC128}"/>
              </a:ext>
            </a:extLst>
          </p:cNvPr>
          <p:cNvCxnSpPr>
            <a:cxnSpLocks/>
            <a:stCxn id="110" idx="2"/>
            <a:endCxn id="11" idx="0"/>
          </p:cNvCxnSpPr>
          <p:nvPr/>
        </p:nvCxnSpPr>
        <p:spPr>
          <a:xfrm>
            <a:off x="1716622" y="3367226"/>
            <a:ext cx="0" cy="385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ADA53D5-B532-EDDB-E7CC-3615F3BB1B92}"/>
              </a:ext>
            </a:extLst>
          </p:cNvPr>
          <p:cNvSpPr/>
          <p:nvPr/>
        </p:nvSpPr>
        <p:spPr>
          <a:xfrm>
            <a:off x="8249717" y="5193506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37AF036-4505-3159-C41B-89DC0533E501}"/>
              </a:ext>
            </a:extLst>
          </p:cNvPr>
          <p:cNvCxnSpPr>
            <a:cxnSpLocks/>
          </p:cNvCxnSpPr>
          <p:nvPr/>
        </p:nvCxnSpPr>
        <p:spPr>
          <a:xfrm>
            <a:off x="8543491" y="5772626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9036978-466D-8C7A-2251-9970C8D011B7}"/>
              </a:ext>
            </a:extLst>
          </p:cNvPr>
          <p:cNvCxnSpPr>
            <a:cxnSpLocks/>
          </p:cNvCxnSpPr>
          <p:nvPr/>
        </p:nvCxnSpPr>
        <p:spPr>
          <a:xfrm>
            <a:off x="8543491" y="6298406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F49C924-1E46-B8B8-8392-39A0606383B4}"/>
              </a:ext>
            </a:extLst>
          </p:cNvPr>
          <p:cNvSpPr txBox="1"/>
          <p:nvPr/>
        </p:nvSpPr>
        <p:spPr>
          <a:xfrm>
            <a:off x="8669897" y="5380434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8127F8-2109-BC74-EC12-A94C19F36F1F}"/>
              </a:ext>
            </a:extLst>
          </p:cNvPr>
          <p:cNvSpPr txBox="1"/>
          <p:nvPr/>
        </p:nvSpPr>
        <p:spPr>
          <a:xfrm>
            <a:off x="8684869" y="5906062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85176B8-CBB0-48B6-67DD-D73582110C1B}"/>
              </a:ext>
            </a:extLst>
          </p:cNvPr>
          <p:cNvSpPr/>
          <p:nvPr/>
        </p:nvSpPr>
        <p:spPr>
          <a:xfrm>
            <a:off x="8747595" y="2534706"/>
            <a:ext cx="828000" cy="388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B204 = 0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FD5D35A-4461-4C41-099E-8C498EE53EF3}"/>
              </a:ext>
            </a:extLst>
          </p:cNvPr>
          <p:cNvSpPr/>
          <p:nvPr/>
        </p:nvSpPr>
        <p:spPr>
          <a:xfrm>
            <a:off x="2952136" y="3752452"/>
            <a:ext cx="1466853" cy="87869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" b="1" dirty="0">
                <a:solidFill>
                  <a:schemeClr val="tx1"/>
                </a:solidFill>
              </a:rPr>
              <a:t>B204 = B204 – </a:t>
            </a:r>
          </a:p>
          <a:p>
            <a:pPr algn="ctr"/>
            <a:r>
              <a:rPr lang="sv-SE" sz="1100" b="1" dirty="0">
                <a:solidFill>
                  <a:schemeClr val="tx1"/>
                </a:solidFill>
              </a:rPr>
              <a:t>((StriVal*0.20/5200) – </a:t>
            </a:r>
          </a:p>
          <a:p>
            <a:pPr algn="ctr"/>
            <a:r>
              <a:rPr lang="sv-SE" sz="1100" b="1" dirty="0">
                <a:solidFill>
                  <a:schemeClr val="tx1"/>
                </a:solidFill>
              </a:rPr>
              <a:t>(PersiVal*0.40/5200))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7792045-FC04-99A7-33F9-FC109EAD9005}"/>
              </a:ext>
            </a:extLst>
          </p:cNvPr>
          <p:cNvSpPr/>
          <p:nvPr/>
        </p:nvSpPr>
        <p:spPr>
          <a:xfrm>
            <a:off x="2952136" y="2085854"/>
            <a:ext cx="1466853" cy="12865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YES IN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StrInc</a:t>
            </a:r>
            <a:endParaRPr lang="en-GB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COMBO IN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StriType</a:t>
            </a:r>
            <a:endParaRPr lang="en-GB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Striprem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DONTKNOW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StriVal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&gt; 0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PersiVal &gt; 0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D65BA70-8147-D539-B7F9-0B58E235A7A8}"/>
              </a:ext>
            </a:extLst>
          </p:cNvPr>
          <p:cNvCxnSpPr>
            <a:cxnSpLocks/>
            <a:stCxn id="107" idx="2"/>
            <a:endCxn id="106" idx="0"/>
          </p:cNvCxnSpPr>
          <p:nvPr/>
        </p:nvCxnSpPr>
        <p:spPr>
          <a:xfrm>
            <a:off x="3685563" y="3372359"/>
            <a:ext cx="0" cy="3800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C722FD1-A9C2-2744-CA33-3607209D8806}"/>
              </a:ext>
            </a:extLst>
          </p:cNvPr>
          <p:cNvSpPr/>
          <p:nvPr/>
        </p:nvSpPr>
        <p:spPr>
          <a:xfrm>
            <a:off x="983195" y="2090986"/>
            <a:ext cx="1466853" cy="12762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YES IN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StrInc</a:t>
            </a:r>
            <a:endParaRPr lang="en-GB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STRONLY IN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StriType</a:t>
            </a:r>
            <a:endParaRPr lang="en-GB" sz="11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Striprem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DONTKNOW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+ </a:t>
            </a:r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StriVal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&gt; 0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0D86C10-2E67-7A2E-D049-D6EC72AB4256}"/>
              </a:ext>
            </a:extLst>
          </p:cNvPr>
          <p:cNvCxnSpPr>
            <a:cxnSpLocks/>
            <a:stCxn id="110" idx="3"/>
            <a:endCxn id="107" idx="1"/>
          </p:cNvCxnSpPr>
          <p:nvPr/>
        </p:nvCxnSpPr>
        <p:spPr>
          <a:xfrm>
            <a:off x="2450048" y="2729106"/>
            <a:ext cx="502088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00DCD71-757D-DC6B-61B5-7EDCA952D466}"/>
              </a:ext>
            </a:extLst>
          </p:cNvPr>
          <p:cNvCxnSpPr>
            <a:cxnSpLocks/>
            <a:stCxn id="3" idx="6"/>
            <a:endCxn id="110" idx="1"/>
          </p:cNvCxnSpPr>
          <p:nvPr/>
        </p:nvCxnSpPr>
        <p:spPr>
          <a:xfrm>
            <a:off x="701707" y="2729106"/>
            <a:ext cx="281488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C3CE07A6-6554-F025-FC09-F5E590DFC137}"/>
              </a:ext>
            </a:extLst>
          </p:cNvPr>
          <p:cNvSpPr/>
          <p:nvPr/>
        </p:nvSpPr>
        <p:spPr>
          <a:xfrm>
            <a:off x="125707" y="2441106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C0AEEC-D15C-B668-84D0-07BD48C42F8A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2450048" y="4172922"/>
            <a:ext cx="251045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A05BC0-C9E0-BB69-B450-2B0F269D35BC}"/>
              </a:ext>
            </a:extLst>
          </p:cNvPr>
          <p:cNvCxnSpPr>
            <a:cxnSpLocks/>
          </p:cNvCxnSpPr>
          <p:nvPr/>
        </p:nvCxnSpPr>
        <p:spPr>
          <a:xfrm flipV="1">
            <a:off x="2683065" y="2858679"/>
            <a:ext cx="0" cy="130340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BD2C71-C5AD-0C0F-010D-732907F9EADA}"/>
              </a:ext>
            </a:extLst>
          </p:cNvPr>
          <p:cNvCxnSpPr>
            <a:cxnSpLocks/>
            <a:stCxn id="106" idx="3"/>
          </p:cNvCxnSpPr>
          <p:nvPr/>
        </p:nvCxnSpPr>
        <p:spPr>
          <a:xfrm flipV="1">
            <a:off x="4418989" y="4172922"/>
            <a:ext cx="251336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A72614-5043-87C4-0ED3-806A16B5647A}"/>
              </a:ext>
            </a:extLst>
          </p:cNvPr>
          <p:cNvCxnSpPr>
            <a:cxnSpLocks/>
          </p:cNvCxnSpPr>
          <p:nvPr/>
        </p:nvCxnSpPr>
        <p:spPr>
          <a:xfrm flipV="1">
            <a:off x="4662705" y="2858679"/>
            <a:ext cx="0" cy="132186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9BA11C9-5916-B2DB-205A-02DC63E46C2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80444" y="4191802"/>
            <a:ext cx="237675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CCDC81-61B8-3C1C-F860-D44BB7914C55}"/>
              </a:ext>
            </a:extLst>
          </p:cNvPr>
          <p:cNvCxnSpPr>
            <a:cxnSpLocks/>
          </p:cNvCxnSpPr>
          <p:nvPr/>
        </p:nvCxnSpPr>
        <p:spPr>
          <a:xfrm flipV="1">
            <a:off x="6618119" y="2858679"/>
            <a:ext cx="0" cy="135200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359ED9-F450-0A55-D8D9-E8DA961F35E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8341899" y="4191801"/>
            <a:ext cx="223064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FE95AB-0054-8D85-9808-0AA90004EEF2}"/>
              </a:ext>
            </a:extLst>
          </p:cNvPr>
          <p:cNvCxnSpPr>
            <a:cxnSpLocks/>
          </p:cNvCxnSpPr>
          <p:nvPr/>
        </p:nvCxnSpPr>
        <p:spPr>
          <a:xfrm flipV="1">
            <a:off x="8564963" y="2858679"/>
            <a:ext cx="0" cy="135200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7548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6A485-17F0-26F9-E0AC-43C8E0559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AFC70-82E9-5380-5972-2FD26DE11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B204 Other mortgage – last payment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718E5-AF8D-2EE3-4CCB-4A7A68086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KEY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DvMen</a:t>
            </a:r>
            <a:r>
              <a:rPr lang="en-GB" dirty="0"/>
              <a:t> - Derived from </a:t>
            </a:r>
            <a:r>
              <a:rPr lang="en-GB" dirty="0" err="1"/>
              <a:t>Menpolam</a:t>
            </a:r>
            <a:r>
              <a:rPr lang="en-GB" dirty="0"/>
              <a:t> to give a weekly amount – (</a:t>
            </a:r>
            <a:r>
              <a:rPr lang="en-GB" dirty="0" err="1"/>
              <a:t>Menpolam</a:t>
            </a:r>
            <a:r>
              <a:rPr lang="en-GB" dirty="0"/>
              <a:t> – Mortgage: How much was the respondents last payment on the endowment policy/pension plan/ISA/unit trust?)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DvMorp</a:t>
            </a:r>
            <a:r>
              <a:rPr lang="en-GB" dirty="0"/>
              <a:t>  - Derived from </a:t>
            </a:r>
            <a:r>
              <a:rPr lang="en-GB" dirty="0" err="1"/>
              <a:t>MortProt</a:t>
            </a:r>
            <a:r>
              <a:rPr lang="en-GB" dirty="0"/>
              <a:t> to give a weekly amount – (</a:t>
            </a:r>
            <a:r>
              <a:rPr lang="en-GB" dirty="0" err="1"/>
              <a:t>MortProt</a:t>
            </a:r>
            <a:r>
              <a:rPr lang="en-GB" dirty="0"/>
              <a:t> – Mortgage: (Apart from any endowment policies they have mentioned).  Does the respondent have a mortgage protection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policy to repay this mortgage in the event of sickness/accident, redundancy or death?)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DvMort</a:t>
            </a:r>
            <a:r>
              <a:rPr lang="en-GB" dirty="0"/>
              <a:t>  - Derived from </a:t>
            </a:r>
            <a:r>
              <a:rPr lang="en-GB" dirty="0" err="1"/>
              <a:t>MortPay</a:t>
            </a:r>
            <a:r>
              <a:rPr lang="en-GB" dirty="0"/>
              <a:t> to give a weekly amount – (</a:t>
            </a:r>
            <a:r>
              <a:rPr lang="en-GB" dirty="0" err="1"/>
              <a:t>MortPay</a:t>
            </a:r>
            <a:r>
              <a:rPr lang="en-GB" dirty="0"/>
              <a:t> – Mortgage: How much was the respondents last payment on this mortgage or loan?)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DvStri</a:t>
            </a:r>
            <a:r>
              <a:rPr lang="en-GB" dirty="0"/>
              <a:t>  - Derived from </a:t>
            </a:r>
            <a:r>
              <a:rPr lang="en-GB" dirty="0" err="1"/>
              <a:t>StriPrem</a:t>
            </a:r>
            <a:r>
              <a:rPr lang="en-GB" dirty="0"/>
              <a:t> to give a weekly amount – (</a:t>
            </a:r>
            <a:r>
              <a:rPr lang="en-GB" dirty="0" err="1"/>
              <a:t>StriPrem</a:t>
            </a:r>
            <a:r>
              <a:rPr lang="en-GB" dirty="0"/>
              <a:t> – Structural Insurance: How much was the last premium?)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DvWho</a:t>
            </a:r>
            <a:r>
              <a:rPr lang="en-GB" dirty="0"/>
              <a:t>  - Derived from </a:t>
            </a:r>
            <a:r>
              <a:rPr lang="en-GB" dirty="0" err="1"/>
              <a:t>WhoAmt</a:t>
            </a:r>
            <a:r>
              <a:rPr lang="en-GB" dirty="0"/>
              <a:t> to give a weekly amount – (</a:t>
            </a:r>
            <a:r>
              <a:rPr lang="en-GB" dirty="0" err="1"/>
              <a:t>WhoAmt</a:t>
            </a:r>
            <a:r>
              <a:rPr lang="en-GB" dirty="0"/>
              <a:t> – Mortgage: How much did the respondent pay last time?)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InCmp</a:t>
            </a:r>
            <a:r>
              <a:rPr lang="en-GB" dirty="0"/>
              <a:t> - Is this payment included in the amount of [£amount]  the respondent mentioned earlier?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InicNint</a:t>
            </a:r>
            <a:r>
              <a:rPr lang="en-GB" dirty="0"/>
              <a:t> - Is this payment included in the amount the respondent mentioned earlier [£amount]?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MortType</a:t>
            </a:r>
            <a:r>
              <a:rPr lang="en-GB" dirty="0"/>
              <a:t>  - What type of mortgage is this?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Endow - An endowment mortgage where mortgage payments cover interest only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Repay - A repayment mortgage where mortgage payments cover interest and part of the original loan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Pension - A pension mortgage where mortgage payments cover interest only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UTISA - A Unit Trust or ISA mortgage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</a:t>
            </a:r>
            <a:r>
              <a:rPr lang="en-GB" dirty="0" err="1"/>
              <a:t>Endrep</a:t>
            </a:r>
            <a:r>
              <a:rPr lang="en-GB" dirty="0"/>
              <a:t> -  BOTH an endowment (or other interest only) AND a repayment mortgage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</a:t>
            </a:r>
            <a:r>
              <a:rPr lang="en-GB" dirty="0" err="1"/>
              <a:t>Intlink</a:t>
            </a:r>
            <a:r>
              <a:rPr lang="en-GB" dirty="0"/>
              <a:t> - An interest only mortgage with MORE than one linked investment (e.g. pension and unit trust, endowment and ISA)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</a:t>
            </a:r>
            <a:r>
              <a:rPr lang="en-GB" dirty="0" err="1"/>
              <a:t>Intnolink</a:t>
            </a:r>
            <a:r>
              <a:rPr lang="en-GB" dirty="0"/>
              <a:t> - An interest only mortgage with NO linked investment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Equity - An equity release </a:t>
            </a:r>
            <a:r>
              <a:rPr lang="en-GB" dirty="0" err="1"/>
              <a:t>mortage</a:t>
            </a: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Other - Another  type (Please specify)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Persival - What is the insured value of the furniture and contents and/or personal possessions?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StrInc</a:t>
            </a:r>
            <a:r>
              <a:rPr lang="en-GB" dirty="0"/>
              <a:t> - Was this insurance premium included in the respondents last mortgage payment?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Striprem</a:t>
            </a:r>
            <a:r>
              <a:rPr lang="en-GB" dirty="0"/>
              <a:t> - How much was the last premium?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StriType</a:t>
            </a:r>
            <a:r>
              <a:rPr lang="en-GB" dirty="0"/>
              <a:t> - Are the payments for: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</a:t>
            </a:r>
            <a:r>
              <a:rPr lang="en-GB" dirty="0" err="1"/>
              <a:t>StrOnly</a:t>
            </a:r>
            <a:r>
              <a:rPr lang="en-GB" dirty="0"/>
              <a:t> - structure only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Combo  - structure combined with furniture and contents and/or personal possessions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</a:t>
            </a:r>
            <a:r>
              <a:rPr lang="en-GB" dirty="0" err="1"/>
              <a:t>PerOnly</a:t>
            </a:r>
            <a:r>
              <a:rPr lang="en-GB" dirty="0"/>
              <a:t> - furniture and contents and/or personal possessions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Strival</a:t>
            </a:r>
            <a:r>
              <a:rPr lang="en-GB" dirty="0"/>
              <a:t>  - What is the insured value of the structure?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WhoInc</a:t>
            </a:r>
            <a:r>
              <a:rPr lang="en-GB" dirty="0"/>
              <a:t> - Was this amount included in the mortgage repayment the respondent mentioned earlier?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36072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C953B-B732-246A-9148-00779E3F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74B02-E3F2-2963-6A56-4220DBA22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B3262 1</a:t>
            </a:r>
            <a:r>
              <a:rPr lang="en-GB" sz="1600" baseline="30000" dirty="0"/>
              <a:t>st</a:t>
            </a:r>
            <a:r>
              <a:rPr lang="en-GB" sz="1600" dirty="0"/>
              <a:t> subsid job: se amount of gross profit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78C671-D911-9DE2-4543-ECB098426B86}"/>
              </a:ext>
            </a:extLst>
          </p:cNvPr>
          <p:cNvSpPr/>
          <p:nvPr/>
        </p:nvSpPr>
        <p:spPr>
          <a:xfrm>
            <a:off x="268365" y="1542376"/>
            <a:ext cx="622089" cy="476033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8FC3E4-3E5A-57F5-6B5B-B044032671C0}"/>
              </a:ext>
            </a:extLst>
          </p:cNvPr>
          <p:cNvSpPr/>
          <p:nvPr/>
        </p:nvSpPr>
        <p:spPr>
          <a:xfrm>
            <a:off x="9093930" y="3197406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997F2-C356-0BEC-A790-03CD5C2A37EB}"/>
              </a:ext>
            </a:extLst>
          </p:cNvPr>
          <p:cNvSpPr/>
          <p:nvPr/>
        </p:nvSpPr>
        <p:spPr>
          <a:xfrm>
            <a:off x="3881206" y="1480310"/>
            <a:ext cx="854827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B3262 =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106E29-DD79-49D5-C669-59270B8AFDB4}"/>
              </a:ext>
            </a:extLst>
          </p:cNvPr>
          <p:cNvSpPr/>
          <p:nvPr/>
        </p:nvSpPr>
        <p:spPr>
          <a:xfrm>
            <a:off x="2442195" y="3229965"/>
            <a:ext cx="853273" cy="4960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1 IN </a:t>
            </a:r>
            <a:r>
              <a:rPr lang="en-GB" sz="1000" b="1" dirty="0" err="1">
                <a:solidFill>
                  <a:schemeClr val="tx1"/>
                </a:solidFill>
              </a:rPr>
              <a:t>ChecktaxB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1E7DAA-733D-2F0D-04AB-A665B73D6F2A}"/>
              </a:ext>
            </a:extLst>
          </p:cNvPr>
          <p:cNvSpPr/>
          <p:nvPr/>
        </p:nvSpPr>
        <p:spPr>
          <a:xfrm>
            <a:off x="2452976" y="1480310"/>
            <a:ext cx="828000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1, 2 IN A200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67B3DA-9AFA-5399-7557-C77D956F3D41}"/>
              </a:ext>
            </a:extLst>
          </p:cNvPr>
          <p:cNvSpPr/>
          <p:nvPr/>
        </p:nvSpPr>
        <p:spPr>
          <a:xfrm>
            <a:off x="1153069" y="1589159"/>
            <a:ext cx="828000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C5636B-ABF6-4785-DF95-548983060A29}"/>
              </a:ext>
            </a:extLst>
          </p:cNvPr>
          <p:cNvSpPr/>
          <p:nvPr/>
        </p:nvSpPr>
        <p:spPr>
          <a:xfrm>
            <a:off x="4062330" y="3229965"/>
            <a:ext cx="910801" cy="4913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1 IN </a:t>
            </a:r>
            <a:r>
              <a:rPr lang="en-GB" sz="1000" b="1" dirty="0" err="1">
                <a:solidFill>
                  <a:schemeClr val="tx1"/>
                </a:solidFill>
              </a:rPr>
              <a:t>CheckNI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9C74D1-0DD4-2755-07DD-BB7F74FC4AD9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3280976" y="1780392"/>
            <a:ext cx="6002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DDA4EB-C33C-1D87-4DD6-A29F59B3DD52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1981069" y="1780392"/>
            <a:ext cx="471907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8581A0-074A-37A5-B4EE-12056B2606AA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890454" y="1780392"/>
            <a:ext cx="262615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3A7FA3-1701-2D28-EC0A-4B0993B6A03B}"/>
              </a:ext>
            </a:extLst>
          </p:cNvPr>
          <p:cNvCxnSpPr>
            <a:cxnSpLocks/>
            <a:stCxn id="10" idx="3"/>
            <a:endCxn id="48" idx="1"/>
          </p:cNvCxnSpPr>
          <p:nvPr/>
        </p:nvCxnSpPr>
        <p:spPr>
          <a:xfrm>
            <a:off x="4973131" y="3475645"/>
            <a:ext cx="776336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52522B-9C86-1CB4-C09A-3FF3456E4D5C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3295468" y="3475645"/>
            <a:ext cx="766862" cy="232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9B468-E5AD-7DE9-9474-91C5C2BC5517}"/>
              </a:ext>
            </a:extLst>
          </p:cNvPr>
          <p:cNvSpPr/>
          <p:nvPr/>
        </p:nvSpPr>
        <p:spPr>
          <a:xfrm>
            <a:off x="5749467" y="5043506"/>
            <a:ext cx="910800" cy="4099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</a:t>
            </a:r>
            <a:r>
              <a:rPr lang="en-GB" sz="1100" b="1" dirty="0" err="1">
                <a:solidFill>
                  <a:schemeClr val="tx1"/>
                </a:solidFill>
              </a:rPr>
              <a:t>Dvprof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DB8B40-8174-7878-6319-709800619DC3}"/>
              </a:ext>
            </a:extLst>
          </p:cNvPr>
          <p:cNvSpPr/>
          <p:nvPr/>
        </p:nvSpPr>
        <p:spPr>
          <a:xfrm>
            <a:off x="7436602" y="5043506"/>
            <a:ext cx="910800" cy="4099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</a:t>
            </a:r>
            <a:r>
              <a:rPr lang="en-GB" sz="1100" b="1" dirty="0" err="1">
                <a:solidFill>
                  <a:schemeClr val="tx1"/>
                </a:solidFill>
              </a:rPr>
              <a:t>Dvprbef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E7B729-FF6A-FA26-B547-8F4FB90567BA}"/>
              </a:ext>
            </a:extLst>
          </p:cNvPr>
          <p:cNvSpPr/>
          <p:nvPr/>
        </p:nvSpPr>
        <p:spPr>
          <a:xfrm>
            <a:off x="5749467" y="4125993"/>
            <a:ext cx="910800" cy="44267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Dvprof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690D70-3F0D-CE12-4090-C625F1AD5537}"/>
              </a:ext>
            </a:extLst>
          </p:cNvPr>
          <p:cNvSpPr/>
          <p:nvPr/>
        </p:nvSpPr>
        <p:spPr>
          <a:xfrm>
            <a:off x="7436602" y="4121432"/>
            <a:ext cx="910800" cy="44267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Dvprbef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1DD130-4152-E8D6-EA3C-279C611D5E00}"/>
              </a:ext>
            </a:extLst>
          </p:cNvPr>
          <p:cNvSpPr/>
          <p:nvPr/>
        </p:nvSpPr>
        <p:spPr>
          <a:xfrm>
            <a:off x="2449815" y="5043507"/>
            <a:ext cx="838781" cy="4099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XB3262 = DVTAXD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F1FF8C8-AA53-785C-3234-E2758DE24220}"/>
              </a:ext>
            </a:extLst>
          </p:cNvPr>
          <p:cNvCxnSpPr>
            <a:cxnSpLocks/>
            <a:stCxn id="29" idx="3"/>
            <a:endCxn id="19" idx="1"/>
          </p:cNvCxnSpPr>
          <p:nvPr/>
        </p:nvCxnSpPr>
        <p:spPr>
          <a:xfrm>
            <a:off x="4973132" y="4347329"/>
            <a:ext cx="776335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1F1012-849B-8158-830D-B3F46DA2849D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6660267" y="4342768"/>
            <a:ext cx="776335" cy="45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1A1F528-3C0D-6B28-85ED-41301985CC72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347402" y="4342768"/>
            <a:ext cx="891958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91ADE0A-1321-27CB-8AB9-51C585EFBAD2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>
            <a:off x="6204867" y="4568664"/>
            <a:ext cx="0" cy="4748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51608B-7B65-7D2E-6E34-5642B92E3414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>
            <a:off x="7892002" y="4564103"/>
            <a:ext cx="0" cy="4794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D7E45FD-7E20-93EA-5962-9D04E9D9A7F6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>
            <a:off x="2868832" y="4573309"/>
            <a:ext cx="374" cy="4701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4527CC0-96AE-CDC2-ED52-D81231F6D5E2}"/>
              </a:ext>
            </a:extLst>
          </p:cNvPr>
          <p:cNvSpPr/>
          <p:nvPr/>
        </p:nvSpPr>
        <p:spPr>
          <a:xfrm>
            <a:off x="4062332" y="5043507"/>
            <a:ext cx="910800" cy="4049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XB3262 = DVNIDB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0DE5C-D3FB-3764-BDBA-802EEBF86628}"/>
              </a:ext>
            </a:extLst>
          </p:cNvPr>
          <p:cNvSpPr/>
          <p:nvPr/>
        </p:nvSpPr>
        <p:spPr>
          <a:xfrm>
            <a:off x="4062332" y="4125993"/>
            <a:ext cx="910800" cy="44267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DVNIDB &gt; 0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F0DDDB9-FEB5-B2B6-2195-A1037C101B49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>
            <a:off x="4517732" y="4568664"/>
            <a:ext cx="0" cy="4748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17AF52D-2BA1-4F3D-AEB9-1985960935AB}"/>
              </a:ext>
            </a:extLst>
          </p:cNvPr>
          <p:cNvSpPr/>
          <p:nvPr/>
        </p:nvSpPr>
        <p:spPr>
          <a:xfrm>
            <a:off x="2442195" y="4125994"/>
            <a:ext cx="853273" cy="4473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DVTAXD&gt; 0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200F2BA-EEED-D83B-3AD4-3FC469B4D696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 flipV="1">
            <a:off x="3295468" y="4347329"/>
            <a:ext cx="766864" cy="232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810434-FE3F-512C-9A48-F612C2951AEE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3288596" y="5248467"/>
            <a:ext cx="486593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1B1D789-1228-9217-026A-95F8DA1426BC}"/>
              </a:ext>
            </a:extLst>
          </p:cNvPr>
          <p:cNvCxnSpPr>
            <a:cxnSpLocks/>
          </p:cNvCxnSpPr>
          <p:nvPr/>
        </p:nvCxnSpPr>
        <p:spPr>
          <a:xfrm flipH="1" flipV="1">
            <a:off x="3767195" y="3535680"/>
            <a:ext cx="7246" cy="171031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61AF7F-287A-28F1-8A3E-CD582A762269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4973132" y="5245996"/>
            <a:ext cx="552223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76F1A93-0385-4212-D28E-9A831A708C60}"/>
              </a:ext>
            </a:extLst>
          </p:cNvPr>
          <p:cNvCxnSpPr>
            <a:cxnSpLocks/>
          </p:cNvCxnSpPr>
          <p:nvPr/>
        </p:nvCxnSpPr>
        <p:spPr>
          <a:xfrm flipV="1">
            <a:off x="5479635" y="3535680"/>
            <a:ext cx="0" cy="171031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33E21FC5-1BA6-5DB9-8871-9A6B70FC682C}"/>
              </a:ext>
            </a:extLst>
          </p:cNvPr>
          <p:cNvSpPr/>
          <p:nvPr/>
        </p:nvSpPr>
        <p:spPr>
          <a:xfrm>
            <a:off x="2442195" y="2391134"/>
            <a:ext cx="853273" cy="49600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Xb3262 = 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B8808C8-16D2-2B77-BCE8-F435DE43501E}"/>
              </a:ext>
            </a:extLst>
          </p:cNvPr>
          <p:cNvSpPr/>
          <p:nvPr/>
        </p:nvSpPr>
        <p:spPr>
          <a:xfrm>
            <a:off x="5749467" y="3229965"/>
            <a:ext cx="910800" cy="491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Profit2 = 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C633A93-3FC8-47EC-D71A-40012CCAE783}"/>
              </a:ext>
            </a:extLst>
          </p:cNvPr>
          <p:cNvSpPr/>
          <p:nvPr/>
        </p:nvSpPr>
        <p:spPr>
          <a:xfrm>
            <a:off x="7436602" y="3229965"/>
            <a:ext cx="910800" cy="491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Proftax</a:t>
            </a:r>
            <a:r>
              <a:rPr lang="en-GB" sz="1000" b="1" dirty="0">
                <a:solidFill>
                  <a:schemeClr val="tx1"/>
                </a:solidFill>
              </a:rPr>
              <a:t> = 2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F94F932-A5B2-457B-D426-0EA9E72A9B68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>
            <a:off x="6660267" y="3475645"/>
            <a:ext cx="776335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B60BEBC-A48B-7D27-FD4C-8FA1C5A0880A}"/>
              </a:ext>
            </a:extLst>
          </p:cNvPr>
          <p:cNvCxnSpPr>
            <a:cxnSpLocks/>
            <a:stCxn id="49" idx="3"/>
            <a:endCxn id="5" idx="2"/>
          </p:cNvCxnSpPr>
          <p:nvPr/>
        </p:nvCxnSpPr>
        <p:spPr>
          <a:xfrm>
            <a:off x="8347402" y="3475645"/>
            <a:ext cx="746528" cy="97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B03EAAE-99BC-B66B-BE51-00EDE6D8A4EC}"/>
              </a:ext>
            </a:extLst>
          </p:cNvPr>
          <p:cNvCxnSpPr>
            <a:cxnSpLocks/>
            <a:stCxn id="8" idx="2"/>
            <a:endCxn id="47" idx="0"/>
          </p:cNvCxnSpPr>
          <p:nvPr/>
        </p:nvCxnSpPr>
        <p:spPr>
          <a:xfrm>
            <a:off x="2866976" y="2080474"/>
            <a:ext cx="1856" cy="3106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2F0641A-E4A9-5D4A-11D3-9E3FE154875F}"/>
              </a:ext>
            </a:extLst>
          </p:cNvPr>
          <p:cNvCxnSpPr>
            <a:cxnSpLocks/>
            <a:stCxn id="47" idx="2"/>
            <a:endCxn id="7" idx="0"/>
          </p:cNvCxnSpPr>
          <p:nvPr/>
        </p:nvCxnSpPr>
        <p:spPr>
          <a:xfrm>
            <a:off x="2868832" y="2887138"/>
            <a:ext cx="0" cy="3428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0DEBEF9-8B9F-A1B0-CDDB-0B356015B38D}"/>
              </a:ext>
            </a:extLst>
          </p:cNvPr>
          <p:cNvCxnSpPr>
            <a:cxnSpLocks/>
            <a:stCxn id="7" idx="2"/>
            <a:endCxn id="31" idx="0"/>
          </p:cNvCxnSpPr>
          <p:nvPr/>
        </p:nvCxnSpPr>
        <p:spPr>
          <a:xfrm>
            <a:off x="2868832" y="3725969"/>
            <a:ext cx="0" cy="400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530C7E0-BF58-CBA1-DF8A-EDEAAD13E03C}"/>
              </a:ext>
            </a:extLst>
          </p:cNvPr>
          <p:cNvCxnSpPr>
            <a:cxnSpLocks/>
            <a:stCxn id="10" idx="2"/>
            <a:endCxn id="29" idx="0"/>
          </p:cNvCxnSpPr>
          <p:nvPr/>
        </p:nvCxnSpPr>
        <p:spPr>
          <a:xfrm>
            <a:off x="4517731" y="3721325"/>
            <a:ext cx="1" cy="4046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D0657490-4649-9941-5F48-3E959061EF42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6660267" y="5245996"/>
            <a:ext cx="531616" cy="247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7B4E4DF0-F668-B91B-AA7E-24CF5793324E}"/>
              </a:ext>
            </a:extLst>
          </p:cNvPr>
          <p:cNvCxnSpPr>
            <a:cxnSpLocks/>
          </p:cNvCxnSpPr>
          <p:nvPr/>
        </p:nvCxnSpPr>
        <p:spPr>
          <a:xfrm flipV="1">
            <a:off x="7171275" y="3535680"/>
            <a:ext cx="0" cy="171031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3CBF0FD-00A6-9396-C351-D862ED793D32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8347402" y="5248467"/>
            <a:ext cx="103452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94072B0-4625-7E93-A942-36112D6A110D}"/>
              </a:ext>
            </a:extLst>
          </p:cNvPr>
          <p:cNvCxnSpPr>
            <a:cxnSpLocks/>
            <a:endCxn id="5" idx="4"/>
          </p:cNvCxnSpPr>
          <p:nvPr/>
        </p:nvCxnSpPr>
        <p:spPr>
          <a:xfrm flipV="1">
            <a:off x="9381930" y="3773406"/>
            <a:ext cx="0" cy="147259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B6B24620-1034-0C07-EEE0-56ECA7C66AA2}"/>
              </a:ext>
            </a:extLst>
          </p:cNvPr>
          <p:cNvCxnSpPr>
            <a:cxnSpLocks/>
            <a:stCxn id="48" idx="2"/>
            <a:endCxn id="19" idx="0"/>
          </p:cNvCxnSpPr>
          <p:nvPr/>
        </p:nvCxnSpPr>
        <p:spPr>
          <a:xfrm>
            <a:off x="6204867" y="3721325"/>
            <a:ext cx="0" cy="4046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B55138FD-B436-624D-D11F-8C224864096C}"/>
              </a:ext>
            </a:extLst>
          </p:cNvPr>
          <p:cNvCxnSpPr>
            <a:cxnSpLocks/>
            <a:stCxn id="49" idx="2"/>
            <a:endCxn id="20" idx="0"/>
          </p:cNvCxnSpPr>
          <p:nvPr/>
        </p:nvCxnSpPr>
        <p:spPr>
          <a:xfrm>
            <a:off x="7892002" y="3721325"/>
            <a:ext cx="0" cy="400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CAA20B6-749C-F919-D357-732BCFC8DD82}"/>
              </a:ext>
            </a:extLst>
          </p:cNvPr>
          <p:cNvSpPr/>
          <p:nvPr/>
        </p:nvSpPr>
        <p:spPr>
          <a:xfrm>
            <a:off x="247680" y="5043506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51F018-FC06-4B35-ED76-1A79E23E27C4}"/>
              </a:ext>
            </a:extLst>
          </p:cNvPr>
          <p:cNvCxnSpPr>
            <a:cxnSpLocks/>
          </p:cNvCxnSpPr>
          <p:nvPr/>
        </p:nvCxnSpPr>
        <p:spPr>
          <a:xfrm>
            <a:off x="541454" y="5622626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185EC1B-5353-31CF-0197-E4BC628EEC84}"/>
              </a:ext>
            </a:extLst>
          </p:cNvPr>
          <p:cNvCxnSpPr>
            <a:cxnSpLocks/>
          </p:cNvCxnSpPr>
          <p:nvPr/>
        </p:nvCxnSpPr>
        <p:spPr>
          <a:xfrm>
            <a:off x="541454" y="6148406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27293D7-1834-4000-E309-01F33241B4E7}"/>
              </a:ext>
            </a:extLst>
          </p:cNvPr>
          <p:cNvSpPr txBox="1"/>
          <p:nvPr/>
        </p:nvSpPr>
        <p:spPr>
          <a:xfrm>
            <a:off x="667860" y="5230434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FD978C-B3C3-769F-4642-34564D000015}"/>
              </a:ext>
            </a:extLst>
          </p:cNvPr>
          <p:cNvSpPr txBox="1"/>
          <p:nvPr/>
        </p:nvSpPr>
        <p:spPr>
          <a:xfrm>
            <a:off x="682832" y="5756062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596164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A659A-E602-756A-CA17-9DE4E3230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7A3FE-BAC0-273D-989B-33F08864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B3262 1</a:t>
            </a:r>
            <a:r>
              <a:rPr lang="en-GB" sz="1600" baseline="30000" dirty="0"/>
              <a:t>st</a:t>
            </a:r>
            <a:r>
              <a:rPr lang="en-GB" sz="1600" dirty="0"/>
              <a:t> subsid job: se amount of gross profit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C890FC-FB5F-24EB-26A1-B7FB65C3E375}"/>
              </a:ext>
            </a:extLst>
          </p:cNvPr>
          <p:cNvSpPr/>
          <p:nvPr/>
        </p:nvSpPr>
        <p:spPr>
          <a:xfrm>
            <a:off x="8936964" y="2154304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B7161-6CAA-C82F-48FF-F1CFD6F2ED96}"/>
              </a:ext>
            </a:extLst>
          </p:cNvPr>
          <p:cNvSpPr/>
          <p:nvPr/>
        </p:nvSpPr>
        <p:spPr>
          <a:xfrm>
            <a:off x="1557152" y="2132071"/>
            <a:ext cx="1135706" cy="6601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Profit1 = RESPONSE AND Profit1 = 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74CC2D-C2B5-7B3A-78C6-AE0E43F6022D}"/>
              </a:ext>
            </a:extLst>
          </p:cNvPr>
          <p:cNvCxnSpPr>
            <a:cxnSpLocks/>
            <a:stCxn id="7" idx="3"/>
            <a:endCxn id="5" idx="2"/>
          </p:cNvCxnSpPr>
          <p:nvPr/>
        </p:nvCxnSpPr>
        <p:spPr>
          <a:xfrm flipV="1">
            <a:off x="2692858" y="2442304"/>
            <a:ext cx="6244106" cy="1985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EE25736-C271-75C6-5687-90C1B1A798A6}"/>
              </a:ext>
            </a:extLst>
          </p:cNvPr>
          <p:cNvSpPr/>
          <p:nvPr/>
        </p:nvSpPr>
        <p:spPr>
          <a:xfrm>
            <a:off x="5305284" y="3959859"/>
            <a:ext cx="1212275" cy="5456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B3262 + </a:t>
            </a:r>
            <a:r>
              <a:rPr lang="en-GB" sz="1100" b="1" dirty="0" err="1">
                <a:solidFill>
                  <a:schemeClr val="tx1"/>
                </a:solidFill>
              </a:rPr>
              <a:t>Dvseinc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09F00C-1AB7-C7D0-C2E4-3AB72D69AC38}"/>
              </a:ext>
            </a:extLst>
          </p:cNvPr>
          <p:cNvSpPr/>
          <p:nvPr/>
        </p:nvSpPr>
        <p:spPr>
          <a:xfrm>
            <a:off x="7128899" y="3959858"/>
            <a:ext cx="1212275" cy="545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B3262 + </a:t>
            </a:r>
            <a:r>
              <a:rPr lang="en-GB" sz="1100" b="1" dirty="0" err="1">
                <a:solidFill>
                  <a:schemeClr val="tx1"/>
                </a:solidFill>
              </a:rPr>
              <a:t>DvseincB</a:t>
            </a:r>
            <a:r>
              <a:rPr lang="en-GB" sz="1100" b="1" dirty="0">
                <a:solidFill>
                  <a:schemeClr val="tx1"/>
                </a:solidFill>
              </a:rPr>
              <a:t> + XB3262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2E5924-C891-1160-B914-329D1A9FABEE}"/>
              </a:ext>
            </a:extLst>
          </p:cNvPr>
          <p:cNvSpPr/>
          <p:nvPr/>
        </p:nvSpPr>
        <p:spPr>
          <a:xfrm>
            <a:off x="5305284" y="3036925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C366DB-8F7E-68D2-A9F3-584C719342C0}"/>
              </a:ext>
            </a:extLst>
          </p:cNvPr>
          <p:cNvSpPr/>
          <p:nvPr/>
        </p:nvSpPr>
        <p:spPr>
          <a:xfrm>
            <a:off x="7128899" y="3032364"/>
            <a:ext cx="1212275" cy="5891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DvseincB</a:t>
            </a:r>
            <a:r>
              <a:rPr lang="en-GB" sz="1000" b="1" dirty="0">
                <a:solidFill>
                  <a:schemeClr val="tx1"/>
                </a:solidFill>
              </a:rPr>
              <a:t> = REPSONSE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6E069F-89D2-C6A6-C79E-21D93837874C}"/>
              </a:ext>
            </a:extLst>
          </p:cNvPr>
          <p:cNvSpPr/>
          <p:nvPr/>
        </p:nvSpPr>
        <p:spPr>
          <a:xfrm>
            <a:off x="1567170" y="3959859"/>
            <a:ext cx="1116418" cy="5456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B3262 = </a:t>
            </a:r>
            <a:r>
              <a:rPr lang="en-GB" sz="1000" b="1" dirty="0" err="1">
                <a:solidFill>
                  <a:schemeClr val="tx1"/>
                </a:solidFill>
              </a:rPr>
              <a:t>Dvownamt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E8648C3-34B8-A3E2-0801-14E69BF73F38}"/>
              </a:ext>
            </a:extLst>
          </p:cNvPr>
          <p:cNvCxnSpPr>
            <a:cxnSpLocks/>
            <a:stCxn id="29" idx="3"/>
            <a:endCxn id="19" idx="1"/>
          </p:cNvCxnSpPr>
          <p:nvPr/>
        </p:nvCxnSpPr>
        <p:spPr>
          <a:xfrm>
            <a:off x="4612061" y="3331523"/>
            <a:ext cx="69322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9FC30CB-69B2-41C8-C9C5-7351C4A69131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6517559" y="3326962"/>
            <a:ext cx="611340" cy="45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097597-F3AF-76C9-4D4C-5F7C7FE042A6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341174" y="3326962"/>
            <a:ext cx="74122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0D5BB6-0438-FD04-1276-648DA39BD49D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>
            <a:off x="5911422" y="3626120"/>
            <a:ext cx="0" cy="3337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A201375-5E5C-E2D9-7C4B-CB8461FED96D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>
            <a:off x="7735037" y="3621559"/>
            <a:ext cx="0" cy="3382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970A17-F51C-0184-69D5-50835A8048C9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>
            <a:off x="2125005" y="3631534"/>
            <a:ext cx="374" cy="3283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4B07A2E-A032-905C-B29A-7BAA231CF878}"/>
              </a:ext>
            </a:extLst>
          </p:cNvPr>
          <p:cNvSpPr/>
          <p:nvPr/>
        </p:nvSpPr>
        <p:spPr>
          <a:xfrm>
            <a:off x="3399786" y="3960677"/>
            <a:ext cx="1212275" cy="53902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B3262 + </a:t>
            </a:r>
            <a:r>
              <a:rPr lang="en-GB" sz="1100" b="1" dirty="0" err="1">
                <a:solidFill>
                  <a:schemeClr val="tx1"/>
                </a:solidFill>
              </a:rPr>
              <a:t>Dvownot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404090-4C32-7AF0-AE03-0E1FB4D18239}"/>
              </a:ext>
            </a:extLst>
          </p:cNvPr>
          <p:cNvSpPr/>
          <p:nvPr/>
        </p:nvSpPr>
        <p:spPr>
          <a:xfrm>
            <a:off x="3399786" y="3036925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Dvownot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RESPONSE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11AEF33-484C-6BA0-0487-BC216F841952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>
            <a:off x="4005924" y="3626120"/>
            <a:ext cx="0" cy="334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6CC1F5C-A93E-63B8-46D2-AEDF8C7DAB49}"/>
              </a:ext>
            </a:extLst>
          </p:cNvPr>
          <p:cNvSpPr/>
          <p:nvPr/>
        </p:nvSpPr>
        <p:spPr>
          <a:xfrm>
            <a:off x="1557152" y="3036157"/>
            <a:ext cx="1135706" cy="5953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Dvownamt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RESPONSE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210C8C-BFE5-BA90-E496-EAD7896D94B3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 flipV="1">
            <a:off x="2692858" y="3331523"/>
            <a:ext cx="706928" cy="232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33AED6B-BE99-29E6-3BAB-82AE6CC4E46E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683588" y="4232660"/>
            <a:ext cx="347775" cy="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B98AFF1-72F5-E38F-AB1E-C2147761480C}"/>
              </a:ext>
            </a:extLst>
          </p:cNvPr>
          <p:cNvCxnSpPr>
            <a:cxnSpLocks/>
          </p:cNvCxnSpPr>
          <p:nvPr/>
        </p:nvCxnSpPr>
        <p:spPr>
          <a:xfrm flipV="1">
            <a:off x="3030615" y="3442307"/>
            <a:ext cx="0" cy="78788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F111CAA-F8A5-8C6C-2356-0719B235F3A3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4612061" y="4230190"/>
            <a:ext cx="401485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05FADB2-6C53-8928-66EF-1CCAD95F9102}"/>
              </a:ext>
            </a:extLst>
          </p:cNvPr>
          <p:cNvCxnSpPr>
            <a:cxnSpLocks/>
          </p:cNvCxnSpPr>
          <p:nvPr/>
        </p:nvCxnSpPr>
        <p:spPr>
          <a:xfrm flipV="1">
            <a:off x="4967826" y="3442307"/>
            <a:ext cx="0" cy="78788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852C0EB-0AAA-CB2D-CAAD-44D7546949CE}"/>
              </a:ext>
            </a:extLst>
          </p:cNvPr>
          <p:cNvCxnSpPr>
            <a:cxnSpLocks/>
            <a:stCxn id="7" idx="2"/>
            <a:endCxn id="31" idx="0"/>
          </p:cNvCxnSpPr>
          <p:nvPr/>
        </p:nvCxnSpPr>
        <p:spPr>
          <a:xfrm>
            <a:off x="2125005" y="2792251"/>
            <a:ext cx="0" cy="2439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0B905B7-EE45-7900-F0E0-FBD31DC1AA77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6517559" y="4230190"/>
            <a:ext cx="380878" cy="247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8CB8F25F-40A3-614F-076B-5D503F945896}"/>
              </a:ext>
            </a:extLst>
          </p:cNvPr>
          <p:cNvCxnSpPr>
            <a:cxnSpLocks/>
          </p:cNvCxnSpPr>
          <p:nvPr/>
        </p:nvCxnSpPr>
        <p:spPr>
          <a:xfrm flipV="1">
            <a:off x="6877829" y="3442307"/>
            <a:ext cx="0" cy="78788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0502186-1D91-45D4-C5A6-7FDB468B1F90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8341174" y="4232660"/>
            <a:ext cx="883790" cy="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39135F3B-5B7E-BF13-B5C9-B8A8DEBF0ED0}"/>
              </a:ext>
            </a:extLst>
          </p:cNvPr>
          <p:cNvCxnSpPr>
            <a:cxnSpLocks/>
            <a:endCxn id="5" idx="4"/>
          </p:cNvCxnSpPr>
          <p:nvPr/>
        </p:nvCxnSpPr>
        <p:spPr>
          <a:xfrm flipV="1">
            <a:off x="9224964" y="2730304"/>
            <a:ext cx="0" cy="147259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15B6A08D-9D50-EFE6-148A-91F02A13686D}"/>
              </a:ext>
            </a:extLst>
          </p:cNvPr>
          <p:cNvSpPr/>
          <p:nvPr/>
        </p:nvSpPr>
        <p:spPr>
          <a:xfrm>
            <a:off x="471358" y="2174161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A30B83D-40AF-142F-F336-730C75E80949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1047358" y="2462161"/>
            <a:ext cx="509794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FFD714BA-044B-5EB1-510C-AE25B35803EC}"/>
              </a:ext>
            </a:extLst>
          </p:cNvPr>
          <p:cNvSpPr/>
          <p:nvPr/>
        </p:nvSpPr>
        <p:spPr>
          <a:xfrm>
            <a:off x="384419" y="5125628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D9C4E55-7630-9E44-7035-E9D29DEC82E5}"/>
              </a:ext>
            </a:extLst>
          </p:cNvPr>
          <p:cNvCxnSpPr>
            <a:cxnSpLocks/>
          </p:cNvCxnSpPr>
          <p:nvPr/>
        </p:nvCxnSpPr>
        <p:spPr>
          <a:xfrm>
            <a:off x="678193" y="5704748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F034296-1285-5189-7594-817068D3A3CE}"/>
              </a:ext>
            </a:extLst>
          </p:cNvPr>
          <p:cNvCxnSpPr>
            <a:cxnSpLocks/>
          </p:cNvCxnSpPr>
          <p:nvPr/>
        </p:nvCxnSpPr>
        <p:spPr>
          <a:xfrm>
            <a:off x="678193" y="6230528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1DEC52C-AE60-28B2-1D31-D48E02C29D17}"/>
              </a:ext>
            </a:extLst>
          </p:cNvPr>
          <p:cNvSpPr txBox="1"/>
          <p:nvPr/>
        </p:nvSpPr>
        <p:spPr>
          <a:xfrm>
            <a:off x="804599" y="5312556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73907D-826F-0C7A-B184-30C3EE48B306}"/>
              </a:ext>
            </a:extLst>
          </p:cNvPr>
          <p:cNvSpPr txBox="1"/>
          <p:nvPr/>
        </p:nvSpPr>
        <p:spPr>
          <a:xfrm>
            <a:off x="819571" y="5838184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2851147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63B23-D83C-0553-758C-2B352EBC9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FA78B-BEAD-89E5-EBBE-D91B7F9C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B3262 1</a:t>
            </a:r>
            <a:r>
              <a:rPr lang="en-GB" sz="1600" baseline="30000" dirty="0"/>
              <a:t>st</a:t>
            </a:r>
            <a:r>
              <a:rPr lang="en-GB" sz="1600" dirty="0"/>
              <a:t> subsid job: se amount of gross profit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0BD6C99-7A21-856E-B817-29144E69A5E1}"/>
              </a:ext>
            </a:extLst>
          </p:cNvPr>
          <p:cNvSpPr/>
          <p:nvPr/>
        </p:nvSpPr>
        <p:spPr>
          <a:xfrm>
            <a:off x="8923317" y="1623446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30C6B3-6AF9-5883-40CA-8DCE85C57B81}"/>
              </a:ext>
            </a:extLst>
          </p:cNvPr>
          <p:cNvSpPr/>
          <p:nvPr/>
        </p:nvSpPr>
        <p:spPr>
          <a:xfrm>
            <a:off x="1543504" y="1601213"/>
            <a:ext cx="1595477" cy="6601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Profit2 = 2 OR Profit1 = DONTKNOW OR </a:t>
            </a:r>
            <a:r>
              <a:rPr lang="en-GB" sz="1000" b="1" dirty="0" err="1">
                <a:solidFill>
                  <a:schemeClr val="tx1"/>
                </a:solidFill>
              </a:rPr>
              <a:t>Busaccts</a:t>
            </a:r>
            <a:r>
              <a:rPr lang="en-GB" sz="1000" b="1" dirty="0">
                <a:solidFill>
                  <a:schemeClr val="tx1"/>
                </a:solidFill>
              </a:rPr>
              <a:t> = 3 AND 1,2 IN </a:t>
            </a:r>
            <a:r>
              <a:rPr lang="en-GB" sz="1000" b="1" dirty="0" err="1">
                <a:solidFill>
                  <a:schemeClr val="tx1"/>
                </a:solidFill>
              </a:rPr>
              <a:t>OwnSum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628147-618C-E12F-435E-A24A32B65A6C}"/>
              </a:ext>
            </a:extLst>
          </p:cNvPr>
          <p:cNvCxnSpPr>
            <a:cxnSpLocks/>
            <a:stCxn id="7" idx="3"/>
            <a:endCxn id="5" idx="2"/>
          </p:cNvCxnSpPr>
          <p:nvPr/>
        </p:nvCxnSpPr>
        <p:spPr>
          <a:xfrm flipV="1">
            <a:off x="3138981" y="1911446"/>
            <a:ext cx="5784336" cy="1985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0AA4C10-B850-D244-A0D1-5640254C018F}"/>
              </a:ext>
            </a:extLst>
          </p:cNvPr>
          <p:cNvSpPr/>
          <p:nvPr/>
        </p:nvSpPr>
        <p:spPr>
          <a:xfrm>
            <a:off x="5523651" y="4507177"/>
            <a:ext cx="1212275" cy="5456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B3262 + </a:t>
            </a:r>
            <a:r>
              <a:rPr lang="en-GB" sz="1100" b="1" dirty="0" err="1">
                <a:solidFill>
                  <a:schemeClr val="tx1"/>
                </a:solidFill>
              </a:rPr>
              <a:t>Dvseinc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167CF2-D0DF-4FA4-5E47-2FB238D52E0F}"/>
              </a:ext>
            </a:extLst>
          </p:cNvPr>
          <p:cNvSpPr/>
          <p:nvPr/>
        </p:nvSpPr>
        <p:spPr>
          <a:xfrm>
            <a:off x="7347266" y="4507176"/>
            <a:ext cx="1212275" cy="545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B3262 + </a:t>
            </a:r>
            <a:r>
              <a:rPr lang="en-GB" sz="1100" b="1" dirty="0" err="1">
                <a:solidFill>
                  <a:schemeClr val="tx1"/>
                </a:solidFill>
              </a:rPr>
              <a:t>DvseincB</a:t>
            </a:r>
            <a:r>
              <a:rPr lang="en-GB" sz="1100" b="1" dirty="0">
                <a:solidFill>
                  <a:schemeClr val="tx1"/>
                </a:solidFill>
              </a:rPr>
              <a:t> + XB3262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83A33B-FF50-941B-102F-46818A6ED7ED}"/>
              </a:ext>
            </a:extLst>
          </p:cNvPr>
          <p:cNvSpPr/>
          <p:nvPr/>
        </p:nvSpPr>
        <p:spPr>
          <a:xfrm>
            <a:off x="5523651" y="3584243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8A7568-79C3-8A3E-F31A-97A615BB3B9C}"/>
              </a:ext>
            </a:extLst>
          </p:cNvPr>
          <p:cNvSpPr/>
          <p:nvPr/>
        </p:nvSpPr>
        <p:spPr>
          <a:xfrm>
            <a:off x="7347266" y="3579682"/>
            <a:ext cx="1212275" cy="5891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DvseincB</a:t>
            </a:r>
            <a:r>
              <a:rPr lang="en-GB" sz="1000" b="1" dirty="0">
                <a:solidFill>
                  <a:schemeClr val="tx1"/>
                </a:solidFill>
              </a:rPr>
              <a:t> = REPSONSE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903EA6-C449-403D-DF51-0DC09725FAC8}"/>
              </a:ext>
            </a:extLst>
          </p:cNvPr>
          <p:cNvSpPr/>
          <p:nvPr/>
        </p:nvSpPr>
        <p:spPr>
          <a:xfrm>
            <a:off x="1785537" y="4507177"/>
            <a:ext cx="1116418" cy="5456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B3262 = </a:t>
            </a:r>
            <a:r>
              <a:rPr lang="en-GB" sz="1000" b="1" dirty="0" err="1">
                <a:solidFill>
                  <a:schemeClr val="tx1"/>
                </a:solidFill>
              </a:rPr>
              <a:t>Dvownamt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7A9388-5154-EF16-E8D1-5F0731F0B238}"/>
              </a:ext>
            </a:extLst>
          </p:cNvPr>
          <p:cNvCxnSpPr>
            <a:cxnSpLocks/>
            <a:stCxn id="29" idx="3"/>
            <a:endCxn id="19" idx="1"/>
          </p:cNvCxnSpPr>
          <p:nvPr/>
        </p:nvCxnSpPr>
        <p:spPr>
          <a:xfrm>
            <a:off x="4830428" y="3878841"/>
            <a:ext cx="69322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B11E726-4995-427F-15DA-F33886655824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6735926" y="3874280"/>
            <a:ext cx="611340" cy="45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976B0A-475B-66D3-6A8C-36CC7F2235D8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559541" y="3874280"/>
            <a:ext cx="543516" cy="688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82BC0F-4229-A937-29A9-6F942BF74277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>
            <a:off x="6129789" y="4173438"/>
            <a:ext cx="0" cy="3337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1863317-9B9F-56A6-F35F-E1C84648C0FE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>
            <a:off x="7953404" y="4168877"/>
            <a:ext cx="0" cy="3382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A46387E-8EB0-96A6-3297-008524547F44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>
            <a:off x="2343372" y="4178852"/>
            <a:ext cx="374" cy="3283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2115D7E-55A5-2B56-474A-35E7B795CFAA}"/>
              </a:ext>
            </a:extLst>
          </p:cNvPr>
          <p:cNvSpPr/>
          <p:nvPr/>
        </p:nvSpPr>
        <p:spPr>
          <a:xfrm>
            <a:off x="3618153" y="4507995"/>
            <a:ext cx="1212275" cy="53902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B3262 + </a:t>
            </a:r>
            <a:r>
              <a:rPr lang="en-GB" sz="1100" b="1" dirty="0" err="1">
                <a:solidFill>
                  <a:schemeClr val="tx1"/>
                </a:solidFill>
              </a:rPr>
              <a:t>Dvownot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711394-E7BA-BE15-6996-734EC6896497}"/>
              </a:ext>
            </a:extLst>
          </p:cNvPr>
          <p:cNvSpPr/>
          <p:nvPr/>
        </p:nvSpPr>
        <p:spPr>
          <a:xfrm>
            <a:off x="3618153" y="3584243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Dvownot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RESPONSE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709CFE-C457-7E45-C645-99C971A7AE87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>
            <a:off x="4224291" y="4173438"/>
            <a:ext cx="0" cy="334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5F76662-3B43-4FFB-B463-74D12358D022}"/>
              </a:ext>
            </a:extLst>
          </p:cNvPr>
          <p:cNvSpPr/>
          <p:nvPr/>
        </p:nvSpPr>
        <p:spPr>
          <a:xfrm>
            <a:off x="1775519" y="3583475"/>
            <a:ext cx="1135706" cy="5953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Dvownamt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RESPONSE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7679255-639D-0BD1-EA47-33B4FC0D8479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 flipV="1">
            <a:off x="2911225" y="3878841"/>
            <a:ext cx="706928" cy="232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AC32A9-28BE-724C-0ABA-976E04537E57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901955" y="4779978"/>
            <a:ext cx="347775" cy="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691B03C-AD0C-D431-18C4-E7E147B7CB3D}"/>
              </a:ext>
            </a:extLst>
          </p:cNvPr>
          <p:cNvCxnSpPr>
            <a:cxnSpLocks/>
          </p:cNvCxnSpPr>
          <p:nvPr/>
        </p:nvCxnSpPr>
        <p:spPr>
          <a:xfrm flipV="1">
            <a:off x="3248982" y="3989625"/>
            <a:ext cx="0" cy="78788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F8D7CAE-4845-A450-14C4-1480D1D326BD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4830428" y="4777508"/>
            <a:ext cx="401485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3413F0B-29F7-A42B-84F7-78494CE602D2}"/>
              </a:ext>
            </a:extLst>
          </p:cNvPr>
          <p:cNvCxnSpPr>
            <a:cxnSpLocks/>
          </p:cNvCxnSpPr>
          <p:nvPr/>
        </p:nvCxnSpPr>
        <p:spPr>
          <a:xfrm flipV="1">
            <a:off x="5186193" y="3989625"/>
            <a:ext cx="0" cy="78788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3F00D75-2558-C97B-AE2A-0F823A07854A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>
            <a:off x="2341243" y="2261393"/>
            <a:ext cx="2129" cy="3283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D04C1C19-F52F-495E-F7ED-10749CB5C985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6735926" y="4777508"/>
            <a:ext cx="380878" cy="247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0CC2B96C-6B5E-2314-6601-EE22EA776F8C}"/>
              </a:ext>
            </a:extLst>
          </p:cNvPr>
          <p:cNvCxnSpPr>
            <a:cxnSpLocks/>
          </p:cNvCxnSpPr>
          <p:nvPr/>
        </p:nvCxnSpPr>
        <p:spPr>
          <a:xfrm flipV="1">
            <a:off x="7096196" y="3989625"/>
            <a:ext cx="0" cy="78788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D5B50AD2-EA4B-8068-3046-8A00AD4F0948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8559541" y="4779978"/>
            <a:ext cx="665423" cy="688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F1F9890-A598-BDAD-ABA2-D34B82A6794C}"/>
              </a:ext>
            </a:extLst>
          </p:cNvPr>
          <p:cNvCxnSpPr>
            <a:cxnSpLocks/>
            <a:endCxn id="5" idx="4"/>
          </p:cNvCxnSpPr>
          <p:nvPr/>
        </p:nvCxnSpPr>
        <p:spPr>
          <a:xfrm flipH="1" flipV="1">
            <a:off x="9211317" y="2199446"/>
            <a:ext cx="13647" cy="257806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6E20FAA5-F865-CF47-0C01-90FD94EFA5B4}"/>
              </a:ext>
            </a:extLst>
          </p:cNvPr>
          <p:cNvSpPr/>
          <p:nvPr/>
        </p:nvSpPr>
        <p:spPr>
          <a:xfrm>
            <a:off x="457711" y="1643303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9CDE1AA-1F8A-807E-766A-37963932BEB6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1033711" y="1931303"/>
            <a:ext cx="509793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9C602A5-BE04-ACE3-6B83-B8A491523677}"/>
              </a:ext>
            </a:extLst>
          </p:cNvPr>
          <p:cNvSpPr/>
          <p:nvPr/>
        </p:nvSpPr>
        <p:spPr>
          <a:xfrm>
            <a:off x="1775519" y="2589718"/>
            <a:ext cx="1135706" cy="6601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B3262 = 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387C1E-A08A-BCBD-7F79-1C61D2A5E4F2}"/>
              </a:ext>
            </a:extLst>
          </p:cNvPr>
          <p:cNvCxnSpPr>
            <a:cxnSpLocks/>
            <a:stCxn id="4" idx="2"/>
            <a:endCxn id="31" idx="0"/>
          </p:cNvCxnSpPr>
          <p:nvPr/>
        </p:nvCxnSpPr>
        <p:spPr>
          <a:xfrm>
            <a:off x="2343372" y="3249898"/>
            <a:ext cx="0" cy="3335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842FCB3B-37CC-6DC8-F5CE-34AE4DB42544}"/>
              </a:ext>
            </a:extLst>
          </p:cNvPr>
          <p:cNvSpPr/>
          <p:nvPr/>
        </p:nvSpPr>
        <p:spPr>
          <a:xfrm>
            <a:off x="370772" y="5214697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3C0DDEB-EACE-876D-DADC-55A0F5F06D0A}"/>
              </a:ext>
            </a:extLst>
          </p:cNvPr>
          <p:cNvCxnSpPr>
            <a:cxnSpLocks/>
          </p:cNvCxnSpPr>
          <p:nvPr/>
        </p:nvCxnSpPr>
        <p:spPr>
          <a:xfrm>
            <a:off x="664546" y="5793817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18122C-DFD6-4FCB-2807-85DA7F14973B}"/>
              </a:ext>
            </a:extLst>
          </p:cNvPr>
          <p:cNvCxnSpPr>
            <a:cxnSpLocks/>
          </p:cNvCxnSpPr>
          <p:nvPr/>
        </p:nvCxnSpPr>
        <p:spPr>
          <a:xfrm>
            <a:off x="664546" y="6319597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6787811-B475-1F24-0D9D-C39C323A806E}"/>
              </a:ext>
            </a:extLst>
          </p:cNvPr>
          <p:cNvSpPr txBox="1"/>
          <p:nvPr/>
        </p:nvSpPr>
        <p:spPr>
          <a:xfrm>
            <a:off x="790952" y="5401625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C612EF-4492-3102-2895-8B852A15B9A6}"/>
              </a:ext>
            </a:extLst>
          </p:cNvPr>
          <p:cNvSpPr txBox="1"/>
          <p:nvPr/>
        </p:nvSpPr>
        <p:spPr>
          <a:xfrm>
            <a:off x="805924" y="5927253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6379391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9504-9A3C-74F8-63D2-FC6C5F00B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69E3B-4EAC-0E48-CF11-EC081D2F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7" y="365126"/>
            <a:ext cx="8543925" cy="434095"/>
          </a:xfrm>
        </p:spPr>
        <p:txBody>
          <a:bodyPr>
            <a:normAutofit/>
          </a:bodyPr>
          <a:lstStyle/>
          <a:p>
            <a:r>
              <a:rPr lang="en-GB" sz="1600" dirty="0"/>
              <a:t>B3262 1</a:t>
            </a:r>
            <a:r>
              <a:rPr lang="en-GB" sz="1600" baseline="30000" dirty="0"/>
              <a:t>st</a:t>
            </a:r>
            <a:r>
              <a:rPr lang="en-GB" sz="1600" dirty="0"/>
              <a:t> subsid job: se amount of gross profit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D95D76-3E06-2A8F-1500-BFB72720B7F0}"/>
              </a:ext>
            </a:extLst>
          </p:cNvPr>
          <p:cNvSpPr/>
          <p:nvPr/>
        </p:nvSpPr>
        <p:spPr>
          <a:xfrm>
            <a:off x="1557152" y="1872762"/>
            <a:ext cx="1135706" cy="6601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Bsuaccts</a:t>
            </a:r>
            <a:r>
              <a:rPr lang="en-GB" sz="1000" b="1" dirty="0">
                <a:solidFill>
                  <a:schemeClr val="tx1"/>
                </a:solidFill>
              </a:rPr>
              <a:t> = 3 AND </a:t>
            </a:r>
            <a:r>
              <a:rPr lang="en-GB" sz="1000" b="1" dirty="0" err="1">
                <a:solidFill>
                  <a:schemeClr val="tx1"/>
                </a:solidFill>
              </a:rPr>
              <a:t>Workacc</a:t>
            </a:r>
            <a:r>
              <a:rPr lang="en-GB" sz="1000" b="1" dirty="0">
                <a:solidFill>
                  <a:schemeClr val="tx1"/>
                </a:solidFill>
              </a:rPr>
              <a:t> = 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B146909-AC06-B0B2-9D76-7E78E113A00E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 flipV="1">
            <a:off x="2692858" y="2196255"/>
            <a:ext cx="2246494" cy="659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1DD3F5E-4F0A-7A09-E2E9-5D774D5B4CE3}"/>
              </a:ext>
            </a:extLst>
          </p:cNvPr>
          <p:cNvSpPr/>
          <p:nvPr/>
        </p:nvSpPr>
        <p:spPr>
          <a:xfrm>
            <a:off x="4936793" y="4069043"/>
            <a:ext cx="1212275" cy="5456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B3262 + </a:t>
            </a:r>
            <a:r>
              <a:rPr lang="en-GB" sz="1100" b="1" dirty="0" err="1">
                <a:solidFill>
                  <a:schemeClr val="tx1"/>
                </a:solidFill>
              </a:rPr>
              <a:t>Dvseinc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1220D6-448C-21E1-4693-E9AEEA5F1026}"/>
              </a:ext>
            </a:extLst>
          </p:cNvPr>
          <p:cNvSpPr/>
          <p:nvPr/>
        </p:nvSpPr>
        <p:spPr>
          <a:xfrm>
            <a:off x="6616276" y="4082425"/>
            <a:ext cx="1212275" cy="545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B3262 + </a:t>
            </a:r>
            <a:r>
              <a:rPr lang="en-GB" sz="1100" b="1" dirty="0" err="1">
                <a:solidFill>
                  <a:schemeClr val="tx1"/>
                </a:solidFill>
              </a:rPr>
              <a:t>DvseincB</a:t>
            </a:r>
            <a:r>
              <a:rPr lang="en-GB" sz="1100" b="1" dirty="0">
                <a:solidFill>
                  <a:schemeClr val="tx1"/>
                </a:solidFill>
              </a:rPr>
              <a:t> + XB3262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D1DCAD-43E7-E874-ECCD-FD1D4D3FE3F1}"/>
              </a:ext>
            </a:extLst>
          </p:cNvPr>
          <p:cNvSpPr/>
          <p:nvPr/>
        </p:nvSpPr>
        <p:spPr>
          <a:xfrm>
            <a:off x="4936793" y="3036925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71579F-5C78-8CE2-12E4-4D608C14A14E}"/>
              </a:ext>
            </a:extLst>
          </p:cNvPr>
          <p:cNvSpPr/>
          <p:nvPr/>
        </p:nvSpPr>
        <p:spPr>
          <a:xfrm>
            <a:off x="6616276" y="3045747"/>
            <a:ext cx="1212275" cy="5891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DvseincB</a:t>
            </a:r>
            <a:r>
              <a:rPr lang="en-GB" sz="1000" b="1" dirty="0">
                <a:solidFill>
                  <a:schemeClr val="tx1"/>
                </a:solidFill>
              </a:rPr>
              <a:t> = REPSONSE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97EC3D-8401-1436-B5C4-F7679CCB5961}"/>
              </a:ext>
            </a:extLst>
          </p:cNvPr>
          <p:cNvSpPr/>
          <p:nvPr/>
        </p:nvSpPr>
        <p:spPr>
          <a:xfrm>
            <a:off x="1567170" y="4069043"/>
            <a:ext cx="1116418" cy="5456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B3262 = B3262 + </a:t>
            </a:r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B522002-073B-2153-F228-FB5179FD283C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6149068" y="3331523"/>
            <a:ext cx="467208" cy="882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52C7C2-7BF5-F44B-CFC6-446D936DA19F}"/>
              </a:ext>
            </a:extLst>
          </p:cNvPr>
          <p:cNvCxnSpPr>
            <a:cxnSpLocks/>
            <a:stCxn id="20" idx="3"/>
            <a:endCxn id="11" idx="1"/>
          </p:cNvCxnSpPr>
          <p:nvPr/>
        </p:nvCxnSpPr>
        <p:spPr>
          <a:xfrm>
            <a:off x="7828551" y="3340345"/>
            <a:ext cx="567012" cy="4058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1334141-0A42-8BE8-57E7-FAE990390366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>
            <a:off x="5542931" y="3626120"/>
            <a:ext cx="0" cy="4429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A05342-90E3-DC0C-AF69-38AD78B1A87D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>
            <a:off x="7222414" y="3634942"/>
            <a:ext cx="0" cy="4474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ECDA40D-BDCA-0F2E-A620-76F9045FA3D2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>
            <a:off x="2125005" y="3631534"/>
            <a:ext cx="374" cy="4375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6F136AD-8088-BC74-D095-65C3E3CFA4D6}"/>
              </a:ext>
            </a:extLst>
          </p:cNvPr>
          <p:cNvSpPr/>
          <p:nvPr/>
        </p:nvSpPr>
        <p:spPr>
          <a:xfrm>
            <a:off x="3154122" y="4069861"/>
            <a:ext cx="1212275" cy="5390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B3262 + </a:t>
            </a:r>
            <a:r>
              <a:rPr lang="en-GB" sz="1100" b="1" dirty="0" err="1">
                <a:solidFill>
                  <a:schemeClr val="tx1"/>
                </a:solidFill>
              </a:rPr>
              <a:t>DvseincB</a:t>
            </a:r>
            <a:r>
              <a:rPr lang="en-GB" sz="1100" b="1" dirty="0">
                <a:solidFill>
                  <a:schemeClr val="tx1"/>
                </a:solidFill>
              </a:rPr>
              <a:t> + XB3262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F1F035-D72B-BB08-4A65-3E1198DD56B6}"/>
              </a:ext>
            </a:extLst>
          </p:cNvPr>
          <p:cNvSpPr/>
          <p:nvPr/>
        </p:nvSpPr>
        <p:spPr>
          <a:xfrm>
            <a:off x="3154122" y="3036925"/>
            <a:ext cx="1212275" cy="5891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DvseincB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RESPONSE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CC80C2-49A4-C6FA-1C33-7729CE8E9DDC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>
            <a:off x="3760260" y="3626120"/>
            <a:ext cx="0" cy="4437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E6508A8-DFDD-4B98-1DB9-E0F8929C6B7E}"/>
              </a:ext>
            </a:extLst>
          </p:cNvPr>
          <p:cNvSpPr/>
          <p:nvPr/>
        </p:nvSpPr>
        <p:spPr>
          <a:xfrm>
            <a:off x="1557152" y="3036157"/>
            <a:ext cx="1135706" cy="5953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Dvseinc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RESPONSE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ECF178-590C-0528-C7B2-F94E3DDC0244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 flipV="1">
            <a:off x="2692858" y="3331523"/>
            <a:ext cx="461264" cy="232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55EE034-16FF-4D1A-C1E4-45B88614333A}"/>
              </a:ext>
            </a:extLst>
          </p:cNvPr>
          <p:cNvCxnSpPr>
            <a:cxnSpLocks/>
            <a:stCxn id="7" idx="2"/>
            <a:endCxn id="31" idx="0"/>
          </p:cNvCxnSpPr>
          <p:nvPr/>
        </p:nvCxnSpPr>
        <p:spPr>
          <a:xfrm>
            <a:off x="2125005" y="2532942"/>
            <a:ext cx="0" cy="5032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F64E2882-9717-6795-6774-E0D27D3046C4}"/>
              </a:ext>
            </a:extLst>
          </p:cNvPr>
          <p:cNvSpPr/>
          <p:nvPr/>
        </p:nvSpPr>
        <p:spPr>
          <a:xfrm>
            <a:off x="471358" y="1914852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73CCBAF-FC5A-9AA8-2D69-BB43974E9236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1047358" y="2202852"/>
            <a:ext cx="509794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7BCEAF5-C079-98C6-B8B7-96D86077A53E}"/>
              </a:ext>
            </a:extLst>
          </p:cNvPr>
          <p:cNvSpPr/>
          <p:nvPr/>
        </p:nvSpPr>
        <p:spPr>
          <a:xfrm>
            <a:off x="4939352" y="1901657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Busaccts</a:t>
            </a:r>
            <a:r>
              <a:rPr lang="en-GB" sz="1000" b="1" dirty="0">
                <a:solidFill>
                  <a:schemeClr val="tx1"/>
                </a:solidFill>
              </a:rPr>
              <a:t> =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AC1C85-9836-47E8-153D-3FA94B7253E8}"/>
              </a:ext>
            </a:extLst>
          </p:cNvPr>
          <p:cNvSpPr/>
          <p:nvPr/>
        </p:nvSpPr>
        <p:spPr>
          <a:xfrm>
            <a:off x="8395563" y="1901656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B3262 = 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563344-D533-6DD3-FD67-35845E5F5949}"/>
              </a:ext>
            </a:extLst>
          </p:cNvPr>
          <p:cNvSpPr/>
          <p:nvPr/>
        </p:nvSpPr>
        <p:spPr>
          <a:xfrm>
            <a:off x="8395563" y="3049805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B3262 = 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FD0084-429F-F7A7-0709-985D89320C11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6151627" y="2196254"/>
            <a:ext cx="2243936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D1D8EA7-5604-E887-6945-3B639114F4D9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 flipH="1">
            <a:off x="5542931" y="2490852"/>
            <a:ext cx="2559" cy="5460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0D3260E2-B601-14FE-F59C-7FB8550AE147}"/>
              </a:ext>
            </a:extLst>
          </p:cNvPr>
          <p:cNvSpPr/>
          <p:nvPr/>
        </p:nvSpPr>
        <p:spPr>
          <a:xfrm>
            <a:off x="384419" y="5125628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40B2D95-4713-57ED-5CF3-052B5A19907E}"/>
              </a:ext>
            </a:extLst>
          </p:cNvPr>
          <p:cNvCxnSpPr>
            <a:cxnSpLocks/>
          </p:cNvCxnSpPr>
          <p:nvPr/>
        </p:nvCxnSpPr>
        <p:spPr>
          <a:xfrm>
            <a:off x="678193" y="5704748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DE47471-C5F7-2A56-3421-07B7F403D4CB}"/>
              </a:ext>
            </a:extLst>
          </p:cNvPr>
          <p:cNvCxnSpPr>
            <a:cxnSpLocks/>
          </p:cNvCxnSpPr>
          <p:nvPr/>
        </p:nvCxnSpPr>
        <p:spPr>
          <a:xfrm>
            <a:off x="678193" y="6230528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AA17D21-78C1-A784-F7A2-C6C4CB1CDFF7}"/>
              </a:ext>
            </a:extLst>
          </p:cNvPr>
          <p:cNvSpPr txBox="1"/>
          <p:nvPr/>
        </p:nvSpPr>
        <p:spPr>
          <a:xfrm>
            <a:off x="804599" y="5312556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1827DF-7FC5-EA8B-20A2-0AB36D50C1BA}"/>
              </a:ext>
            </a:extLst>
          </p:cNvPr>
          <p:cNvSpPr txBox="1"/>
          <p:nvPr/>
        </p:nvSpPr>
        <p:spPr>
          <a:xfrm>
            <a:off x="819571" y="5838184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450365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33C2F-B4D3-B4C4-1EE6-4377171D5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11A29-78FD-39A5-E97A-6FB79E365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B3262 1</a:t>
            </a:r>
            <a:r>
              <a:rPr lang="en-GB" sz="2400" baseline="30000" dirty="0"/>
              <a:t>st</a:t>
            </a:r>
            <a:r>
              <a:rPr lang="en-GB" sz="2400" dirty="0"/>
              <a:t> subsid job: se amount of gross profit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9511F-35C8-435D-7B3C-2A43A4994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9" y="894178"/>
            <a:ext cx="3768131" cy="535715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{B3262}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{AMENDED ON 2/08/2001 TO INCLUDE RESPONSE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AMENDED ON 12/9/2002}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OUTF25.B3262 := 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IF (OUTF25.A200 IN [1,2]) THEN {CURRENTLY EMPLOYED, SELF-EMPLOYED}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{PUT TAX AND NI IN TEMPORARY VARIABLE TO BE USED LATER}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XB3262 := 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IF (INFQ.QTSLFIN2.QSJOB[J].QBSELFJOB[1].CHECKTAXB IN [1]) THEN          {</a:t>
            </a:r>
            <a:r>
              <a:rPr lang="en-GB" sz="1100" dirty="0" err="1">
                <a:latin typeface="+mn-lt"/>
              </a:rPr>
              <a:t>CheckTaxB</a:t>
            </a:r>
            <a:r>
              <a:rPr lang="en-GB" sz="1100" dirty="0">
                <a:latin typeface="+mn-lt"/>
              </a:rPr>
              <a:t> replaces </a:t>
            </a:r>
            <a:r>
              <a:rPr lang="en-GB" sz="1100" dirty="0" err="1">
                <a:latin typeface="+mn-lt"/>
              </a:rPr>
              <a:t>CheckTax</a:t>
            </a:r>
            <a:r>
              <a:rPr lang="en-GB" sz="1100" dirty="0">
                <a:latin typeface="+mn-lt"/>
              </a:rPr>
              <a:t>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(INFQ.QTSLFIN2.QSJOB[J].QBSELFJOB[1].DVTAXD &gt; 0)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XB3262 := INFQ.QTSLFIN2.QSJOB[J].QBSELFJOB[1].DVTAXD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IF (INFQ.QTSLFIN2.QSJOB[J].QBSELFJOB[1].CHECKNI IN [1]) THEN            {</a:t>
            </a:r>
            <a:r>
              <a:rPr lang="en-GB" sz="1100" dirty="0" err="1">
                <a:latin typeface="+mn-lt"/>
              </a:rPr>
              <a:t>CheckNI</a:t>
            </a:r>
            <a:r>
              <a:rPr lang="en-GB" sz="1100" dirty="0">
                <a:latin typeface="+mn-lt"/>
              </a:rPr>
              <a:t> is new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(INFQ.QTSLFIN2.QSJOB[J].QBSELFJOB[1].DVNIDB &gt; 0) THEN             {DVNIDB replaces DVNID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XB3262 := XB3262 + INFQ.QTSLFIN2.QSJOB[J].QBSELFJOB[1].DVNIDB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sz="1100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IF (INFQ.QTSLFIN2.QSJOB[J].QBSELFJOB[1].PROFIT2 = 1)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(INFQ.QTSLFIN2.QSJOB[J].QBSELFJOB[1].DVPROF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INFQ.QTSLFIN2.QSJOB[J].QBSELFJOB[1].DVPROF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IF (INFQ.QTSLFIN2.QSJOB[J].QBSELFJOB[1].PROFTAX = 2)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(INFQ.QTSLFIN2.QSJOB[J].QBSELFJOB[1].DVPRBEF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INFQ.QTSLFIN2.QSJOB[J].QBSELFJOB[1].DVPRBEF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IF (INFQ.QTSLFIN2.QSJOB[J].QBSELFJOB[1].PROFIT1 = RESPONSE) AND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(INFQ.QTSLFIN2.QSJOB[J].QBSELFJOB[1].PROFIT1 = 0)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(INFQ.QTSLFIN2.QSJOB[J].QBSELFJOB[1].DVOWNAMT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INFQ.QTSLFIN2.QSJOB[J].QBSELFJOB[1].DVOWNAMT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(INFQ.QTSLFIN2.QSJOB[J].QBSELFJOB[1].DVOWNOT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OUTF25.B3262 + INFQ.QTSLFIN2.QSJOB[J].QBSELFJOB[1].DVOWNOT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(INFQ.QTSLFIN2.QSJOB[J].QBSELFJOB[1].DVSEINC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OUTF25.B3262 + INFQ.QTSLFIN2.QSJOB[J].QBSELFJOB[1].DVSEINC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(INFQ.QTSLFIN2.QSJOB[J].QBSELFJOB[1].DVSEINCB = RESPONSE) THEN    {Added DVSEINCB to this derivation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OUTF25.B3262 + INFQ.QTSLFIN2.QSJOB[J].QBSELFJOB[1].DVSEINCB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                 + XB3262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IF (INFQ.QTSLFIN2.QSJOB[J].QBSELFJOB[1].PROFIT2 = 2)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OUTF25.B3262 := 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(INFQ.QTSLFIN2.QSJOB[J].QBSELFJOB[1].DVOWNAMT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INFQ.QTSLFIN2.QSJOB[J].QBSELFJOB[1].DVOWNAMT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(INFQ.QTSLFIN2.QSJOB[J].QBSELFJOB[1].DVOWNOT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OUTF25.B3262 + INFQ.QTSLFIN2.QSJOB[J].QBSELFJOB[1].DVOWNOT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(INFQ.QTSLFIN2.QSJOB[J].QBSELFJOB[1].DVSEINC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OUTF25.B3262 + INFQ.QTSLFIN2.QSJOB[J].QBSELFJOB[1].DVSEINC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(INFQ.QTSLFIN2.QSJOB[J].QBSELFJOB[1].DVSEINCB = RESPONSE) THEN    {Added DVSEINCB to this derivation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OUTF25.B3262 + INFQ.QTSLFIN2.QSJOB[J].QBSELFJOB[1].DVSEINCB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                 + XB3262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IF (INFQ.QTSLFIN2.QSJOB[J].QBSELFJOB[1].PROFIT1 = DONTKNOW)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OUTF25.B3262 := 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(INFQ.QTSLFIN2.QSJOB[J].QBSELFJOB[1].DVOWNAMT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INFQ.QTSLFIN2.QSJOB[J].QBSELFJOB[1].DVOWNAMT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(INFQ.QTSLFIN2.QSJOB[J].QBSELFJOB[1].DVOWNOT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OUTF25.B3262 + INFQ.QTSLFIN2.QSJOB[J].QBSELFJOB[1].DVOWNOT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(INFQ.QTSLFIN2.QSJOB[J].QBSELFJOB[1].DVSEINC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OUTF25.B3262 + INFQ.QTSLFIN2.QSJOB[J].QBSELFJOB[1].DVSEINC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(INFQ.QTSLFIN2.QSJOB[J].QBSELFJOB[1].DVSEINCB = RESPONSE) THEN    {Added DVSEINCB to this derivation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OUTF25.B3262 + INFQ.QTSLFIN2.QSJOB[J].QBSELFJOB[1].DVSEINCB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                 + XB3262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IF (INFQ.QTSLFIN2.QSJOB[J].QBSELFJOB[1].BUSACCTS = 3) AND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(INFQ.QTSLFIN2.QSJOB[J].QBSELFJOB[1].OWNSUM IN [1,2])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OUTF25.B3262 := 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(INFQ.QTSLFIN2.QSJOB[J].QBSELFJOB[1].DVOWNAMT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INFQ.QTSLFIN2.QSJOB[J].QBSELFJOB[1].DVOWNAMT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(INFQ.QTSLFIN2.QSJOB[J].QBSELFJOB[1].DVOWNOT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OUTF25.B3262 + INFQ.QTSLFIN2.QSJOB[J].QBSELFJOB[1].DVOWNOT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(INFQ.QTSLFIN2.QSJOB[J].QBSELFJOB[1].DVSEINC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OUTF25.B3262 + INFQ.QTSLFIN2.QSJOB[J].QBSELFJOB[1].DVSEINC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(INFQ.QTSLFIN2.QSJOB[J].QBSELFJOB[1].DVSEINCB = RESPONSE) THEN    {Added DVSEINCB to this derivation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OUTF25.B3262 + INFQ.QTSLFIN2.QSJOB[J].QBSELFJOB[1].DVSEINCB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                 + XB3262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IF (INFQ.QTSLFIN2.QSJOB[J].QBSELFJOB[1].BUSACCTS = 3) AND              (INFQ.QTSLFIN2.QSJOB[J].QBSELFJOB[1].WORKACC = 2)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(INFQ.QTSLFIN2.QSJOB[J].QBSELFJOB[1].DVSEINC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INFQ.QTSLFIN2.QSJOB[J].QBSELFJOB[1].DVSEINC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(INFQ.QTSLFIN2.QSJOB[J].QBSELFJOB[1].DVSEINCB = RESPONSE) THEN    {Added DVSEINCB to this derivation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INFQ.QTSLFIN2.QSJOB[J].QBSELFJOB[1].DVSEINCB + XB3262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IF (INFQ.QTSLFIN2.QSJOB[J].QBSELFJOB[1].BUSACCTS = 2)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(INFQ.QTSLFIN2.QSJOB[J].QBSELFJOB[1].DVSEINC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INFQ.QTSLFIN2.QSJOB[J].QBSELFJOB[1].DVSEINC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IF (INFQ.QTSLFIN2.QSJOB[J].QBSELFJOB[1].DVSEINCB = RESPONSE) THEN    {Added DVSEINCB to this derivation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   OUTF25.B3262 := INFQ.QTSLFIN2.QSJOB[J].QBSELFJOB[1].DVSEINCB + XB3262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sz="1100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sz="1100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100" dirty="0">
                <a:latin typeface="+mn-lt"/>
              </a:rPr>
              <a:t>         ENDIF {A200 = 1 OR 2}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sz="11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3577B0-44FB-9713-14F6-D3BCF50ABE8E}"/>
              </a:ext>
            </a:extLst>
          </p:cNvPr>
          <p:cNvSpPr txBox="1"/>
          <p:nvPr/>
        </p:nvSpPr>
        <p:spPr>
          <a:xfrm>
            <a:off x="4592472" y="894178"/>
            <a:ext cx="4954136" cy="10587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KEY</a:t>
            </a:r>
          </a:p>
          <a:p>
            <a:r>
              <a:rPr lang="en-GB" sz="1100" dirty="0"/>
              <a:t>A200  Employment status </a:t>
            </a:r>
          </a:p>
          <a:p>
            <a:r>
              <a:rPr lang="en-GB" sz="1100" dirty="0"/>
              <a:t>0 Not recorded </a:t>
            </a:r>
          </a:p>
          <a:p>
            <a:r>
              <a:rPr lang="en-GB" sz="1100" dirty="0"/>
              <a:t>1 Employee </a:t>
            </a:r>
          </a:p>
          <a:p>
            <a:r>
              <a:rPr lang="en-GB" sz="1100" dirty="0"/>
              <a:t>2 Self-employed or employer </a:t>
            </a:r>
          </a:p>
          <a:p>
            <a:r>
              <a:rPr lang="en-GB" sz="1100" dirty="0"/>
              <a:t>3 Out of employment seeking work within last 4 weeks &amp; available to start a job </a:t>
            </a:r>
          </a:p>
          <a:p>
            <a:r>
              <a:rPr lang="en-GB" sz="1100" dirty="0"/>
              <a:t>4 Out of employment waiting to start a job already obtained</a:t>
            </a:r>
          </a:p>
          <a:p>
            <a:r>
              <a:rPr lang="en-GB" sz="1100" dirty="0"/>
              <a:t>5 Sick or injured </a:t>
            </a:r>
          </a:p>
          <a:p>
            <a:r>
              <a:rPr lang="en-GB" sz="1100" dirty="0"/>
              <a:t>6 Retired including Job Release Scheme </a:t>
            </a:r>
          </a:p>
          <a:p>
            <a:r>
              <a:rPr lang="en-GB" sz="1100" dirty="0"/>
              <a:t>7 Unoccupied</a:t>
            </a:r>
          </a:p>
          <a:p>
            <a:r>
              <a:rPr lang="en-GB" sz="1100" dirty="0" err="1"/>
              <a:t>Busaccts</a:t>
            </a:r>
            <a:r>
              <a:rPr lang="en-GB" sz="1100" dirty="0"/>
              <a:t>  In job/business were annual business accounts prepared for HMRC for tax purposes? </a:t>
            </a:r>
          </a:p>
          <a:p>
            <a:r>
              <a:rPr lang="en-GB" sz="1100" dirty="0"/>
              <a:t>1 Yes</a:t>
            </a:r>
          </a:p>
          <a:p>
            <a:r>
              <a:rPr lang="en-GB" sz="1100" dirty="0"/>
              <a:t>2 No </a:t>
            </a:r>
          </a:p>
          <a:p>
            <a:r>
              <a:rPr lang="en-GB" sz="1100" dirty="0"/>
              <a:t>3 Not yet, but will be</a:t>
            </a:r>
          </a:p>
          <a:p>
            <a:r>
              <a:rPr lang="en-GB" sz="1100" dirty="0" err="1"/>
              <a:t>ChecktaxB</a:t>
            </a:r>
            <a:r>
              <a:rPr lang="en-GB" sz="1100" dirty="0"/>
              <a:t>  Was either income tax, or regular National Insurance contribution deducted at source?</a:t>
            </a:r>
          </a:p>
          <a:p>
            <a:r>
              <a:rPr lang="en-GB" sz="1100" dirty="0"/>
              <a:t>1 Income tax deducted</a:t>
            </a:r>
          </a:p>
          <a:p>
            <a:r>
              <a:rPr lang="en-GB" sz="1100" dirty="0"/>
              <a:t>2 Regular NI deducted </a:t>
            </a:r>
          </a:p>
          <a:p>
            <a:r>
              <a:rPr lang="en-GB" sz="1100" dirty="0"/>
              <a:t>3 No, neither deducted</a:t>
            </a:r>
          </a:p>
          <a:p>
            <a:r>
              <a:rPr lang="en-GB" sz="1100" dirty="0" err="1"/>
              <a:t>CheckNI</a:t>
            </a:r>
            <a:endParaRPr lang="en-GB" sz="1100" dirty="0"/>
          </a:p>
          <a:p>
            <a:r>
              <a:rPr lang="en-GB" sz="1100" dirty="0" err="1"/>
              <a:t>DvNID</a:t>
            </a:r>
            <a:r>
              <a:rPr lang="en-GB" sz="1100" dirty="0"/>
              <a:t> Derived from </a:t>
            </a:r>
            <a:r>
              <a:rPr lang="en-GB" sz="1100" dirty="0" err="1"/>
              <a:t>NIDAmt</a:t>
            </a:r>
            <a:r>
              <a:rPr lang="en-GB" sz="1100" dirty="0"/>
              <a:t> to give a weekly amount –(</a:t>
            </a:r>
            <a:r>
              <a:rPr lang="en-GB" sz="1100" dirty="0" err="1"/>
              <a:t>NIDAmt</a:t>
            </a:r>
            <a:r>
              <a:rPr lang="en-GB" sz="1100" dirty="0"/>
              <a:t> – Self-employment: How much National Insurance </a:t>
            </a:r>
          </a:p>
          <a:p>
            <a:r>
              <a:rPr lang="en-GB" sz="1100" dirty="0"/>
              <a:t>was deducted last time?)</a:t>
            </a:r>
          </a:p>
          <a:p>
            <a:r>
              <a:rPr lang="en-GB" sz="1100" dirty="0" err="1"/>
              <a:t>DvnidB</a:t>
            </a:r>
            <a:endParaRPr lang="en-GB" sz="1100" dirty="0"/>
          </a:p>
          <a:p>
            <a:r>
              <a:rPr lang="en-GB" sz="1100" dirty="0" err="1"/>
              <a:t>Dvownamt</a:t>
            </a:r>
            <a:r>
              <a:rPr lang="en-GB" sz="1100" dirty="0"/>
              <a:t>  Derived from </a:t>
            </a:r>
            <a:r>
              <a:rPr lang="en-GB" sz="1100" dirty="0" err="1"/>
              <a:t>OwnAmt</a:t>
            </a:r>
            <a:r>
              <a:rPr lang="en-GB" sz="1100" dirty="0"/>
              <a:t> to give a weekly amount -(</a:t>
            </a:r>
            <a:r>
              <a:rPr lang="en-GB" sz="1100" dirty="0" err="1"/>
              <a:t>OwnAmt</a:t>
            </a:r>
            <a:r>
              <a:rPr lang="en-GB" sz="1100" dirty="0"/>
              <a:t> -Thinking of the last 12 months, on average how </a:t>
            </a:r>
          </a:p>
          <a:p>
            <a:r>
              <a:rPr lang="en-GB" sz="1100" dirty="0"/>
              <a:t>much did you take each month for these non-business purposes?)</a:t>
            </a:r>
          </a:p>
          <a:p>
            <a:r>
              <a:rPr lang="en-GB" sz="1100" dirty="0" err="1"/>
              <a:t>Dvownot</a:t>
            </a:r>
            <a:r>
              <a:rPr lang="en-GB" sz="1100" dirty="0"/>
              <a:t>  Derived from </a:t>
            </a:r>
            <a:r>
              <a:rPr lang="en-GB" sz="1100" dirty="0" err="1"/>
              <a:t>OwnOtAmt</a:t>
            </a:r>
            <a:r>
              <a:rPr lang="en-GB" sz="1100" dirty="0"/>
              <a:t> to give a weekly amount– (</a:t>
            </a:r>
            <a:r>
              <a:rPr lang="en-GB" sz="1100" dirty="0" err="1"/>
              <a:t>OwnOtAmt</a:t>
            </a:r>
            <a:r>
              <a:rPr lang="en-GB" sz="1100" dirty="0"/>
              <a:t> -On average, how much is that each </a:t>
            </a:r>
          </a:p>
          <a:p>
            <a:r>
              <a:rPr lang="en-GB" sz="1100" dirty="0"/>
              <a:t>month?)</a:t>
            </a:r>
          </a:p>
          <a:p>
            <a:r>
              <a:rPr lang="en-GB" sz="1100" dirty="0" err="1"/>
              <a:t>Dvprbef</a:t>
            </a:r>
            <a:r>
              <a:rPr lang="en-GB" sz="1100" dirty="0"/>
              <a:t>   Derived from </a:t>
            </a:r>
            <a:r>
              <a:rPr lang="en-GB" sz="1100" dirty="0" err="1"/>
              <a:t>PrBefore</a:t>
            </a:r>
            <a:r>
              <a:rPr lang="en-GB" sz="1100" dirty="0"/>
              <a:t> to give a weekly amount -(</a:t>
            </a:r>
            <a:r>
              <a:rPr lang="en-GB" sz="1100" dirty="0" err="1"/>
              <a:t>PrBefore</a:t>
            </a:r>
            <a:r>
              <a:rPr lang="en-GB" sz="1100" dirty="0"/>
              <a:t> -What was (the respondent’s share of) the      </a:t>
            </a:r>
          </a:p>
          <a:p>
            <a:r>
              <a:rPr lang="en-GB" sz="1100" dirty="0"/>
              <a:t>profit before tax?)</a:t>
            </a:r>
          </a:p>
          <a:p>
            <a:r>
              <a:rPr lang="en-GB" sz="1100" dirty="0" err="1"/>
              <a:t>DvProf</a:t>
            </a:r>
            <a:r>
              <a:rPr lang="en-GB" sz="1100" dirty="0"/>
              <a:t>  Derived from Profit2 to give a weekly amount –(Profit2 -Profit/loss amount)</a:t>
            </a:r>
          </a:p>
          <a:p>
            <a:r>
              <a:rPr lang="en-GB" sz="1100" dirty="0" err="1"/>
              <a:t>Dvseinc</a:t>
            </a:r>
            <a:r>
              <a:rPr lang="en-GB" sz="1100" dirty="0"/>
              <a:t>  Derived from </a:t>
            </a:r>
            <a:r>
              <a:rPr lang="en-GB" sz="1100" dirty="0" err="1"/>
              <a:t>SeInc</a:t>
            </a:r>
            <a:r>
              <a:rPr lang="en-GB" sz="1100" dirty="0"/>
              <a:t> to give a weekly amount -(</a:t>
            </a:r>
            <a:r>
              <a:rPr lang="en-GB" sz="1100" dirty="0" err="1"/>
              <a:t>SeInc</a:t>
            </a:r>
            <a:r>
              <a:rPr lang="en-GB" sz="1100" dirty="0"/>
              <a:t> -On average, what is the respondent’s weekly or </a:t>
            </a:r>
          </a:p>
          <a:p>
            <a:r>
              <a:rPr lang="en-GB" sz="1100" dirty="0"/>
              <a:t>monthly income from this job/business over the last 12 months (after paying for any materials, equipment </a:t>
            </a:r>
          </a:p>
          <a:p>
            <a:r>
              <a:rPr lang="en-GB" sz="1100" dirty="0"/>
              <a:t>or goods that the respondent use(d) in their work)?)</a:t>
            </a:r>
          </a:p>
          <a:p>
            <a:r>
              <a:rPr lang="en-GB" sz="1100" dirty="0" err="1"/>
              <a:t>DvseincB</a:t>
            </a:r>
            <a:endParaRPr lang="en-GB" sz="1100" dirty="0"/>
          </a:p>
          <a:p>
            <a:r>
              <a:rPr lang="en-GB" sz="1100" dirty="0" err="1"/>
              <a:t>Dvtaxd</a:t>
            </a:r>
            <a:r>
              <a:rPr lang="en-GB" sz="1100" dirty="0"/>
              <a:t>  Derived from </a:t>
            </a:r>
            <a:r>
              <a:rPr lang="en-GB" sz="1100" dirty="0" err="1"/>
              <a:t>TaxDAmt</a:t>
            </a:r>
            <a:r>
              <a:rPr lang="en-GB" sz="1100" dirty="0"/>
              <a:t> to give a weekly amount -(</a:t>
            </a:r>
            <a:r>
              <a:rPr lang="en-GB" sz="1100" dirty="0" err="1"/>
              <a:t>TaxDAmt</a:t>
            </a:r>
            <a:r>
              <a:rPr lang="en-GB" sz="1100" dirty="0"/>
              <a:t> -How much Income tax was deducted last </a:t>
            </a:r>
          </a:p>
          <a:p>
            <a:r>
              <a:rPr lang="en-GB" sz="1100" dirty="0"/>
              <a:t>time?)</a:t>
            </a:r>
          </a:p>
          <a:p>
            <a:r>
              <a:rPr lang="en-GB" sz="1100" dirty="0" err="1"/>
              <a:t>Ownsum</a:t>
            </a:r>
            <a:r>
              <a:rPr lang="en-GB" sz="1100" dirty="0"/>
              <a:t>  Is money drawn from work account for any non-business purposes?</a:t>
            </a:r>
          </a:p>
          <a:p>
            <a:r>
              <a:rPr lang="en-GB" sz="1100" dirty="0"/>
              <a:t>1 Yes</a:t>
            </a:r>
          </a:p>
          <a:p>
            <a:r>
              <a:rPr lang="en-GB" sz="1100" dirty="0"/>
              <a:t>2 No</a:t>
            </a:r>
          </a:p>
          <a:p>
            <a:r>
              <a:rPr lang="en-GB" sz="1100" dirty="0"/>
              <a:t>Profit1 What was the profit/loss amount?</a:t>
            </a:r>
          </a:p>
          <a:p>
            <a:r>
              <a:rPr lang="en-GB" sz="1100" dirty="0"/>
              <a:t>Profit2 Does Profit1 refer to profit or loss?</a:t>
            </a:r>
          </a:p>
          <a:p>
            <a:r>
              <a:rPr lang="en-GB" sz="1100" dirty="0"/>
              <a:t>1  Profit</a:t>
            </a:r>
          </a:p>
          <a:p>
            <a:r>
              <a:rPr lang="en-GB" sz="1100" dirty="0"/>
              <a:t> 2 Loss</a:t>
            </a:r>
          </a:p>
          <a:p>
            <a:r>
              <a:rPr lang="en-GB" sz="1100" dirty="0" err="1"/>
              <a:t>Proftax</a:t>
            </a:r>
            <a:r>
              <a:rPr lang="en-GB" sz="1100" dirty="0"/>
              <a:t>  Is the figure before deduction of income tax?</a:t>
            </a:r>
          </a:p>
          <a:p>
            <a:r>
              <a:rPr lang="en-GB" sz="1100" dirty="0"/>
              <a:t>1 Before tax</a:t>
            </a:r>
          </a:p>
          <a:p>
            <a:r>
              <a:rPr lang="en-GB" sz="1100" dirty="0"/>
              <a:t>2 After tax</a:t>
            </a:r>
          </a:p>
          <a:p>
            <a:r>
              <a:rPr lang="en-GB" sz="1100" dirty="0" err="1"/>
              <a:t>Workacc</a:t>
            </a:r>
            <a:r>
              <a:rPr lang="en-GB" sz="1100" dirty="0"/>
              <a:t>  Is there a separate bank or building society accounts for work and private finances? </a:t>
            </a:r>
          </a:p>
          <a:p>
            <a:r>
              <a:rPr lang="en-GB" sz="1100" dirty="0"/>
              <a:t>1 Yes</a:t>
            </a:r>
          </a:p>
          <a:p>
            <a:r>
              <a:rPr lang="en-GB" sz="1100" dirty="0"/>
              <a:t>2 No</a:t>
            </a:r>
          </a:p>
          <a:p>
            <a:r>
              <a:rPr lang="en-GB" sz="1100" dirty="0"/>
              <a:t>Xb3262 Temporary variable used in calculations – First subsidiary job: Self employed – amount of gross income.</a:t>
            </a:r>
          </a:p>
          <a:p>
            <a:r>
              <a:rPr lang="en-GB" sz="1100" dirty="0"/>
              <a:t>This temporary variable is used to calculate and store the total amount of Income tax and National Insurance paid by the respondent; this is used later in the routing.</a:t>
            </a:r>
          </a:p>
        </p:txBody>
      </p:sp>
    </p:spTree>
    <p:extLst>
      <p:ext uri="{BB962C8B-B14F-4D97-AF65-F5344CB8AC3E}">
        <p14:creationId xmlns:p14="http://schemas.microsoft.com/office/powerpoint/2010/main" val="24054628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9A530-3104-EA26-56CE-BA4A65EB6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4018C-5F7C-806E-7279-7B553EED2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B3263 2</a:t>
            </a:r>
            <a:r>
              <a:rPr lang="en-GB" sz="1600" baseline="30000" dirty="0"/>
              <a:t>nd</a:t>
            </a:r>
            <a:r>
              <a:rPr lang="en-GB" sz="1600" dirty="0"/>
              <a:t> subsid job: se amount of gross profit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9B54F1-8D2B-E9B7-0AFF-C09757E1317C}"/>
              </a:ext>
            </a:extLst>
          </p:cNvPr>
          <p:cNvSpPr/>
          <p:nvPr/>
        </p:nvSpPr>
        <p:spPr>
          <a:xfrm>
            <a:off x="268365" y="1542376"/>
            <a:ext cx="622089" cy="476033"/>
          </a:xfrm>
          <a:prstGeom prst="roundRect">
            <a:avLst>
              <a:gd name="adj" fmla="val 4957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803FEA-29E7-F0C0-36C5-1C04F9AA14C0}"/>
              </a:ext>
            </a:extLst>
          </p:cNvPr>
          <p:cNvSpPr/>
          <p:nvPr/>
        </p:nvSpPr>
        <p:spPr>
          <a:xfrm>
            <a:off x="9093930" y="3197406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7E0416-FDA1-E9BB-6E3A-7C821EBB82FB}"/>
              </a:ext>
            </a:extLst>
          </p:cNvPr>
          <p:cNvSpPr/>
          <p:nvPr/>
        </p:nvSpPr>
        <p:spPr>
          <a:xfrm>
            <a:off x="3881206" y="1480310"/>
            <a:ext cx="854827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B3263 =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8E6736-66D5-89B4-0558-F0FDA4A76945}"/>
              </a:ext>
            </a:extLst>
          </p:cNvPr>
          <p:cNvSpPr/>
          <p:nvPr/>
        </p:nvSpPr>
        <p:spPr>
          <a:xfrm>
            <a:off x="2442195" y="3229965"/>
            <a:ext cx="853273" cy="4960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1 IN </a:t>
            </a:r>
            <a:r>
              <a:rPr lang="en-GB" sz="1000" b="1" dirty="0" err="1">
                <a:solidFill>
                  <a:schemeClr val="tx1"/>
                </a:solidFill>
              </a:rPr>
              <a:t>ChecktaxB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499CE1-16CD-5F88-66D3-3F7529ED6882}"/>
              </a:ext>
            </a:extLst>
          </p:cNvPr>
          <p:cNvSpPr/>
          <p:nvPr/>
        </p:nvSpPr>
        <p:spPr>
          <a:xfrm>
            <a:off x="2452976" y="1480310"/>
            <a:ext cx="828000" cy="6001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1, 2 IN A200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8C45CD-CF7C-C787-9FEF-136D9238BE9C}"/>
              </a:ext>
            </a:extLst>
          </p:cNvPr>
          <p:cNvSpPr/>
          <p:nvPr/>
        </p:nvSpPr>
        <p:spPr>
          <a:xfrm>
            <a:off x="1153069" y="1589159"/>
            <a:ext cx="828000" cy="3824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B3263 =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8153FE-8F09-E62A-9A7A-049748B05116}"/>
              </a:ext>
            </a:extLst>
          </p:cNvPr>
          <p:cNvSpPr/>
          <p:nvPr/>
        </p:nvSpPr>
        <p:spPr>
          <a:xfrm>
            <a:off x="4062330" y="3229965"/>
            <a:ext cx="910801" cy="4913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1 IN </a:t>
            </a:r>
            <a:r>
              <a:rPr lang="en-GB" sz="1000" b="1" dirty="0" err="1">
                <a:solidFill>
                  <a:schemeClr val="tx1"/>
                </a:solidFill>
              </a:rPr>
              <a:t>CheckNI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5772D7-7431-ADBE-A607-2D11D82B469A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3280976" y="1780392"/>
            <a:ext cx="6002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759CBB-8D8A-477F-A736-B4EF1FFB9E17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1981069" y="1780392"/>
            <a:ext cx="471907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4051BF-82EE-94E2-20B0-5B4EC44B744B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890454" y="1780392"/>
            <a:ext cx="262615" cy="1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47B71F-90D8-723C-0720-551A72834AC2}"/>
              </a:ext>
            </a:extLst>
          </p:cNvPr>
          <p:cNvCxnSpPr>
            <a:cxnSpLocks/>
            <a:stCxn id="10" idx="3"/>
            <a:endCxn id="37" idx="1"/>
          </p:cNvCxnSpPr>
          <p:nvPr/>
        </p:nvCxnSpPr>
        <p:spPr>
          <a:xfrm>
            <a:off x="4973131" y="3475645"/>
            <a:ext cx="776336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C0B348-3995-06A8-CB59-FBFBAB6A4A68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3295468" y="3475645"/>
            <a:ext cx="766862" cy="232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CE176E3-42A8-9446-1D34-FC529D9AE5AA}"/>
              </a:ext>
            </a:extLst>
          </p:cNvPr>
          <p:cNvSpPr/>
          <p:nvPr/>
        </p:nvSpPr>
        <p:spPr>
          <a:xfrm>
            <a:off x="5749467" y="5043506"/>
            <a:ext cx="910800" cy="4099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</a:t>
            </a:r>
            <a:r>
              <a:rPr lang="en-GB" sz="1100" b="1" dirty="0" err="1">
                <a:solidFill>
                  <a:schemeClr val="tx1"/>
                </a:solidFill>
              </a:rPr>
              <a:t>Dvprof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567495-14A9-E7EC-BF1D-3A6F1E748E44}"/>
              </a:ext>
            </a:extLst>
          </p:cNvPr>
          <p:cNvSpPr/>
          <p:nvPr/>
        </p:nvSpPr>
        <p:spPr>
          <a:xfrm>
            <a:off x="7436602" y="5043506"/>
            <a:ext cx="910800" cy="4099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</a:t>
            </a:r>
            <a:r>
              <a:rPr lang="en-GB" sz="1100" b="1" dirty="0" err="1">
                <a:solidFill>
                  <a:schemeClr val="tx1"/>
                </a:solidFill>
              </a:rPr>
              <a:t>Dvprbef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948D76-866A-92DD-DDBF-930F09A66E9C}"/>
              </a:ext>
            </a:extLst>
          </p:cNvPr>
          <p:cNvSpPr/>
          <p:nvPr/>
        </p:nvSpPr>
        <p:spPr>
          <a:xfrm>
            <a:off x="5749467" y="4125993"/>
            <a:ext cx="910800" cy="44267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Dvprof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F1F5EE-45A8-CB83-654F-DAA362F77874}"/>
              </a:ext>
            </a:extLst>
          </p:cNvPr>
          <p:cNvSpPr/>
          <p:nvPr/>
        </p:nvSpPr>
        <p:spPr>
          <a:xfrm>
            <a:off x="7436602" y="4121432"/>
            <a:ext cx="910800" cy="44267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Dvprbef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2D201E-8564-4059-4952-ED6E6EC92DF8}"/>
              </a:ext>
            </a:extLst>
          </p:cNvPr>
          <p:cNvSpPr/>
          <p:nvPr/>
        </p:nvSpPr>
        <p:spPr>
          <a:xfrm>
            <a:off x="2449815" y="5043507"/>
            <a:ext cx="838781" cy="4099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XB3262 = DVTAXD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5A6B3F7-E6D5-223A-37B8-77070F5375EC}"/>
              </a:ext>
            </a:extLst>
          </p:cNvPr>
          <p:cNvCxnSpPr>
            <a:cxnSpLocks/>
            <a:stCxn id="28" idx="3"/>
            <a:endCxn id="18" idx="1"/>
          </p:cNvCxnSpPr>
          <p:nvPr/>
        </p:nvCxnSpPr>
        <p:spPr>
          <a:xfrm>
            <a:off x="4973132" y="4347329"/>
            <a:ext cx="776335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A5DCE0-BC38-FB66-5115-B6BB8BA75662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6660267" y="4342768"/>
            <a:ext cx="776335" cy="45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E1B81B-EF5C-4C43-13BC-119C8399B468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8347402" y="4342768"/>
            <a:ext cx="891958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7B94453-2DAC-BA36-6873-27F5448A46F7}"/>
              </a:ext>
            </a:extLst>
          </p:cNvPr>
          <p:cNvCxnSpPr>
            <a:cxnSpLocks/>
            <a:stCxn id="18" idx="2"/>
            <a:endCxn id="16" idx="0"/>
          </p:cNvCxnSpPr>
          <p:nvPr/>
        </p:nvCxnSpPr>
        <p:spPr>
          <a:xfrm>
            <a:off x="6204867" y="4568664"/>
            <a:ext cx="0" cy="4748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DE3B7FF-1B44-6412-1F4E-8EF2FC93775A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>
            <a:off x="7892002" y="4564103"/>
            <a:ext cx="0" cy="4794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CF90886-330F-160A-E296-B853D52798FE}"/>
              </a:ext>
            </a:extLst>
          </p:cNvPr>
          <p:cNvCxnSpPr>
            <a:cxnSpLocks/>
            <a:stCxn id="30" idx="2"/>
            <a:endCxn id="20" idx="0"/>
          </p:cNvCxnSpPr>
          <p:nvPr/>
        </p:nvCxnSpPr>
        <p:spPr>
          <a:xfrm>
            <a:off x="2868832" y="4573309"/>
            <a:ext cx="374" cy="4701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9B0707C-80A5-AAAF-A8D5-4423C432E884}"/>
              </a:ext>
            </a:extLst>
          </p:cNvPr>
          <p:cNvSpPr/>
          <p:nvPr/>
        </p:nvSpPr>
        <p:spPr>
          <a:xfrm>
            <a:off x="4062332" y="5043507"/>
            <a:ext cx="910800" cy="40497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XB3262 = DVNIDB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0007DB-2390-47F1-716F-16EA1D4A4D6A}"/>
              </a:ext>
            </a:extLst>
          </p:cNvPr>
          <p:cNvSpPr/>
          <p:nvPr/>
        </p:nvSpPr>
        <p:spPr>
          <a:xfrm>
            <a:off x="4062332" y="4125993"/>
            <a:ext cx="910800" cy="44267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DVNIDB &gt; 0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6C9EA67-AD81-6B7D-A0C9-9AD59842DFE7}"/>
              </a:ext>
            </a:extLst>
          </p:cNvPr>
          <p:cNvCxnSpPr>
            <a:cxnSpLocks/>
            <a:stCxn id="28" idx="2"/>
            <a:endCxn id="27" idx="0"/>
          </p:cNvCxnSpPr>
          <p:nvPr/>
        </p:nvCxnSpPr>
        <p:spPr>
          <a:xfrm>
            <a:off x="4517732" y="4568664"/>
            <a:ext cx="0" cy="4748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608F2B5-55DB-CA3C-696F-D0D7CBCB9B5A}"/>
              </a:ext>
            </a:extLst>
          </p:cNvPr>
          <p:cNvSpPr/>
          <p:nvPr/>
        </p:nvSpPr>
        <p:spPr>
          <a:xfrm>
            <a:off x="2442195" y="4125994"/>
            <a:ext cx="853273" cy="4473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DVTAXD&gt; 0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23F76EB-19CB-0FB6-24DA-37CCF126CDA0}"/>
              </a:ext>
            </a:extLst>
          </p:cNvPr>
          <p:cNvCxnSpPr>
            <a:cxnSpLocks/>
            <a:stCxn id="30" idx="3"/>
            <a:endCxn id="28" idx="1"/>
          </p:cNvCxnSpPr>
          <p:nvPr/>
        </p:nvCxnSpPr>
        <p:spPr>
          <a:xfrm flipV="1">
            <a:off x="3295468" y="4347329"/>
            <a:ext cx="766864" cy="232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C823C7-CF1B-E3E4-C6A3-D9F7B83CEC05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3288596" y="5248467"/>
            <a:ext cx="486593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494ADBC-C7DA-1432-5C48-D57E6E073711}"/>
              </a:ext>
            </a:extLst>
          </p:cNvPr>
          <p:cNvCxnSpPr>
            <a:cxnSpLocks/>
          </p:cNvCxnSpPr>
          <p:nvPr/>
        </p:nvCxnSpPr>
        <p:spPr>
          <a:xfrm flipV="1">
            <a:off x="3774441" y="4564103"/>
            <a:ext cx="748" cy="68189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ACB5BF9-3C1B-1764-1FB6-02390833FD3E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4973132" y="5245996"/>
            <a:ext cx="552223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98D0144-21D0-BF51-444A-3C5CDC9ECAA0}"/>
              </a:ext>
            </a:extLst>
          </p:cNvPr>
          <p:cNvCxnSpPr>
            <a:cxnSpLocks/>
          </p:cNvCxnSpPr>
          <p:nvPr/>
        </p:nvCxnSpPr>
        <p:spPr>
          <a:xfrm flipV="1">
            <a:off x="5479635" y="4573309"/>
            <a:ext cx="0" cy="67268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B112CD0-F590-CE59-7F43-1673ED7DDC99}"/>
              </a:ext>
            </a:extLst>
          </p:cNvPr>
          <p:cNvSpPr/>
          <p:nvPr/>
        </p:nvSpPr>
        <p:spPr>
          <a:xfrm>
            <a:off x="2442195" y="2391134"/>
            <a:ext cx="853273" cy="49600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Xb3263 = 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254C22-B4F6-DE10-9678-BA9650D2F644}"/>
              </a:ext>
            </a:extLst>
          </p:cNvPr>
          <p:cNvSpPr/>
          <p:nvPr/>
        </p:nvSpPr>
        <p:spPr>
          <a:xfrm>
            <a:off x="5749467" y="3229965"/>
            <a:ext cx="910800" cy="491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Profit2 = 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C772AE-202F-A0A5-54B9-19EAB022F34E}"/>
              </a:ext>
            </a:extLst>
          </p:cNvPr>
          <p:cNvSpPr/>
          <p:nvPr/>
        </p:nvSpPr>
        <p:spPr>
          <a:xfrm>
            <a:off x="7436602" y="3229965"/>
            <a:ext cx="910800" cy="491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Proftax</a:t>
            </a:r>
            <a:r>
              <a:rPr lang="en-GB" sz="1000" b="1" dirty="0">
                <a:solidFill>
                  <a:schemeClr val="tx1"/>
                </a:solidFill>
              </a:rPr>
              <a:t> = 2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32041A7-6518-714C-04D2-63F75D2CED9C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6660267" y="3475645"/>
            <a:ext cx="776335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158B42B-B00F-94D0-819D-881CEEAF3A3D}"/>
              </a:ext>
            </a:extLst>
          </p:cNvPr>
          <p:cNvCxnSpPr>
            <a:cxnSpLocks/>
            <a:stCxn id="38" idx="3"/>
            <a:endCxn id="5" idx="2"/>
          </p:cNvCxnSpPr>
          <p:nvPr/>
        </p:nvCxnSpPr>
        <p:spPr>
          <a:xfrm>
            <a:off x="8347402" y="3475645"/>
            <a:ext cx="746528" cy="97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22389FF-67D1-D3C8-686A-99345FC3A75F}"/>
              </a:ext>
            </a:extLst>
          </p:cNvPr>
          <p:cNvCxnSpPr>
            <a:cxnSpLocks/>
            <a:stCxn id="8" idx="2"/>
            <a:endCxn id="36" idx="0"/>
          </p:cNvCxnSpPr>
          <p:nvPr/>
        </p:nvCxnSpPr>
        <p:spPr>
          <a:xfrm>
            <a:off x="2866976" y="2080474"/>
            <a:ext cx="1856" cy="3106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BAC6FB7-7B68-F516-E588-685F0F4560A0}"/>
              </a:ext>
            </a:extLst>
          </p:cNvPr>
          <p:cNvCxnSpPr>
            <a:cxnSpLocks/>
            <a:stCxn id="36" idx="2"/>
            <a:endCxn id="7" idx="0"/>
          </p:cNvCxnSpPr>
          <p:nvPr/>
        </p:nvCxnSpPr>
        <p:spPr>
          <a:xfrm>
            <a:off x="2868832" y="2887138"/>
            <a:ext cx="0" cy="3428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954100E-92E3-B68F-7475-443728937D59}"/>
              </a:ext>
            </a:extLst>
          </p:cNvPr>
          <p:cNvCxnSpPr>
            <a:cxnSpLocks/>
            <a:stCxn id="7" idx="2"/>
            <a:endCxn id="30" idx="0"/>
          </p:cNvCxnSpPr>
          <p:nvPr/>
        </p:nvCxnSpPr>
        <p:spPr>
          <a:xfrm>
            <a:off x="2868832" y="3725969"/>
            <a:ext cx="0" cy="4000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8EE9AC8-8E64-C0F6-B571-71B9748CF33A}"/>
              </a:ext>
            </a:extLst>
          </p:cNvPr>
          <p:cNvCxnSpPr>
            <a:cxnSpLocks/>
            <a:stCxn id="10" idx="2"/>
            <a:endCxn id="28" idx="0"/>
          </p:cNvCxnSpPr>
          <p:nvPr/>
        </p:nvCxnSpPr>
        <p:spPr>
          <a:xfrm>
            <a:off x="4517731" y="3721325"/>
            <a:ext cx="1" cy="4046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AD87434-598F-D3F6-4C9D-571ED8174DB5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6660267" y="5245996"/>
            <a:ext cx="531616" cy="247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F7DB011-1A29-2C80-072B-4D41C5F66EDF}"/>
              </a:ext>
            </a:extLst>
          </p:cNvPr>
          <p:cNvCxnSpPr>
            <a:cxnSpLocks/>
          </p:cNvCxnSpPr>
          <p:nvPr/>
        </p:nvCxnSpPr>
        <p:spPr>
          <a:xfrm flipV="1">
            <a:off x="7171275" y="4564103"/>
            <a:ext cx="0" cy="68189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57F74B3-9A0C-5D99-B715-CB4C0251C08A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8347402" y="5248467"/>
            <a:ext cx="103452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46A50E6-1C14-A8F2-9C4F-DD30BAC956F1}"/>
              </a:ext>
            </a:extLst>
          </p:cNvPr>
          <p:cNvCxnSpPr>
            <a:cxnSpLocks/>
            <a:endCxn id="5" idx="4"/>
          </p:cNvCxnSpPr>
          <p:nvPr/>
        </p:nvCxnSpPr>
        <p:spPr>
          <a:xfrm flipV="1">
            <a:off x="9381930" y="3773406"/>
            <a:ext cx="0" cy="147259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8D598A6-1A6B-6808-14D3-A841EF5C9312}"/>
              </a:ext>
            </a:extLst>
          </p:cNvPr>
          <p:cNvCxnSpPr>
            <a:cxnSpLocks/>
            <a:stCxn id="37" idx="2"/>
            <a:endCxn id="18" idx="0"/>
          </p:cNvCxnSpPr>
          <p:nvPr/>
        </p:nvCxnSpPr>
        <p:spPr>
          <a:xfrm>
            <a:off x="6204867" y="3721325"/>
            <a:ext cx="0" cy="4046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9FDD7EA-1B67-21EB-2EDB-3FEC97BE3B56}"/>
              </a:ext>
            </a:extLst>
          </p:cNvPr>
          <p:cNvCxnSpPr>
            <a:cxnSpLocks/>
            <a:stCxn id="38" idx="2"/>
            <a:endCxn id="19" idx="0"/>
          </p:cNvCxnSpPr>
          <p:nvPr/>
        </p:nvCxnSpPr>
        <p:spPr>
          <a:xfrm>
            <a:off x="7892002" y="3721325"/>
            <a:ext cx="0" cy="400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8376425C-26E6-2E03-7F64-A9F5A0EB1326}"/>
              </a:ext>
            </a:extLst>
          </p:cNvPr>
          <p:cNvSpPr/>
          <p:nvPr/>
        </p:nvSpPr>
        <p:spPr>
          <a:xfrm>
            <a:off x="384419" y="5125628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2901642-EA6E-A899-6E1A-DBCBF9ED838A}"/>
              </a:ext>
            </a:extLst>
          </p:cNvPr>
          <p:cNvCxnSpPr>
            <a:cxnSpLocks/>
          </p:cNvCxnSpPr>
          <p:nvPr/>
        </p:nvCxnSpPr>
        <p:spPr>
          <a:xfrm>
            <a:off x="678193" y="5704748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74BF391-09BB-B291-0FCE-73743EA9A8DC}"/>
              </a:ext>
            </a:extLst>
          </p:cNvPr>
          <p:cNvCxnSpPr>
            <a:cxnSpLocks/>
          </p:cNvCxnSpPr>
          <p:nvPr/>
        </p:nvCxnSpPr>
        <p:spPr>
          <a:xfrm>
            <a:off x="678193" y="6230528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C35A696-7EE1-AE2A-66EA-9BB6175F56AD}"/>
              </a:ext>
            </a:extLst>
          </p:cNvPr>
          <p:cNvSpPr txBox="1"/>
          <p:nvPr/>
        </p:nvSpPr>
        <p:spPr>
          <a:xfrm>
            <a:off x="804599" y="5312556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76CFC9-7A43-DCF5-12F4-5E968B8FE301}"/>
              </a:ext>
            </a:extLst>
          </p:cNvPr>
          <p:cNvSpPr txBox="1"/>
          <p:nvPr/>
        </p:nvSpPr>
        <p:spPr>
          <a:xfrm>
            <a:off x="819571" y="5838184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5003917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EDEF6-AAA2-F093-D662-13A022CE1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8ACD9-F008-AF4F-A4BA-0ECB5E83C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B3263 2</a:t>
            </a:r>
            <a:r>
              <a:rPr lang="en-GB" sz="1600" baseline="30000" dirty="0"/>
              <a:t>nd</a:t>
            </a:r>
            <a:r>
              <a:rPr lang="en-GB" sz="1600" dirty="0"/>
              <a:t> subsid job: se amount of gross profit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8073754-E6E7-8620-26D2-BFED833AF392}"/>
              </a:ext>
            </a:extLst>
          </p:cNvPr>
          <p:cNvSpPr/>
          <p:nvPr/>
        </p:nvSpPr>
        <p:spPr>
          <a:xfrm>
            <a:off x="8936964" y="2154304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81000-EAFB-852A-2E78-1202FC8A987B}"/>
              </a:ext>
            </a:extLst>
          </p:cNvPr>
          <p:cNvSpPr/>
          <p:nvPr/>
        </p:nvSpPr>
        <p:spPr>
          <a:xfrm>
            <a:off x="1557152" y="2132071"/>
            <a:ext cx="1135706" cy="6601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Profit1 = RESPONSE AND Profit1 = 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BCB0FD-287E-CF0B-71FB-1D53E43FD2B6}"/>
              </a:ext>
            </a:extLst>
          </p:cNvPr>
          <p:cNvCxnSpPr>
            <a:cxnSpLocks/>
            <a:stCxn id="7" idx="3"/>
            <a:endCxn id="5" idx="2"/>
          </p:cNvCxnSpPr>
          <p:nvPr/>
        </p:nvCxnSpPr>
        <p:spPr>
          <a:xfrm flipV="1">
            <a:off x="2692858" y="2442304"/>
            <a:ext cx="6244106" cy="1985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39975A6-9EFB-D148-725C-4999CC375348}"/>
              </a:ext>
            </a:extLst>
          </p:cNvPr>
          <p:cNvSpPr/>
          <p:nvPr/>
        </p:nvSpPr>
        <p:spPr>
          <a:xfrm>
            <a:off x="5305284" y="3959859"/>
            <a:ext cx="1212275" cy="5456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B3262 = B3262 + </a:t>
            </a:r>
            <a:r>
              <a:rPr lang="en-GB" sz="1100" b="1" dirty="0" err="1">
                <a:solidFill>
                  <a:schemeClr val="tx1"/>
                </a:solidFill>
              </a:rPr>
              <a:t>Dvseinc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C0434B-568C-B03C-DCF2-C0C53F5EFF30}"/>
              </a:ext>
            </a:extLst>
          </p:cNvPr>
          <p:cNvSpPr/>
          <p:nvPr/>
        </p:nvSpPr>
        <p:spPr>
          <a:xfrm>
            <a:off x="7128899" y="3959858"/>
            <a:ext cx="1212275" cy="545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B3263 = B3263 + </a:t>
            </a:r>
            <a:r>
              <a:rPr lang="en-GB" sz="1100" b="1" dirty="0" err="1">
                <a:solidFill>
                  <a:schemeClr val="tx1"/>
                </a:solidFill>
              </a:rPr>
              <a:t>DvseincB</a:t>
            </a:r>
            <a:r>
              <a:rPr lang="en-GB" sz="1100" b="1" dirty="0">
                <a:solidFill>
                  <a:schemeClr val="tx1"/>
                </a:solidFill>
              </a:rPr>
              <a:t> + XB3263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58978-18D1-9BDE-5C98-08EE9F02B92D}"/>
              </a:ext>
            </a:extLst>
          </p:cNvPr>
          <p:cNvSpPr/>
          <p:nvPr/>
        </p:nvSpPr>
        <p:spPr>
          <a:xfrm>
            <a:off x="5305284" y="3036925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4F47A7-2612-DEB2-2675-048DF2DFC58B}"/>
              </a:ext>
            </a:extLst>
          </p:cNvPr>
          <p:cNvSpPr/>
          <p:nvPr/>
        </p:nvSpPr>
        <p:spPr>
          <a:xfrm>
            <a:off x="7128899" y="3032364"/>
            <a:ext cx="1212275" cy="5891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DvseincB</a:t>
            </a:r>
            <a:r>
              <a:rPr lang="en-GB" sz="1000" b="1" dirty="0">
                <a:solidFill>
                  <a:schemeClr val="tx1"/>
                </a:solidFill>
              </a:rPr>
              <a:t> = REPSONSE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6E5921-ABB2-6F17-6B7B-D411DA022EC9}"/>
              </a:ext>
            </a:extLst>
          </p:cNvPr>
          <p:cNvSpPr/>
          <p:nvPr/>
        </p:nvSpPr>
        <p:spPr>
          <a:xfrm>
            <a:off x="1567170" y="3959859"/>
            <a:ext cx="1116418" cy="5456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B3263 = </a:t>
            </a:r>
            <a:r>
              <a:rPr lang="en-GB" sz="1000" b="1" dirty="0" err="1">
                <a:solidFill>
                  <a:schemeClr val="tx1"/>
                </a:solidFill>
              </a:rPr>
              <a:t>Dvownamt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EBD9006-0091-43B1-5135-4935C06C545A}"/>
              </a:ext>
            </a:extLst>
          </p:cNvPr>
          <p:cNvCxnSpPr>
            <a:cxnSpLocks/>
            <a:stCxn id="29" idx="3"/>
            <a:endCxn id="19" idx="1"/>
          </p:cNvCxnSpPr>
          <p:nvPr/>
        </p:nvCxnSpPr>
        <p:spPr>
          <a:xfrm>
            <a:off x="4612061" y="3331523"/>
            <a:ext cx="69322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34EB3A-9247-447C-9D75-53704A56B277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6517559" y="3326962"/>
            <a:ext cx="611340" cy="45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6350EC-2749-8819-5951-5F3BA2B03CB9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341174" y="3326962"/>
            <a:ext cx="74122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A33A49-3502-CACC-2DCB-C3ABC68019EF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>
            <a:off x="5911422" y="3626120"/>
            <a:ext cx="0" cy="3337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3BF7CF-1327-7AF8-6C5F-FB610499F543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>
            <a:off x="7735037" y="3621559"/>
            <a:ext cx="0" cy="3382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572D974-EDFD-4BFE-33AD-45793E8D7DAE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>
            <a:off x="2125005" y="3631534"/>
            <a:ext cx="374" cy="3283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32788D2-25DE-8EDC-EFDD-3766250E399D}"/>
              </a:ext>
            </a:extLst>
          </p:cNvPr>
          <p:cNvSpPr/>
          <p:nvPr/>
        </p:nvSpPr>
        <p:spPr>
          <a:xfrm>
            <a:off x="3399786" y="3960677"/>
            <a:ext cx="1212275" cy="53902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B3263 = B3263 + </a:t>
            </a:r>
            <a:r>
              <a:rPr lang="en-GB" sz="1100" b="1" dirty="0" err="1">
                <a:solidFill>
                  <a:schemeClr val="tx1"/>
                </a:solidFill>
              </a:rPr>
              <a:t>Dvownot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596F36-E7F2-20A8-8F95-F8C96DC3C8C2}"/>
              </a:ext>
            </a:extLst>
          </p:cNvPr>
          <p:cNvSpPr/>
          <p:nvPr/>
        </p:nvSpPr>
        <p:spPr>
          <a:xfrm>
            <a:off x="3399786" y="3036925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Dvownot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RESPONSE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5BE1490-F707-E063-82C6-63CDEC46E633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>
            <a:off x="4005924" y="3626120"/>
            <a:ext cx="0" cy="334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ACE52E0-4FFA-22D6-3EF9-4EB74955BD0E}"/>
              </a:ext>
            </a:extLst>
          </p:cNvPr>
          <p:cNvSpPr/>
          <p:nvPr/>
        </p:nvSpPr>
        <p:spPr>
          <a:xfrm>
            <a:off x="1557152" y="3036157"/>
            <a:ext cx="1135706" cy="5953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Dvownamt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RESPONSE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419DB93-4CF2-775B-56D1-81F3DC1D24EF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 flipV="1">
            <a:off x="2692858" y="3331523"/>
            <a:ext cx="706928" cy="232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4B86AB3-BA39-7C4B-323C-4380748799F9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683588" y="4232660"/>
            <a:ext cx="347775" cy="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AD86A5-D7AA-9D47-6044-C33F21671801}"/>
              </a:ext>
            </a:extLst>
          </p:cNvPr>
          <p:cNvCxnSpPr>
            <a:cxnSpLocks/>
          </p:cNvCxnSpPr>
          <p:nvPr/>
        </p:nvCxnSpPr>
        <p:spPr>
          <a:xfrm flipV="1">
            <a:off x="3030615" y="3442307"/>
            <a:ext cx="0" cy="78788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4842178-4381-AC47-4AAD-37284070225C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4612061" y="4230190"/>
            <a:ext cx="401485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F627AE2-D808-C620-3CF6-34981B39EB5C}"/>
              </a:ext>
            </a:extLst>
          </p:cNvPr>
          <p:cNvCxnSpPr>
            <a:cxnSpLocks/>
          </p:cNvCxnSpPr>
          <p:nvPr/>
        </p:nvCxnSpPr>
        <p:spPr>
          <a:xfrm flipV="1">
            <a:off x="4967826" y="3442307"/>
            <a:ext cx="0" cy="78788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12636B7-7A6D-128A-79C0-A2A116FBEFC6}"/>
              </a:ext>
            </a:extLst>
          </p:cNvPr>
          <p:cNvCxnSpPr>
            <a:cxnSpLocks/>
            <a:stCxn id="7" idx="2"/>
            <a:endCxn id="31" idx="0"/>
          </p:cNvCxnSpPr>
          <p:nvPr/>
        </p:nvCxnSpPr>
        <p:spPr>
          <a:xfrm>
            <a:off x="2125005" y="2792251"/>
            <a:ext cx="0" cy="2439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D3482061-3E02-2314-319B-A15EE6BF371B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6517559" y="4230190"/>
            <a:ext cx="380878" cy="247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04829FA-8753-DE68-148E-818B67A20D88}"/>
              </a:ext>
            </a:extLst>
          </p:cNvPr>
          <p:cNvCxnSpPr>
            <a:cxnSpLocks/>
          </p:cNvCxnSpPr>
          <p:nvPr/>
        </p:nvCxnSpPr>
        <p:spPr>
          <a:xfrm flipV="1">
            <a:off x="6877829" y="3442307"/>
            <a:ext cx="0" cy="78788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FD6DAAD-4A35-BB79-3C4A-85EFA4225B26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8341174" y="4232660"/>
            <a:ext cx="883790" cy="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B2EE0AC-ED35-8D95-F5EA-C01379090E0B}"/>
              </a:ext>
            </a:extLst>
          </p:cNvPr>
          <p:cNvCxnSpPr>
            <a:cxnSpLocks/>
            <a:endCxn id="5" idx="4"/>
          </p:cNvCxnSpPr>
          <p:nvPr/>
        </p:nvCxnSpPr>
        <p:spPr>
          <a:xfrm flipV="1">
            <a:off x="9224964" y="2730304"/>
            <a:ext cx="0" cy="147259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1E05D196-F8D5-ED42-A8EE-7B83DCF86D3C}"/>
              </a:ext>
            </a:extLst>
          </p:cNvPr>
          <p:cNvSpPr/>
          <p:nvPr/>
        </p:nvSpPr>
        <p:spPr>
          <a:xfrm>
            <a:off x="471358" y="2174161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3653963-CE62-862E-2AFE-1BA7C9118F0F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1047358" y="2462161"/>
            <a:ext cx="509794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B6E4AF2D-E79C-835A-1409-694037FF914A}"/>
              </a:ext>
            </a:extLst>
          </p:cNvPr>
          <p:cNvSpPr/>
          <p:nvPr/>
        </p:nvSpPr>
        <p:spPr>
          <a:xfrm>
            <a:off x="384419" y="5125628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2797040-057B-A8A0-23CD-4601AD547C03}"/>
              </a:ext>
            </a:extLst>
          </p:cNvPr>
          <p:cNvCxnSpPr>
            <a:cxnSpLocks/>
          </p:cNvCxnSpPr>
          <p:nvPr/>
        </p:nvCxnSpPr>
        <p:spPr>
          <a:xfrm>
            <a:off x="678193" y="5704748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CEBE0C9-20E2-16CB-DCBF-7DE0A63DBC6B}"/>
              </a:ext>
            </a:extLst>
          </p:cNvPr>
          <p:cNvCxnSpPr>
            <a:cxnSpLocks/>
          </p:cNvCxnSpPr>
          <p:nvPr/>
        </p:nvCxnSpPr>
        <p:spPr>
          <a:xfrm>
            <a:off x="678193" y="6230528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DB31615-E14C-A1A6-89FB-B95FE00D67BC}"/>
              </a:ext>
            </a:extLst>
          </p:cNvPr>
          <p:cNvSpPr txBox="1"/>
          <p:nvPr/>
        </p:nvSpPr>
        <p:spPr>
          <a:xfrm>
            <a:off x="804599" y="5312556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C49CB7C-8512-D19C-B80E-155ED0E43685}"/>
              </a:ext>
            </a:extLst>
          </p:cNvPr>
          <p:cNvSpPr txBox="1"/>
          <p:nvPr/>
        </p:nvSpPr>
        <p:spPr>
          <a:xfrm>
            <a:off x="819571" y="5838184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7908577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0C106-2243-8E35-8F34-BF605A2A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DBDDF-68A6-CD4C-78FD-434F94A65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B3263 1</a:t>
            </a:r>
            <a:r>
              <a:rPr lang="en-GB" sz="1600" baseline="30000" dirty="0"/>
              <a:t>st</a:t>
            </a:r>
            <a:r>
              <a:rPr lang="en-GB" sz="1600" dirty="0"/>
              <a:t> subsid job: se amount of gross profit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6D0F86-4300-6172-8931-447402DA9AA4}"/>
              </a:ext>
            </a:extLst>
          </p:cNvPr>
          <p:cNvSpPr/>
          <p:nvPr/>
        </p:nvSpPr>
        <p:spPr>
          <a:xfrm>
            <a:off x="8923317" y="1623446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7C053C-F574-165D-FBC6-B642AEB7933B}"/>
              </a:ext>
            </a:extLst>
          </p:cNvPr>
          <p:cNvSpPr/>
          <p:nvPr/>
        </p:nvSpPr>
        <p:spPr>
          <a:xfrm>
            <a:off x="1543504" y="1601213"/>
            <a:ext cx="1595477" cy="6601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Profit2 = 2 OR Profit1 = DONTKNOW OR </a:t>
            </a:r>
            <a:r>
              <a:rPr lang="en-GB" sz="1000" b="1" dirty="0" err="1">
                <a:solidFill>
                  <a:schemeClr val="tx1"/>
                </a:solidFill>
              </a:rPr>
              <a:t>Busaccts</a:t>
            </a:r>
            <a:r>
              <a:rPr lang="en-GB" sz="1000" b="1" dirty="0">
                <a:solidFill>
                  <a:schemeClr val="tx1"/>
                </a:solidFill>
              </a:rPr>
              <a:t> = 3 AND 1,2 IN </a:t>
            </a:r>
            <a:r>
              <a:rPr lang="en-GB" sz="1000" b="1" dirty="0" err="1">
                <a:solidFill>
                  <a:schemeClr val="tx1"/>
                </a:solidFill>
              </a:rPr>
              <a:t>OwnSum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82BEF3-0DC7-3BEE-7804-6E1EC35E5C4C}"/>
              </a:ext>
            </a:extLst>
          </p:cNvPr>
          <p:cNvCxnSpPr>
            <a:cxnSpLocks/>
            <a:stCxn id="7" idx="3"/>
            <a:endCxn id="5" idx="2"/>
          </p:cNvCxnSpPr>
          <p:nvPr/>
        </p:nvCxnSpPr>
        <p:spPr>
          <a:xfrm flipV="1">
            <a:off x="3138981" y="1911446"/>
            <a:ext cx="5784336" cy="1985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C5B50ED-DC56-59A5-3D03-F84E88D66568}"/>
              </a:ext>
            </a:extLst>
          </p:cNvPr>
          <p:cNvSpPr/>
          <p:nvPr/>
        </p:nvSpPr>
        <p:spPr>
          <a:xfrm>
            <a:off x="5523651" y="4507177"/>
            <a:ext cx="1212275" cy="5456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B3263 = B3263 + </a:t>
            </a:r>
            <a:r>
              <a:rPr lang="en-GB" sz="1100" b="1" dirty="0" err="1">
                <a:solidFill>
                  <a:schemeClr val="tx1"/>
                </a:solidFill>
              </a:rPr>
              <a:t>Dvseinc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5E1C1F-5EB5-4B02-BE91-F94B7BF9492B}"/>
              </a:ext>
            </a:extLst>
          </p:cNvPr>
          <p:cNvSpPr/>
          <p:nvPr/>
        </p:nvSpPr>
        <p:spPr>
          <a:xfrm>
            <a:off x="7347266" y="4507176"/>
            <a:ext cx="1212275" cy="545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B3263 = B3263 + </a:t>
            </a:r>
            <a:r>
              <a:rPr lang="en-GB" sz="1100" b="1" dirty="0" err="1">
                <a:solidFill>
                  <a:schemeClr val="tx1"/>
                </a:solidFill>
              </a:rPr>
              <a:t>DvseincB</a:t>
            </a:r>
            <a:r>
              <a:rPr lang="en-GB" sz="1100" b="1" dirty="0">
                <a:solidFill>
                  <a:schemeClr val="tx1"/>
                </a:solidFill>
              </a:rPr>
              <a:t> + XB3263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CA29AC-5930-1C79-2CFA-8A83E990E7C1}"/>
              </a:ext>
            </a:extLst>
          </p:cNvPr>
          <p:cNvSpPr/>
          <p:nvPr/>
        </p:nvSpPr>
        <p:spPr>
          <a:xfrm>
            <a:off x="5523651" y="3584243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0FB3BB-1F00-9624-1130-6D923698A4DE}"/>
              </a:ext>
            </a:extLst>
          </p:cNvPr>
          <p:cNvSpPr/>
          <p:nvPr/>
        </p:nvSpPr>
        <p:spPr>
          <a:xfrm>
            <a:off x="7347266" y="3579682"/>
            <a:ext cx="1212275" cy="5891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DvseincB</a:t>
            </a:r>
            <a:r>
              <a:rPr lang="en-GB" sz="1000" b="1" dirty="0">
                <a:solidFill>
                  <a:schemeClr val="tx1"/>
                </a:solidFill>
              </a:rPr>
              <a:t> = REPSONSE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E82213-1356-60FB-370B-1D598A4B2B48}"/>
              </a:ext>
            </a:extLst>
          </p:cNvPr>
          <p:cNvSpPr/>
          <p:nvPr/>
        </p:nvSpPr>
        <p:spPr>
          <a:xfrm>
            <a:off x="1785537" y="4507177"/>
            <a:ext cx="1116418" cy="5456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B3263 = </a:t>
            </a:r>
            <a:r>
              <a:rPr lang="en-GB" sz="1000" b="1" dirty="0" err="1">
                <a:solidFill>
                  <a:schemeClr val="tx1"/>
                </a:solidFill>
              </a:rPr>
              <a:t>Dvownamt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55C1F48-46F1-C145-208E-59A0B95A87CE}"/>
              </a:ext>
            </a:extLst>
          </p:cNvPr>
          <p:cNvCxnSpPr>
            <a:cxnSpLocks/>
            <a:stCxn id="29" idx="3"/>
            <a:endCxn id="19" idx="1"/>
          </p:cNvCxnSpPr>
          <p:nvPr/>
        </p:nvCxnSpPr>
        <p:spPr>
          <a:xfrm>
            <a:off x="4830428" y="3878841"/>
            <a:ext cx="69322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AC6672-19B4-9D9A-1FD0-27F50AC44BDE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6735926" y="3874280"/>
            <a:ext cx="611340" cy="456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08BCC88-4420-59D3-E13F-7FCD0455332E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8559541" y="3874280"/>
            <a:ext cx="543516" cy="688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8C839DE-1F31-E2AA-8DED-A49274A298DE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>
            <a:off x="6129789" y="4173438"/>
            <a:ext cx="0" cy="3337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093DC82-708A-6780-9454-9D8735006992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>
            <a:off x="7953404" y="4168877"/>
            <a:ext cx="0" cy="3382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AC31A60-52D4-B432-C3C6-1071003A51A5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>
            <a:off x="2343372" y="4178852"/>
            <a:ext cx="374" cy="3283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E2C882E-89F2-8832-E951-8564174CD0CD}"/>
              </a:ext>
            </a:extLst>
          </p:cNvPr>
          <p:cNvSpPr/>
          <p:nvPr/>
        </p:nvSpPr>
        <p:spPr>
          <a:xfrm>
            <a:off x="3618153" y="4507995"/>
            <a:ext cx="1212275" cy="53902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B3263 = B3263 + </a:t>
            </a:r>
            <a:r>
              <a:rPr lang="en-GB" sz="1100" b="1" dirty="0" err="1">
                <a:solidFill>
                  <a:schemeClr val="tx1"/>
                </a:solidFill>
              </a:rPr>
              <a:t>Dvownot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85B1D5-0675-D712-6543-086599D52F8F}"/>
              </a:ext>
            </a:extLst>
          </p:cNvPr>
          <p:cNvSpPr/>
          <p:nvPr/>
        </p:nvSpPr>
        <p:spPr>
          <a:xfrm>
            <a:off x="3618153" y="3584243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Dvownot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RESPONSE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9EA4B6-9B07-36EF-A6E9-1D75F7637815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>
            <a:off x="4224291" y="4173438"/>
            <a:ext cx="0" cy="334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6103D08-0D7F-664C-E2DB-F7C0AA8E8D09}"/>
              </a:ext>
            </a:extLst>
          </p:cNvPr>
          <p:cNvSpPr/>
          <p:nvPr/>
        </p:nvSpPr>
        <p:spPr>
          <a:xfrm>
            <a:off x="1775519" y="3583475"/>
            <a:ext cx="1135706" cy="5953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Dvownamt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RESPONSE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50BA41F-BB2E-5DFB-9F6B-ED481F9C0A1A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 flipV="1">
            <a:off x="2911225" y="3878841"/>
            <a:ext cx="706928" cy="232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E731818-8E05-1E03-FAEA-23896C748E38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901955" y="4779978"/>
            <a:ext cx="347775" cy="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F4DF908-5D18-2122-2DAC-DC1708C254AF}"/>
              </a:ext>
            </a:extLst>
          </p:cNvPr>
          <p:cNvCxnSpPr>
            <a:cxnSpLocks/>
          </p:cNvCxnSpPr>
          <p:nvPr/>
        </p:nvCxnSpPr>
        <p:spPr>
          <a:xfrm flipV="1">
            <a:off x="3248982" y="3989625"/>
            <a:ext cx="0" cy="78788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F6DD0C5-5074-1063-E22A-640D3BBE40FB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4830428" y="4777508"/>
            <a:ext cx="401485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92D86DF-E3D0-D4F9-4809-F8E8EE534FAA}"/>
              </a:ext>
            </a:extLst>
          </p:cNvPr>
          <p:cNvCxnSpPr>
            <a:cxnSpLocks/>
          </p:cNvCxnSpPr>
          <p:nvPr/>
        </p:nvCxnSpPr>
        <p:spPr>
          <a:xfrm flipV="1">
            <a:off x="5186193" y="3989625"/>
            <a:ext cx="0" cy="78788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7A7783F-EB25-F377-91FB-1104FA84B963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>
            <a:off x="2341243" y="2261393"/>
            <a:ext cx="2129" cy="3283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A7554B14-24DA-8B39-C449-C714334E39A4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6735926" y="4777508"/>
            <a:ext cx="380878" cy="247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44455AA5-04C6-B092-3E46-699521DFB071}"/>
              </a:ext>
            </a:extLst>
          </p:cNvPr>
          <p:cNvCxnSpPr>
            <a:cxnSpLocks/>
          </p:cNvCxnSpPr>
          <p:nvPr/>
        </p:nvCxnSpPr>
        <p:spPr>
          <a:xfrm flipV="1">
            <a:off x="7096196" y="3989625"/>
            <a:ext cx="0" cy="78788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CC77FD9-5EA1-6E23-6EC2-3FC0836531F2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8559541" y="4779978"/>
            <a:ext cx="665423" cy="688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619F036-53AA-A269-D117-E0D2AF368884}"/>
              </a:ext>
            </a:extLst>
          </p:cNvPr>
          <p:cNvCxnSpPr>
            <a:cxnSpLocks/>
            <a:endCxn id="5" idx="4"/>
          </p:cNvCxnSpPr>
          <p:nvPr/>
        </p:nvCxnSpPr>
        <p:spPr>
          <a:xfrm flipH="1" flipV="1">
            <a:off x="9211317" y="2199446"/>
            <a:ext cx="13647" cy="257806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6955E7D2-0D3B-8AF5-A6F7-DBF2449F873E}"/>
              </a:ext>
            </a:extLst>
          </p:cNvPr>
          <p:cNvSpPr/>
          <p:nvPr/>
        </p:nvSpPr>
        <p:spPr>
          <a:xfrm>
            <a:off x="457711" y="1643303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52916F0-5FD6-2620-D40E-5B1E61B3391C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1033711" y="1931303"/>
            <a:ext cx="509793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BF025CD-BB0D-313F-3191-9F1C2EF426A5}"/>
              </a:ext>
            </a:extLst>
          </p:cNvPr>
          <p:cNvSpPr/>
          <p:nvPr/>
        </p:nvSpPr>
        <p:spPr>
          <a:xfrm>
            <a:off x="1775519" y="2589718"/>
            <a:ext cx="1135706" cy="6601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B3262 = 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CDECB9-E942-DAD1-12ED-922B66286E8A}"/>
              </a:ext>
            </a:extLst>
          </p:cNvPr>
          <p:cNvCxnSpPr>
            <a:cxnSpLocks/>
            <a:stCxn id="4" idx="2"/>
            <a:endCxn id="31" idx="0"/>
          </p:cNvCxnSpPr>
          <p:nvPr/>
        </p:nvCxnSpPr>
        <p:spPr>
          <a:xfrm>
            <a:off x="2343372" y="3249898"/>
            <a:ext cx="0" cy="3335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C63301A-D8C5-61D6-8290-AD1839CF953E}"/>
              </a:ext>
            </a:extLst>
          </p:cNvPr>
          <p:cNvSpPr/>
          <p:nvPr/>
        </p:nvSpPr>
        <p:spPr>
          <a:xfrm>
            <a:off x="370772" y="5214697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D8AD92D-A9D6-BB45-36A5-263F0255356E}"/>
              </a:ext>
            </a:extLst>
          </p:cNvPr>
          <p:cNvCxnSpPr>
            <a:cxnSpLocks/>
          </p:cNvCxnSpPr>
          <p:nvPr/>
        </p:nvCxnSpPr>
        <p:spPr>
          <a:xfrm>
            <a:off x="664546" y="5793817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DDBD4C0-8B06-A093-6554-BC17B73BB8F9}"/>
              </a:ext>
            </a:extLst>
          </p:cNvPr>
          <p:cNvCxnSpPr>
            <a:cxnSpLocks/>
          </p:cNvCxnSpPr>
          <p:nvPr/>
        </p:nvCxnSpPr>
        <p:spPr>
          <a:xfrm>
            <a:off x="664546" y="6319597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89B36D2-A7BA-A8C7-94D3-32AC1D356D8D}"/>
              </a:ext>
            </a:extLst>
          </p:cNvPr>
          <p:cNvSpPr txBox="1"/>
          <p:nvPr/>
        </p:nvSpPr>
        <p:spPr>
          <a:xfrm>
            <a:off x="790952" y="5401625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2EB452-07CB-D619-AB87-C06B51935D1A}"/>
              </a:ext>
            </a:extLst>
          </p:cNvPr>
          <p:cNvSpPr txBox="1"/>
          <p:nvPr/>
        </p:nvSpPr>
        <p:spPr>
          <a:xfrm>
            <a:off x="805924" y="5927253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7247139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2B2B-1807-5EC7-7F19-5A3AAEC69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DF64-1CFF-73E1-BB76-E5F444642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B3263 1</a:t>
            </a:r>
            <a:r>
              <a:rPr lang="en-GB" sz="1600" baseline="30000" dirty="0"/>
              <a:t>st</a:t>
            </a:r>
            <a:r>
              <a:rPr lang="en-GB" sz="1600" dirty="0"/>
              <a:t> subsid job: se amount of gross profit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72EB72-7541-6125-6DEE-7476970126FB}"/>
              </a:ext>
            </a:extLst>
          </p:cNvPr>
          <p:cNvSpPr/>
          <p:nvPr/>
        </p:nvSpPr>
        <p:spPr>
          <a:xfrm>
            <a:off x="1557152" y="1872762"/>
            <a:ext cx="1135706" cy="6601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Bsuaccts</a:t>
            </a:r>
            <a:r>
              <a:rPr lang="en-GB" sz="1000" b="1" dirty="0">
                <a:solidFill>
                  <a:schemeClr val="tx1"/>
                </a:solidFill>
              </a:rPr>
              <a:t> = 3 AND </a:t>
            </a:r>
            <a:r>
              <a:rPr lang="en-GB" sz="1000" b="1" dirty="0" err="1">
                <a:solidFill>
                  <a:schemeClr val="tx1"/>
                </a:solidFill>
              </a:rPr>
              <a:t>Workacc</a:t>
            </a:r>
            <a:r>
              <a:rPr lang="en-GB" sz="1000" b="1" dirty="0">
                <a:solidFill>
                  <a:schemeClr val="tx1"/>
                </a:solidFill>
              </a:rPr>
              <a:t> = 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1652DF4-4865-F8CE-2A38-326660D02FD2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 flipV="1">
            <a:off x="2692858" y="2196255"/>
            <a:ext cx="2246494" cy="659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60D3139-E7A3-DEE6-7571-EF691C166020}"/>
              </a:ext>
            </a:extLst>
          </p:cNvPr>
          <p:cNvSpPr/>
          <p:nvPr/>
        </p:nvSpPr>
        <p:spPr>
          <a:xfrm>
            <a:off x="4936793" y="4069043"/>
            <a:ext cx="1212275" cy="5456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B3263 = B3263 + </a:t>
            </a:r>
            <a:r>
              <a:rPr lang="en-GB" sz="1100" b="1" dirty="0" err="1">
                <a:solidFill>
                  <a:schemeClr val="tx1"/>
                </a:solidFill>
              </a:rPr>
              <a:t>Dvseinc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7FAA9B-47CE-E8F1-90D6-67A8D1197542}"/>
              </a:ext>
            </a:extLst>
          </p:cNvPr>
          <p:cNvSpPr/>
          <p:nvPr/>
        </p:nvSpPr>
        <p:spPr>
          <a:xfrm>
            <a:off x="6616276" y="4082425"/>
            <a:ext cx="1212275" cy="5456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B3263 = B3263 + </a:t>
            </a:r>
            <a:r>
              <a:rPr lang="en-GB" sz="1100" b="1" dirty="0" err="1">
                <a:solidFill>
                  <a:schemeClr val="tx1"/>
                </a:solidFill>
              </a:rPr>
              <a:t>DvseincB</a:t>
            </a:r>
            <a:r>
              <a:rPr lang="en-GB" sz="1100" b="1" dirty="0">
                <a:solidFill>
                  <a:schemeClr val="tx1"/>
                </a:solidFill>
              </a:rPr>
              <a:t> + XB3263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7111B-B80B-C0A3-F6E2-5D1F24F186D1}"/>
              </a:ext>
            </a:extLst>
          </p:cNvPr>
          <p:cNvSpPr/>
          <p:nvPr/>
        </p:nvSpPr>
        <p:spPr>
          <a:xfrm>
            <a:off x="4936793" y="3036925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r>
              <a:rPr lang="en-GB" sz="1000" b="1" dirty="0">
                <a:solidFill>
                  <a:schemeClr val="tx1"/>
                </a:solidFill>
              </a:rPr>
              <a:t> = RESPONSE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F10887-7BE0-3F6F-1C15-115F95F45615}"/>
              </a:ext>
            </a:extLst>
          </p:cNvPr>
          <p:cNvSpPr/>
          <p:nvPr/>
        </p:nvSpPr>
        <p:spPr>
          <a:xfrm>
            <a:off x="6616276" y="3045747"/>
            <a:ext cx="1212275" cy="5891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DvseincB</a:t>
            </a:r>
            <a:r>
              <a:rPr lang="en-GB" sz="1000" b="1" dirty="0">
                <a:solidFill>
                  <a:schemeClr val="tx1"/>
                </a:solidFill>
              </a:rPr>
              <a:t> = REPSONSE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35A51A-C55B-0B66-7EA5-619853FD22B7}"/>
              </a:ext>
            </a:extLst>
          </p:cNvPr>
          <p:cNvSpPr/>
          <p:nvPr/>
        </p:nvSpPr>
        <p:spPr>
          <a:xfrm>
            <a:off x="1567170" y="4069043"/>
            <a:ext cx="1116418" cy="5456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B3263 = B3263 + </a:t>
            </a:r>
            <a:r>
              <a:rPr lang="en-GB" sz="1000" b="1" dirty="0" err="1">
                <a:solidFill>
                  <a:schemeClr val="tx1"/>
                </a:solidFill>
              </a:rPr>
              <a:t>Dvseinc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3A0448-E191-9A1A-29A4-A9DFDD79F9F2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6149068" y="3331523"/>
            <a:ext cx="467208" cy="882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D68DC47-CD23-2AC4-A8A4-F41E60CA7EA2}"/>
              </a:ext>
            </a:extLst>
          </p:cNvPr>
          <p:cNvCxnSpPr>
            <a:cxnSpLocks/>
            <a:stCxn id="20" idx="3"/>
            <a:endCxn id="11" idx="1"/>
          </p:cNvCxnSpPr>
          <p:nvPr/>
        </p:nvCxnSpPr>
        <p:spPr>
          <a:xfrm flipV="1">
            <a:off x="7828551" y="3330755"/>
            <a:ext cx="567012" cy="959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FC7F11-8070-9E72-149F-1C9F5F207571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>
            <a:off x="5542931" y="3626120"/>
            <a:ext cx="0" cy="4429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C21C2BF-87EB-CAC2-B9CA-6E79FB90FE63}"/>
              </a:ext>
            </a:extLst>
          </p:cNvPr>
          <p:cNvCxnSpPr>
            <a:cxnSpLocks/>
            <a:stCxn id="20" idx="2"/>
            <a:endCxn id="18" idx="0"/>
          </p:cNvCxnSpPr>
          <p:nvPr/>
        </p:nvCxnSpPr>
        <p:spPr>
          <a:xfrm>
            <a:off x="7222414" y="3634942"/>
            <a:ext cx="0" cy="4474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FBB6544-20D6-6268-9280-678220E1209C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>
            <a:off x="2125005" y="3631534"/>
            <a:ext cx="374" cy="4375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FDEAFCC-9CFE-7496-014E-B4B6439C4FC9}"/>
              </a:ext>
            </a:extLst>
          </p:cNvPr>
          <p:cNvSpPr/>
          <p:nvPr/>
        </p:nvSpPr>
        <p:spPr>
          <a:xfrm>
            <a:off x="3154122" y="4069861"/>
            <a:ext cx="1212275" cy="5390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B3263 = B3263 + </a:t>
            </a:r>
            <a:r>
              <a:rPr lang="en-GB" sz="1100" b="1" dirty="0" err="1">
                <a:solidFill>
                  <a:schemeClr val="tx1"/>
                </a:solidFill>
              </a:rPr>
              <a:t>DvseincB</a:t>
            </a:r>
            <a:r>
              <a:rPr lang="en-GB" sz="1100" b="1" dirty="0">
                <a:solidFill>
                  <a:schemeClr val="tx1"/>
                </a:solidFill>
              </a:rPr>
              <a:t> + XB3263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D34C5A-758D-4962-274D-A85921EC260F}"/>
              </a:ext>
            </a:extLst>
          </p:cNvPr>
          <p:cNvSpPr/>
          <p:nvPr/>
        </p:nvSpPr>
        <p:spPr>
          <a:xfrm>
            <a:off x="3154122" y="3036925"/>
            <a:ext cx="1212275" cy="5891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DvseincB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RESPONSE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3040DC1-FF95-A282-1440-C75A0AAADBF1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>
            <a:off x="3760260" y="3626120"/>
            <a:ext cx="0" cy="4437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2404421-FD0F-71E0-DB07-309EF61D6F89}"/>
              </a:ext>
            </a:extLst>
          </p:cNvPr>
          <p:cNvSpPr/>
          <p:nvPr/>
        </p:nvSpPr>
        <p:spPr>
          <a:xfrm>
            <a:off x="1557152" y="3036157"/>
            <a:ext cx="1135706" cy="5953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 err="1">
                <a:solidFill>
                  <a:schemeClr val="tx1"/>
                </a:solidFill>
                <a:cs typeface="Arial" panose="020B0604020202020204" pitchFamily="34" charset="0"/>
              </a:rPr>
              <a:t>Dvseinc</a:t>
            </a:r>
            <a:r>
              <a:rPr lang="en-GB" sz="1100" b="1" dirty="0">
                <a:solidFill>
                  <a:schemeClr val="tx1"/>
                </a:solidFill>
                <a:cs typeface="Arial" panose="020B0604020202020204" pitchFamily="34" charset="0"/>
              </a:rPr>
              <a:t> = RESPONSE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CEDB0D-A27C-8645-1852-A2F7FB538501}"/>
              </a:ext>
            </a:extLst>
          </p:cNvPr>
          <p:cNvCxnSpPr>
            <a:cxnSpLocks/>
            <a:stCxn id="31" idx="3"/>
            <a:endCxn id="29" idx="1"/>
          </p:cNvCxnSpPr>
          <p:nvPr/>
        </p:nvCxnSpPr>
        <p:spPr>
          <a:xfrm flipV="1">
            <a:off x="2692858" y="3331523"/>
            <a:ext cx="461264" cy="232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A9C62F2-91F7-B130-8AF8-111F16E6BCCB}"/>
              </a:ext>
            </a:extLst>
          </p:cNvPr>
          <p:cNvCxnSpPr>
            <a:cxnSpLocks/>
            <a:stCxn id="7" idx="2"/>
            <a:endCxn id="31" idx="0"/>
          </p:cNvCxnSpPr>
          <p:nvPr/>
        </p:nvCxnSpPr>
        <p:spPr>
          <a:xfrm>
            <a:off x="2125005" y="2532942"/>
            <a:ext cx="0" cy="5032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A3028724-B7D3-B2F7-5C15-CE51D02EF49B}"/>
              </a:ext>
            </a:extLst>
          </p:cNvPr>
          <p:cNvSpPr/>
          <p:nvPr/>
        </p:nvSpPr>
        <p:spPr>
          <a:xfrm>
            <a:off x="471358" y="1914852"/>
            <a:ext cx="576000" cy="576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D0A33F0-EBF1-23A6-3377-2408C2B55B44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1047358" y="2202852"/>
            <a:ext cx="509794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D86E96A-2294-1C00-6799-554FD8C91E41}"/>
              </a:ext>
            </a:extLst>
          </p:cNvPr>
          <p:cNvSpPr/>
          <p:nvPr/>
        </p:nvSpPr>
        <p:spPr>
          <a:xfrm>
            <a:off x="4939352" y="1901657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err="1">
                <a:solidFill>
                  <a:schemeClr val="tx1"/>
                </a:solidFill>
              </a:rPr>
              <a:t>Busaccts</a:t>
            </a:r>
            <a:r>
              <a:rPr lang="en-GB" sz="1000" b="1" dirty="0">
                <a:solidFill>
                  <a:schemeClr val="tx1"/>
                </a:solidFill>
              </a:rPr>
              <a:t> =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45BF20-18A2-80D2-ACAA-6E5D4DF60147}"/>
              </a:ext>
            </a:extLst>
          </p:cNvPr>
          <p:cNvSpPr/>
          <p:nvPr/>
        </p:nvSpPr>
        <p:spPr>
          <a:xfrm>
            <a:off x="8395563" y="1901656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B3263 = 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F4B881-5B5F-B0DE-7338-A0E4FEA5DA46}"/>
              </a:ext>
            </a:extLst>
          </p:cNvPr>
          <p:cNvSpPr/>
          <p:nvPr/>
        </p:nvSpPr>
        <p:spPr>
          <a:xfrm>
            <a:off x="8395563" y="3036157"/>
            <a:ext cx="1212275" cy="58919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solidFill>
                  <a:schemeClr val="tx1"/>
                </a:solidFill>
              </a:rPr>
              <a:t>B3263 = 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A6AF4F-B99D-DF34-4409-058CBC1554C9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6151627" y="2196254"/>
            <a:ext cx="2243936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FE5783B-D495-7564-0621-5DFA9EB28898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 flipH="1">
            <a:off x="5542931" y="2490852"/>
            <a:ext cx="2559" cy="5460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79FF6525-04D7-D12A-60F3-3E3C1DBCECF7}"/>
              </a:ext>
            </a:extLst>
          </p:cNvPr>
          <p:cNvSpPr/>
          <p:nvPr/>
        </p:nvSpPr>
        <p:spPr>
          <a:xfrm>
            <a:off x="384419" y="5125628"/>
            <a:ext cx="1325878" cy="1367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1EADB7A-66CA-0A4B-BBBA-68822656C749}"/>
              </a:ext>
            </a:extLst>
          </p:cNvPr>
          <p:cNvCxnSpPr>
            <a:cxnSpLocks/>
          </p:cNvCxnSpPr>
          <p:nvPr/>
        </p:nvCxnSpPr>
        <p:spPr>
          <a:xfrm>
            <a:off x="678193" y="5704748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82DF780-537C-3D31-F65B-E3C98A76BFC1}"/>
              </a:ext>
            </a:extLst>
          </p:cNvPr>
          <p:cNvCxnSpPr>
            <a:cxnSpLocks/>
          </p:cNvCxnSpPr>
          <p:nvPr/>
        </p:nvCxnSpPr>
        <p:spPr>
          <a:xfrm>
            <a:off x="678193" y="6230528"/>
            <a:ext cx="73833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79C5921-3212-5F31-761D-BE4F35760EBF}"/>
              </a:ext>
            </a:extLst>
          </p:cNvPr>
          <p:cNvSpPr txBox="1"/>
          <p:nvPr/>
        </p:nvSpPr>
        <p:spPr>
          <a:xfrm>
            <a:off x="804599" y="5312556"/>
            <a:ext cx="420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Yes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932F86-3F22-91EA-1DF3-1B2C1A920194}"/>
              </a:ext>
            </a:extLst>
          </p:cNvPr>
          <p:cNvSpPr txBox="1"/>
          <p:nvPr/>
        </p:nvSpPr>
        <p:spPr>
          <a:xfrm>
            <a:off x="819571" y="5838184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8053137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47952-8ECE-BC2E-DB82-A3C49FED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4DBA0-D614-B3CB-D2D4-C7395114D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B3263 2</a:t>
            </a:r>
            <a:r>
              <a:rPr lang="en-GB" sz="2400" baseline="30000" dirty="0"/>
              <a:t>nd</a:t>
            </a:r>
            <a:r>
              <a:rPr lang="en-GB" sz="2400" dirty="0"/>
              <a:t> subsid job: se amount of gross profit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6F80A-CC7A-9F14-8889-4A62AA48E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9" y="894178"/>
            <a:ext cx="4025165" cy="5357153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{B3263}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OUTF25.B3263 := 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IF (OUTF25.A200 IN [1,2]) THEN {CURRENTLY EMPLOYED, SELF-EMPLOYED}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{PUT TAX AND NI IN TEMPORARY VARIABLE TO BE USED LATER}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XB3263 := 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IF (INFQ.QTSLFIN2.QSJOB[J].QBSELFJOB[2].CHECKTAXB IN [1]) THEN          {</a:t>
            </a:r>
            <a:r>
              <a:rPr lang="en-GB" dirty="0" err="1"/>
              <a:t>CheckTaxB</a:t>
            </a:r>
            <a:r>
              <a:rPr lang="en-GB" dirty="0"/>
              <a:t> replaces </a:t>
            </a:r>
            <a:r>
              <a:rPr lang="en-GB" dirty="0" err="1"/>
              <a:t>CheckTax</a:t>
            </a:r>
            <a:r>
              <a:rPr lang="en-GB" dirty="0"/>
              <a:t>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(INFQ.QTSLFIN2.QSJOB[J].QBSELFJOB[2].DVTAXD &gt; 0)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XB3263 := INFQ.QTSLFIN2.QSJOB[J].QBSELFJOB[2].DVTAXD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IF (INFQ.QTSLFIN2.QSJOB[J].QBSELFJOB[2].CHECKNI IN [1]) THEN            {</a:t>
            </a:r>
            <a:r>
              <a:rPr lang="en-GB" dirty="0" err="1"/>
              <a:t>CheckNI</a:t>
            </a:r>
            <a:r>
              <a:rPr lang="en-GB" dirty="0"/>
              <a:t> is new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(INFQ.QTSLFIN2.QSJOB[J].QBSELFJOB[2].DVNIDB &gt; 0) THEN             {DVNIDB replaces DVNIDB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XB3263 := XB3263 + INFQ.QTSLFIN2.QSJOB[J].QBSELFJOB[2].DVNIDB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IF (INFQ.QTSLFIN2.QSJOB[J].QBSELFJOB[2].PROFIT2 = 1)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(INFQ.QTSLFIN2.QSJOB[J].QBSELFJOB[2].DVPROF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INFQ.QTSLFIN2.QSJOB[J].QBSELFJOB[2].DVPROF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IF (INFQ.QTSLFIN2.QSJOB[J].QBSELFJOB[2].PROFTAX = 2)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(INFQ.QTSLFIN2.QSJOB[J].QBSELFJOB[2].DVPRBEF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INFQ.QTSLFIN2.QSJOB[J].QBSELFJOB[2].DVPRBEF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IF (INFQ.QTSLFIN2.QSJOB[J].QBSELFJOB[2].PROFIT1 = RESPONSE) AND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(INFQ.QTSLFIN2.QSJOB[J].QBSELFJOB[2].PROFIT1 = 0)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(INFQ.QTSLFIN2.QSJOB[J].QBSELFJOB[2].DVOWNAMT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INFQ.QTSLFIN2.QSJOB[J].QBSELFJOB[2].DVOWNAMT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(INFQ.QTSLFIN2.QSJOB[J].QBSELFJOB[2].DVOWNOT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OUTF25.B3263 + INFQ.QTSLFIN2.QSJOB[J].QBSELFJOB[2].DVOWNOT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(INFQ.QTSLFIN2.QSJOB[J].QBSELFJOB[2].DVSEINC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OUTF25.B3262 := OUTF25.B3262 + INFQ.QTSLFIN2.QSJOB[J].QBSELFJOB[2].DVSEINC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(INFQ.QTSLFIN2.QSJOB[J].QBSELFJOB[2].DVSEINCB = RESPONSE) THEN    {Added DVSEINCB to this derivation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OUTF25.B3262 := OUTF25.B3262 + INFQ.QTSLFIN2.QSJOB[J].QBSELFJOB[2].DVSEINCB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                 + XB3262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IF (INFQ.QTSLFIN2.QSJOB[J].QBSELFJOB[2].PROFIT2 = 2)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OUTF25.B3263 := 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(INFQ.QTSLFIN2.QSJOB[J].QBSELFJOB[2].DVOWNAMT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INFQ.QTSLFIN2.QSJOB[J].QBSELFJOB[2].DVOWNAMT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(INFQ.QTSLFIN2.QSJOB[J].QBSELFJOB[2].DVOWNOT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OUTF25.B3263 + INFQ.QTSLFIN2.QSJOB[J].QBSELFJOB[2].DVOWNOT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(INFQ.QTSLFIN2.QSJOB[J].QBSELFJOB[2].DVSEINC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OUTF25.B3262 := OUTF25.B3262 + INFQ.QTSLFIN2.QSJOB[J].QBSELFJOB[2].DVSEINC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(INFQ.QTSLFIN2.QSJOB[J].QBSELFJOB[2].DVSEINCB = RESPONSE) THEN    {Added DVSEINCB to this derivation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OUTF25.B3262 := OUTF25.B3262 + INFQ.QTSLFIN2.QSJOB[J].QBSELFJOB[2].DVSEINCB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                 + XB3262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IF (INFQ.QTSLFIN2.QSJOB[J].QBSELFJOB[2].PROFIT1 = DONTKNOW)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OUTF25.B3263 := 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(INFQ.QTSLFIN2.QSJOB[J].QBSELFJOB[2].DVOWNAMT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INFQ.QTSLFIN2.QSJOB[J].QBSELFJOB[2].DVOWNAMT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(INFQ.QTSLFIN2.QSJOB[J].QBSELFJOB[2].DVOWNOT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OUTF25.B3263 + INFQ.QTSLFIN2.QSJOB[J].QBSELFJOB[2].DVOWNOT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(INFQ.QTSLFIN2.QSJOB[J].QBSELFJOB[2].DVSEINC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OUTF25.B3262 := OUTF25.B3262 + INFQ.QTSLFIN2.QSJOB[J].QBSELFJOB[2].DVSEINC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(INFQ.QTSLFIN2.QSJOB[J].QBSELFJOB[2].DVSEINCB = RESPONSE) THEN    {Added DVSEINCB to this derivation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OUTF25.B3262 := OUTF25.B3262 + INFQ.QTSLFIN2.QSJOB[J].QBSELFJOB[2].DVSEINCB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                 + XB3262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IF (INFQ.QTSLFIN2.QSJOB[J].QBSELFJOB[2].BUSACCTS = 3) AND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(INFQ.QTSLFIN2.QSJOB[J].QBSELFJOB[2].OWNSUM IN [1,2])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OUTF25.B3263 := 0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(INFQ.QTSLFIN2.QSJOB[J].QBSELFJOB[2].DVOWNAMT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INFQ.QTSLFIN2.QSJOB[J].QBSELFJOB[2].DVOWNAMT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(INFQ.QTSLFIN2.QSJOB[J].QBSELFJOB[2].DVOWNOT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OUTF25.B3263 + INFQ.QTSLFIN2.QSJOB[J].QBSELFJOB[2].DVOWNOT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(INFQ.QTSLFIN2.QSJOB[J].QBSELFJOB[2].DVSEINC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OUTF25.B3262 := OUTF25.B3262 + INFQ.QTSLFIN2.QSJOB[J].QBSELFJOB[2].DVSEINC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(INFQ.QTSLFIN2.QSJOB[J].QBSELFJOB[2].DVSEINCB = RESPONSE) THEN    {Added DVSEINCB to this derivation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OUTF25.B3262 := OUTF25.B3262 + INFQ.QTSLFIN2.QSJOB[J].QBSELFJOB[2].DVSEINCB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                 + XB3262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IF (INFQ.QTSLFIN2.QSJOB[J].QBSELFJOB[2].BUSACCTS = 3) AND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(INFQ.QTSLFIN2.QSJOB[J].QBSELFJOB[2].WORKACC = 2)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(INFQ.QTSLFIN2.QSJOB[J].QBSELFJOB[2].DVSEINC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INFQ.QTSLFIN2.QSJOB[J].QBSELFJOB[2].DVSEINC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(INFQ.QTSLFIN2.QSJOB[J].QBSELFJOB[2].DVSEINCB = RESPONSE) THEN    {Added DVSEINCB to this derivation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INFQ.QTSLFIN2.QSJOB[J].QBSELFJOB[2].DVSEINCB + XB3263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IF (INFQ.QTSLFIN2.QSJOB[J].QBSELFJOB[2].BUSACCTS = 2)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(INFQ.QTSLFIN2.QSJOB[J].QBSELFJOB[2].DVSEINC = RESPONSE) THEN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INFQ.QTSLFIN2.QSJOB[J].QBSELFJOB[2].DVSEINC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IF (INFQ.QTSLFIN2.QSJOB[J].QBSELFJOB[2].DVSEINCB = RESPONSE) THEN    {Added DVSEINCB to this derivation from 4Q2 - BR 01/08/24}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   OUTF25.B3263 := INFQ.QTSLFIN2.QSJOB[J].QBSELFJOB[2].DVSEINCB + XB3263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   ENDIF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         ENDIF {A200 = 1 OR 2}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5E25CB-98E8-5309-FEE1-F13B786F8782}"/>
              </a:ext>
            </a:extLst>
          </p:cNvPr>
          <p:cNvSpPr txBox="1">
            <a:spLocks/>
          </p:cNvSpPr>
          <p:nvPr/>
        </p:nvSpPr>
        <p:spPr>
          <a:xfrm>
            <a:off x="5199797" y="894178"/>
            <a:ext cx="4025165" cy="5357153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l" defTabSz="1907704" rtl="0" eaLnBrk="1" latinLnBrk="0" hangingPunct="1">
              <a:lnSpc>
                <a:spcPct val="90000"/>
              </a:lnSpc>
              <a:spcBef>
                <a:spcPts val="2086"/>
              </a:spcBef>
              <a:buFont typeface="Arial" panose="020B0604020202020204" pitchFamily="34" charset="0"/>
              <a:buNone/>
              <a:defRPr sz="1589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53853" indent="0" algn="l" defTabSz="1907704" rtl="0" eaLnBrk="1" latinLnBrk="0" hangingPunct="1">
              <a:lnSpc>
                <a:spcPct val="90000"/>
              </a:lnSpc>
              <a:spcBef>
                <a:spcPts val="1043"/>
              </a:spcBef>
              <a:buFont typeface="Arial" panose="020B0604020202020204" pitchFamily="34" charset="0"/>
              <a:buNone/>
              <a:defRPr sz="1589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907704" indent="0" algn="l" defTabSz="1907704" rtl="0" eaLnBrk="1" latinLnBrk="0" hangingPunct="1">
              <a:lnSpc>
                <a:spcPct val="90000"/>
              </a:lnSpc>
              <a:spcBef>
                <a:spcPts val="1043"/>
              </a:spcBef>
              <a:buFont typeface="Arial" panose="020B0604020202020204" pitchFamily="34" charset="0"/>
              <a:buNone/>
              <a:defRPr sz="1589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861557" indent="0" algn="l" defTabSz="1907704" rtl="0" eaLnBrk="1" latinLnBrk="0" hangingPunct="1">
              <a:lnSpc>
                <a:spcPct val="90000"/>
              </a:lnSpc>
              <a:spcBef>
                <a:spcPts val="1043"/>
              </a:spcBef>
              <a:buFont typeface="Arial" panose="020B0604020202020204" pitchFamily="34" charset="0"/>
              <a:buNone/>
              <a:defRPr sz="1589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3815410" indent="0" algn="l" defTabSz="1907704" rtl="0" eaLnBrk="1" latinLnBrk="0" hangingPunct="1">
              <a:lnSpc>
                <a:spcPct val="90000"/>
              </a:lnSpc>
              <a:spcBef>
                <a:spcPts val="1043"/>
              </a:spcBef>
              <a:buFont typeface="Arial" panose="020B0604020202020204" pitchFamily="34" charset="0"/>
              <a:buNone/>
              <a:defRPr sz="1589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5246188" indent="-476926" algn="l" defTabSz="1907704" rtl="0" eaLnBrk="1" latinLnBrk="0" hangingPunct="1">
              <a:lnSpc>
                <a:spcPct val="90000"/>
              </a:lnSpc>
              <a:spcBef>
                <a:spcPts val="1043"/>
              </a:spcBef>
              <a:buFont typeface="Arial" panose="020B0604020202020204" pitchFamily="34" charset="0"/>
              <a:buChar char="•"/>
              <a:defRPr sz="37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200041" indent="-476926" algn="l" defTabSz="1907704" rtl="0" eaLnBrk="1" latinLnBrk="0" hangingPunct="1">
              <a:lnSpc>
                <a:spcPct val="90000"/>
              </a:lnSpc>
              <a:spcBef>
                <a:spcPts val="1043"/>
              </a:spcBef>
              <a:buFont typeface="Arial" panose="020B0604020202020204" pitchFamily="34" charset="0"/>
              <a:buChar char="•"/>
              <a:defRPr sz="37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153894" indent="-476926" algn="l" defTabSz="1907704" rtl="0" eaLnBrk="1" latinLnBrk="0" hangingPunct="1">
              <a:lnSpc>
                <a:spcPct val="90000"/>
              </a:lnSpc>
              <a:spcBef>
                <a:spcPts val="1043"/>
              </a:spcBef>
              <a:buFont typeface="Arial" panose="020B0604020202020204" pitchFamily="34" charset="0"/>
              <a:buChar char="•"/>
              <a:defRPr sz="37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107745" indent="-476926" algn="l" defTabSz="1907704" rtl="0" eaLnBrk="1" latinLnBrk="0" hangingPunct="1">
              <a:lnSpc>
                <a:spcPct val="90000"/>
              </a:lnSpc>
              <a:spcBef>
                <a:spcPts val="1043"/>
              </a:spcBef>
              <a:buFont typeface="Arial" panose="020B0604020202020204" pitchFamily="34" charset="0"/>
              <a:buChar char="•"/>
              <a:defRPr sz="37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KEY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A200 Employment status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0 Not recorded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Employee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Self-employed or employer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3 Out of employment seeking work within last 4 weeks &amp; available to start a job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4 Out of employment waiting to start a job already obtained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5 Sick or injured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6 Retired including Job Release Scheme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7 Unoccupied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Busaccts</a:t>
            </a:r>
            <a:r>
              <a:rPr lang="en-GB" dirty="0"/>
              <a:t> In job/business were annual business accounts prepared for HMRC for tax purposes?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Yes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No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3 Not yet, but will be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b="1" dirty="0" err="1"/>
              <a:t>ChecktaxB</a:t>
            </a:r>
            <a:r>
              <a:rPr lang="en-GB" dirty="0"/>
              <a:t> Was either income tax, or regular National Insurance contribution deducted at source?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Income tax deducted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Regular NI deducted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3 No, neither deducted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b="1" dirty="0" err="1"/>
              <a:t>CheckNI</a:t>
            </a: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DvNID</a:t>
            </a:r>
            <a:r>
              <a:rPr lang="en-GB" dirty="0"/>
              <a:t> Derived from </a:t>
            </a:r>
            <a:r>
              <a:rPr lang="en-GB" dirty="0" err="1"/>
              <a:t>NIDAmt</a:t>
            </a:r>
            <a:r>
              <a:rPr lang="en-GB" dirty="0"/>
              <a:t> to give a weekly amount –(</a:t>
            </a:r>
            <a:r>
              <a:rPr lang="en-GB" dirty="0" err="1"/>
              <a:t>NIDAmt</a:t>
            </a:r>
            <a:r>
              <a:rPr lang="en-GB" dirty="0"/>
              <a:t> – Self-employment: How much National Insurance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was deducted last time?)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b="1" dirty="0" err="1"/>
              <a:t>DvnidB</a:t>
            </a: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Dvownamt</a:t>
            </a:r>
            <a:r>
              <a:rPr lang="en-GB" dirty="0"/>
              <a:t> Derived from </a:t>
            </a:r>
            <a:r>
              <a:rPr lang="en-GB" dirty="0" err="1"/>
              <a:t>OwnAmt</a:t>
            </a:r>
            <a:r>
              <a:rPr lang="en-GB" dirty="0"/>
              <a:t> to give a weekly amount -(</a:t>
            </a:r>
            <a:r>
              <a:rPr lang="en-GB" dirty="0" err="1"/>
              <a:t>OwnAmt</a:t>
            </a:r>
            <a:r>
              <a:rPr lang="en-GB" dirty="0"/>
              <a:t> -Thinking of the last 12 months, on average how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much did you take each month for these non-business purposes?)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Dvownot</a:t>
            </a:r>
            <a:r>
              <a:rPr lang="en-GB" dirty="0"/>
              <a:t> Derived from </a:t>
            </a:r>
            <a:r>
              <a:rPr lang="en-GB" dirty="0" err="1"/>
              <a:t>OwnOtAmt</a:t>
            </a:r>
            <a:r>
              <a:rPr lang="en-GB" dirty="0"/>
              <a:t> to give a weekly amount– (</a:t>
            </a:r>
            <a:r>
              <a:rPr lang="en-GB" dirty="0" err="1"/>
              <a:t>OwnOtAmt</a:t>
            </a:r>
            <a:r>
              <a:rPr lang="en-GB" dirty="0"/>
              <a:t> -On average, how much is that each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month?)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Dvprbef</a:t>
            </a:r>
            <a:r>
              <a:rPr lang="en-GB" dirty="0"/>
              <a:t> Derived from </a:t>
            </a:r>
            <a:r>
              <a:rPr lang="en-GB" dirty="0" err="1"/>
              <a:t>PrBefore</a:t>
            </a:r>
            <a:r>
              <a:rPr lang="en-GB" dirty="0"/>
              <a:t> to give a weekly amount -(</a:t>
            </a:r>
            <a:r>
              <a:rPr lang="en-GB" dirty="0" err="1"/>
              <a:t>PrBefore</a:t>
            </a:r>
            <a:r>
              <a:rPr lang="en-GB" dirty="0"/>
              <a:t> -What was (the respondent’s share of) the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profit before tax?)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DvProf</a:t>
            </a:r>
            <a:r>
              <a:rPr lang="en-GB" dirty="0"/>
              <a:t> Derived from Profit2 to give a weekly amount –(Profit2 -Profit/loss amount)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Dvseinc</a:t>
            </a:r>
            <a:r>
              <a:rPr lang="en-GB" dirty="0"/>
              <a:t> Derived from </a:t>
            </a:r>
            <a:r>
              <a:rPr lang="en-GB" dirty="0" err="1"/>
              <a:t>SeInc</a:t>
            </a:r>
            <a:r>
              <a:rPr lang="en-GB" dirty="0"/>
              <a:t> to give a weekly amount -(</a:t>
            </a:r>
            <a:r>
              <a:rPr lang="en-GB" dirty="0" err="1"/>
              <a:t>SeInc</a:t>
            </a:r>
            <a:r>
              <a:rPr lang="en-GB" dirty="0"/>
              <a:t> -On average, what is the respondent’s weekly or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monthly income from this job/business over the last 12 months (after paying for any materials, equipment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or goods that the respondent use(d) in their work)?)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b="1" dirty="0" err="1"/>
              <a:t>DvseincB</a:t>
            </a:r>
            <a:endParaRPr lang="en-GB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Dvtaxd</a:t>
            </a:r>
            <a:r>
              <a:rPr lang="en-GB" dirty="0"/>
              <a:t> Derived from </a:t>
            </a:r>
            <a:r>
              <a:rPr lang="en-GB" dirty="0" err="1"/>
              <a:t>TaxDAmt</a:t>
            </a:r>
            <a:r>
              <a:rPr lang="en-GB" dirty="0"/>
              <a:t> to give a weekly amount -(</a:t>
            </a:r>
            <a:r>
              <a:rPr lang="en-GB" dirty="0" err="1"/>
              <a:t>TaxDAmt</a:t>
            </a:r>
            <a:r>
              <a:rPr lang="en-GB" dirty="0"/>
              <a:t> -How much Income tax was deducted last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time?)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Ownsum</a:t>
            </a:r>
            <a:r>
              <a:rPr lang="en-GB" dirty="0"/>
              <a:t> Is money drawn from work account for any non-business purposes?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Yes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No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Profit1 What was the profit/loss amount?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Profit2 Does Profit1 refer to profit or loss?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Profit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Loss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Proftax</a:t>
            </a:r>
            <a:r>
              <a:rPr lang="en-GB" dirty="0"/>
              <a:t> Is the figure before deduction of income tax?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Before tax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After tax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 err="1"/>
              <a:t>Workacc</a:t>
            </a:r>
            <a:r>
              <a:rPr lang="en-GB" dirty="0"/>
              <a:t> Is there a separate bank or building society accounts for work and private finances?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1 Yes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2 No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Xb3262 Temporary variable used in calculations – First subsidiary job: Self employed – amount of gross income.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dirty="0"/>
              <a:t>This temporary variable is used to calculate and store the total amount of Income tax and National Insurance paid by the respondent; this is used later in the routing.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9866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259A23C-8562-45EA-915E-24EBEC04E3F5}" vid="{90C6B207-1CB5-4F08-8DEA-1562B3D509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cord_Type xmlns="1ae2c784-f945-427c-85ee-14416eea6be3" xsi:nil="true"/>
    <RetentionDate xmlns="1ae2c784-f945-427c-85ee-14416eea6be3" xsi:nil="true"/>
    <TaxCatchAll xmlns="1ae2c784-f945-427c-85ee-14416eea6be3" xsi:nil="true"/>
    <RetentionType xmlns="1ae2c784-f945-427c-85ee-14416eea6be3">Notify</RetentionType>
    <Retention xmlns="1ae2c784-f945-427c-85ee-14416eea6be3">0</Retention>
    <EDRMSOwner xmlns="1ae2c784-f945-427c-85ee-14416eea6be3" xsi:nil="true"/>
    <lcf76f155ced4ddcb4097134ff3c332f xmlns="6240aa14-e15b-41ec-b31a-9d8e265f620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F9552AF41F404B9FC1A1466873E6A1" ma:contentTypeVersion="41" ma:contentTypeDescription="Create a new document." ma:contentTypeScope="" ma:versionID="7ca1065f40aa860e0ff6f52e5ea426b4">
  <xsd:schema xmlns:xsd="http://www.w3.org/2001/XMLSchema" xmlns:xs="http://www.w3.org/2001/XMLSchema" xmlns:p="http://schemas.microsoft.com/office/2006/metadata/properties" xmlns:ns2="1ae2c784-f945-427c-85ee-14416eea6be3" xmlns:ns3="6240aa14-e15b-41ec-b31a-9d8e265f6200" targetNamespace="http://schemas.microsoft.com/office/2006/metadata/properties" ma:root="true" ma:fieldsID="14ae2301d6be9298012357b49640c792" ns2:_="" ns3:_="">
    <xsd:import namespace="1ae2c784-f945-427c-85ee-14416eea6be3"/>
    <xsd:import namespace="6240aa14-e15b-41ec-b31a-9d8e265f6200"/>
    <xsd:element name="properties">
      <xsd:complexType>
        <xsd:sequence>
          <xsd:element name="documentManagement">
            <xsd:complexType>
              <xsd:all>
                <xsd:element ref="ns2:EDRMSOwner" minOccurs="0"/>
                <xsd:element ref="ns2:Record_Type" minOccurs="0"/>
                <xsd:element ref="ns2:RetentionDate" minOccurs="0"/>
                <xsd:element ref="ns2:RetentionType" minOccurs="0"/>
                <xsd:element ref="ns2:Retention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e2c784-f945-427c-85ee-14416eea6be3" elementFormDefault="qualified">
    <xsd:import namespace="http://schemas.microsoft.com/office/2006/documentManagement/types"/>
    <xsd:import namespace="http://schemas.microsoft.com/office/infopath/2007/PartnerControls"/>
    <xsd:element name="EDRMSOwner" ma:index="4" nillable="true" ma:displayName="EDRMSOwner" ma:internalName="EDRMSOwner" ma:readOnly="false">
      <xsd:simpleType>
        <xsd:restriction base="dms:Text"/>
      </xsd:simpleType>
    </xsd:element>
    <xsd:element name="Record_Type" ma:index="5" nillable="true" ma:displayName="Record Type" ma:format="Dropdown" ma:internalName="Record_Type" ma:readOnly="false">
      <xsd:simpleType>
        <xsd:union memberTypes="dms:Text">
          <xsd:simpleType>
            <xsd:restriction base="dms:Choice">
              <xsd:enumeration value="Business Plans"/>
              <xsd:enumeration value="Commercial"/>
              <xsd:enumeration value="Correspondence, Guidance etc"/>
              <xsd:enumeration value="Financial"/>
              <xsd:enumeration value="Legislation"/>
              <xsd:enumeration value="Meeting papers (inc. agendas minutes etc)"/>
              <xsd:enumeration value="Policy Papers"/>
              <xsd:enumeration value="Private Office Papers"/>
              <xsd:enumeration value="Programme and Project"/>
              <xsd:enumeration value="Reports"/>
              <xsd:enumeration value="Salaries"/>
              <xsd:enumeration value="Staff Disciplinary Matters"/>
              <xsd:enumeration value="Staff Employment, Career, Health etc"/>
              <xsd:enumeration value="Statistical"/>
              <xsd:enumeration value="Systems"/>
              <xsd:enumeration value="zMigration"/>
            </xsd:restriction>
          </xsd:simpleType>
        </xsd:union>
      </xsd:simpleType>
    </xsd:element>
    <xsd:element name="RetentionDate" ma:index="6" nillable="true" ma:displayName="Retention Date" ma:format="DateOnly" ma:internalName="Retention_x0020_Date" ma:readOnly="false">
      <xsd:simpleType>
        <xsd:restriction base="dms:DateTime"/>
      </xsd:simpleType>
    </xsd:element>
    <xsd:element name="RetentionType" ma:index="7" nillable="true" ma:displayName="Retention Type" ma:default="Notify" ma:format="Dropdown" ma:internalName="Retention_x0020_Type" ma:readOnly="false">
      <xsd:simpleType>
        <xsd:restriction base="dms:Choice">
          <xsd:enumeration value="Notify"/>
          <xsd:enumeration value="Delete"/>
          <xsd:enumeration value="Declare"/>
        </xsd:restriction>
      </xsd:simpleType>
    </xsd:element>
    <xsd:element name="Retention" ma:index="8" nillable="true" ma:displayName="Retention" ma:default="0" ma:internalName="Retention" ma:readOnly="false" ma:percentage="FALSE">
      <xsd:simpleType>
        <xsd:restriction base="dms:Number"/>
      </xsd:simpleType>
    </xsd:element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d8e6f9c-4611-48f0-97b3-5b6baaa92128}" ma:internalName="TaxCatchAll" ma:showField="CatchAllData" ma:web="1ae2c784-f945-427c-85ee-14416eea6b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40aa14-e15b-41ec-b31a-9d8e265f62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1c754ed-6b8d-47f3-b51f-af8d6409c1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5EB373-964E-45C0-ACD3-EAAE9FCE1E8B}">
  <ds:schemaRefs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6240aa14-e15b-41ec-b31a-9d8e265f6200"/>
    <ds:schemaRef ds:uri="1ae2c784-f945-427c-85ee-14416eea6be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635999A-B7F5-44E0-B357-31AA820B53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296B1F-E25A-4565-BB5C-E871D0CB1F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e2c784-f945-427c-85ee-14416eea6be3"/>
    <ds:schemaRef ds:uri="6240aa14-e15b-41ec-b31a-9d8e265f62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6135</TotalTime>
  <Words>9921</Words>
  <Application>Microsoft Office PowerPoint</Application>
  <PresentationFormat>A4 Paper (210x297 mm)</PresentationFormat>
  <Paragraphs>1252</Paragraphs>
  <Slides>44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Aptos</vt:lpstr>
      <vt:lpstr>Arial</vt:lpstr>
      <vt:lpstr>Calibri</vt:lpstr>
      <vt:lpstr>Office Theme</vt:lpstr>
      <vt:lpstr> Living Costs and Food Survey  Volume G Derived Variable Changes April 2024 – March 2025  Great Britain and Northern Ireland  ONS Social Surveys Office for National Statistics  August 2025</vt:lpstr>
      <vt:lpstr>A006 Marital Status</vt:lpstr>
      <vt:lpstr>A006 Marital Status - Key</vt:lpstr>
      <vt:lpstr>B303 Pay, amount last time</vt:lpstr>
      <vt:lpstr>B303 Pay, amount last time</vt:lpstr>
      <vt:lpstr>B312 Bonus earnings – gross amount</vt:lpstr>
      <vt:lpstr>B330 Bonus earnings – net amount</vt:lpstr>
      <vt:lpstr>B391 Self-employed – tax paid last 12 months</vt:lpstr>
      <vt:lpstr>B391 Self-employed – tax paid last 12 months</vt:lpstr>
      <vt:lpstr>B047 Main or only occupation: self employed amount of gross income </vt:lpstr>
      <vt:lpstr>B047 Main or only occupation: self employed amount of gross income </vt:lpstr>
      <vt:lpstr>B047 Main or only occupation: self employed amount of gross income </vt:lpstr>
      <vt:lpstr>B047 Main or only occupation: self employed amount of gross income </vt:lpstr>
      <vt:lpstr>B047 Main or only occupation: self employed amount of gross income </vt:lpstr>
      <vt:lpstr>P076 S/E NI contributions paid last 12 months</vt:lpstr>
      <vt:lpstr>P076 S/E NI contributions paid last 12 months</vt:lpstr>
      <vt:lpstr>P076 S/E NI contributions paid last 12 months</vt:lpstr>
      <vt:lpstr>B391H Self-employed – tax paid last 12 months (household)</vt:lpstr>
      <vt:lpstr>B391H Self-employed – tax paid last 12 months (household)</vt:lpstr>
      <vt:lpstr>B150 Mortgage interest/principal – interest paid</vt:lpstr>
      <vt:lpstr>B150 Mortgage interest/principal – interest paid</vt:lpstr>
      <vt:lpstr>B130 Mortgage interest only (last payment)</vt:lpstr>
      <vt:lpstr>B130 Mortgage interest only (last payment)</vt:lpstr>
      <vt:lpstr>B130 Mortgage interest only (last payment)</vt:lpstr>
      <vt:lpstr>B130 Mortgage interest only (last payment)</vt:lpstr>
      <vt:lpstr>B200 – Mortgage interest/principal (last payment)</vt:lpstr>
      <vt:lpstr>B200 – Mortgage interest/principal (last payment)</vt:lpstr>
      <vt:lpstr>B200 – Mortgage interest/principal (last payment)</vt:lpstr>
      <vt:lpstr>B203 Mixed mortgage (last payment)</vt:lpstr>
      <vt:lpstr>B203 Mixed mortgage (last payment)</vt:lpstr>
      <vt:lpstr>B203 Mixed mortgage (last payment)</vt:lpstr>
      <vt:lpstr>B204 Other mortgage – last payment</vt:lpstr>
      <vt:lpstr>B204 Other mortgage – last payment</vt:lpstr>
      <vt:lpstr>B204 Other mortgage – last payment</vt:lpstr>
      <vt:lpstr>B3262 1st subsid job: se amount of gross profit</vt:lpstr>
      <vt:lpstr>B3262 1st subsid job: se amount of gross profit</vt:lpstr>
      <vt:lpstr>B3262 1st subsid job: se amount of gross profit</vt:lpstr>
      <vt:lpstr>B3262 1st subsid job: se amount of gross profit</vt:lpstr>
      <vt:lpstr>B3262 1st subsid job: se amount of gross profit</vt:lpstr>
      <vt:lpstr>B3263 2nd subsid job: se amount of gross profit</vt:lpstr>
      <vt:lpstr>B3263 2nd subsid job: se amount of gross profit</vt:lpstr>
      <vt:lpstr>B3263 1st subsid job: se amount of gross profit</vt:lpstr>
      <vt:lpstr>B3263 1st subsid job: se amount of gross profit</vt:lpstr>
      <vt:lpstr>B3263 2nd subsid job: se amount of gross profit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Hughes, Naomi</dc:creator>
  <cp:lastModifiedBy>Rahman, Sadiq</cp:lastModifiedBy>
  <cp:revision>25</cp:revision>
  <dcterms:created xsi:type="dcterms:W3CDTF">2026-06-04T08:34:41Z</dcterms:created>
  <dcterms:modified xsi:type="dcterms:W3CDTF">2026-08-18T11:22:31Z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0x01010095F9552AF41F404B9FC1A1466873E6A1</vt:lpwstr>
  </property>
  <property fmtid="{D5CDD505-2E9C-101B-9397-08002B2CF9AE}" pid="3" name="MediaServiceImageTags">
    <vt:lpwstr/>
  </property>
</Properties>
</file>